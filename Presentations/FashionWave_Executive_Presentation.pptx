
<file path=[Content_Types].xml><?xml version="1.0" encoding="utf-8"?>
<Types xmlns="http://schemas.openxmlformats.org/package/2006/content-types">
  <Default Extension="fntdata" ContentType="application/x-fontdata"/>
  <Default Extension="jpe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charts/chart1.xml" ContentType="application/vnd.openxmlformats-officedocument.drawingml.chart+xml"/>
  <Override PartName="/ppt/charts/style1.xml" ContentType="application/vnd.ms-office.chartstyle+xml"/>
  <Override PartName="/ppt/charts/colors1.xml" ContentType="application/vnd.ms-office.chartcolorstyle+xml"/>
  <Override PartName="/ppt/charts/chart2.xml" ContentType="application/vnd.openxmlformats-officedocument.drawingml.chart+xml"/>
  <Override PartName="/ppt/charts/style2.xml" ContentType="application/vnd.ms-office.chartstyle+xml"/>
  <Override PartName="/ppt/charts/colors2.xml" ContentType="application/vnd.ms-office.chartcolorstyl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charts/chart3.xml" ContentType="application/vnd.openxmlformats-officedocument.drawingml.chart+xml"/>
  <Override PartName="/ppt/charts/style3.xml" ContentType="application/vnd.ms-office.chartstyle+xml"/>
  <Override PartName="/ppt/charts/colors3.xml" ContentType="application/vnd.ms-office.chartcolorstyle+xml"/>
  <Override PartName="/ppt/charts/chart4.xml" ContentType="application/vnd.openxmlformats-officedocument.drawingml.chart+xml"/>
  <Override PartName="/ppt/charts/style4.xml" ContentType="application/vnd.ms-office.chartstyle+xml"/>
  <Override PartName="/ppt/charts/colors4.xml" ContentType="application/vnd.ms-office.chartcolorstyle+xml"/>
  <Override PartName="/ppt/charts/chart5.xml" ContentType="application/vnd.openxmlformats-officedocument.drawingml.chart+xml"/>
  <Override PartName="/ppt/charts/style5.xml" ContentType="application/vnd.ms-office.chartstyle+xml"/>
  <Override PartName="/ppt/charts/colors5.xml" ContentType="application/vnd.ms-office.chartcolorstyle+xml"/>
  <Override PartName="/ppt/notesSlides/notesSlide7.xml" ContentType="application/vnd.openxmlformats-officedocument.presentationml.notesSlide+xml"/>
  <Override PartName="/ppt/charts/chart6.xml" ContentType="application/vnd.openxmlformats-officedocument.drawingml.chart+xml"/>
  <Override PartName="/ppt/charts/style6.xml" ContentType="application/vnd.ms-office.chartstyle+xml"/>
  <Override PartName="/ppt/charts/colors6.xml" ContentType="application/vnd.ms-office.chartcolorstyle+xml"/>
  <Override PartName="/ppt/charts/chart7.xml" ContentType="application/vnd.openxmlformats-officedocument.drawingml.chart+xml"/>
  <Override PartName="/ppt/charts/style7.xml" ContentType="application/vnd.ms-office.chartstyle+xml"/>
  <Override PartName="/ppt/charts/colors7.xml" ContentType="application/vnd.ms-office.chartcolorstyl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charts/chart8.xml" ContentType="application/vnd.openxmlformats-officedocument.drawingml.chart+xml"/>
  <Override PartName="/ppt/charts/style8.xml" ContentType="application/vnd.ms-office.chartstyle+xml"/>
  <Override PartName="/ppt/charts/colors8.xml" ContentType="application/vnd.ms-office.chartcolorstyle+xml"/>
  <Override PartName="/ppt/charts/chart9.xml" ContentType="application/vnd.openxmlformats-officedocument.drawingml.chart+xml"/>
  <Override PartName="/ppt/charts/style9.xml" ContentType="application/vnd.ms-office.chartstyle+xml"/>
  <Override PartName="/ppt/charts/colors9.xml" ContentType="application/vnd.ms-office.chartcolorstyle+xml"/>
  <Override PartName="/ppt/notesSlides/notesSlide10.xml" ContentType="application/vnd.openxmlformats-officedocument.presentationml.notesSlide+xml"/>
  <Override PartName="/ppt/charts/chart10.xml" ContentType="application/vnd.openxmlformats-officedocument.drawingml.chart+xml"/>
  <Override PartName="/ppt/charts/style10.xml" ContentType="application/vnd.ms-office.chartstyle+xml"/>
  <Override PartName="/ppt/charts/colors10.xml" ContentType="application/vnd.ms-office.chartcolorstyl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trictFirstAndLastChars="0" embedTrueTypeFonts="1" saveSubsetFonts="1" autoCompressPictures="0">
  <p:sldMasterIdLst>
    <p:sldMasterId id="2147483659" r:id="rId1"/>
  </p:sldMasterIdLst>
  <p:notesMasterIdLst>
    <p:notesMasterId r:id="rId14"/>
  </p:notesMasterIdLst>
  <p:sldIdLst>
    <p:sldId id="256" r:id="rId2"/>
    <p:sldId id="257" r:id="rId3"/>
    <p:sldId id="258" r:id="rId4"/>
    <p:sldId id="259" r:id="rId5"/>
    <p:sldId id="269" r:id="rId6"/>
    <p:sldId id="261" r:id="rId7"/>
    <p:sldId id="262" r:id="rId8"/>
    <p:sldId id="263" r:id="rId9"/>
    <p:sldId id="264" r:id="rId10"/>
    <p:sldId id="260" r:id="rId11"/>
    <p:sldId id="265" r:id="rId12"/>
    <p:sldId id="266" r:id="rId13"/>
  </p:sldIdLst>
  <p:sldSz cx="12192000" cy="6858000"/>
  <p:notesSz cx="6858000" cy="9144000"/>
  <p:embeddedFontLst>
    <p:embeddedFont>
      <p:font typeface="Franklin Gothic Heavy" panose="020B0903020102020204" pitchFamily="34" charset="0"/>
      <p:regular r:id="rId15"/>
      <p:italic r:id="rId16"/>
    </p:embeddedFont>
    <p:embeddedFont>
      <p:font typeface="Inter" panose="020B0604020202020204" charset="0"/>
      <p:regular r:id="rId17"/>
      <p:bold r:id="rId18"/>
      <p:italic r:id="rId19"/>
      <p:boldItalic r:id="rId20"/>
    </p:embeddedFont>
    <p:embeddedFont>
      <p:font typeface="Inter Black" panose="020B0604020202020204" charset="0"/>
      <p:bold r:id="rId21"/>
      <p:boldItalic r:id="rId22"/>
    </p:embeddedFont>
    <p:embeddedFont>
      <p:font typeface="Inter Medium" panose="020B0604020202020204" charset="0"/>
      <p:regular r:id="rId23"/>
      <p:bold r:id="rId24"/>
      <p:italic r:id="rId25"/>
      <p:boldItalic r:id="rId26"/>
    </p:embeddedFont>
    <p:embeddedFont>
      <p:font typeface="Inter SemiBold" panose="020B0604020202020204" charset="0"/>
      <p:regular r:id="rId27"/>
      <p:bold r:id="rId28"/>
      <p:italic r:id="rId29"/>
      <p:boldItalic r:id="rId30"/>
    </p:embeddedFont>
    <p:embeddedFont>
      <p:font typeface="Poppins" panose="00000500000000000000" pitchFamily="2" charset="0"/>
      <p:regular r:id="rId31"/>
      <p:bold r:id="rId32"/>
      <p:italic r:id="rId33"/>
      <p:boldItalic r:id="rId34"/>
    </p:embeddedFont>
    <p:embeddedFont>
      <p:font typeface="Poppins ExtraBold" panose="00000900000000000000" pitchFamily="2" charset="0"/>
      <p:bold r:id="rId35"/>
      <p:boldItalic r:id="rId36"/>
    </p:embeddedFont>
    <p:embeddedFont>
      <p:font typeface="Poppins SemiBold" panose="00000700000000000000" pitchFamily="2" charset="0"/>
      <p:regular r:id="rId37"/>
      <p:bold r:id="rId38"/>
      <p:italic r:id="rId39"/>
      <p:boldItalic r:id="rId40"/>
    </p:embeddedFont>
  </p:embeddedFontLst>
  <p:defaultText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000000"/>
          </p15:clr>
        </p15:guide>
        <p15:guide id="2" pos="2880">
          <p15:clr>
            <a:srgbClr val="000000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F8FAFC"/>
    <a:srgbClr val="0C8E82"/>
    <a:srgbClr val="566375"/>
    <a:srgbClr val="19A44C"/>
    <a:srgbClr val="EC940A"/>
    <a:srgbClr val="0A976A"/>
    <a:srgbClr val="F59E0B"/>
    <a:srgbClr val="10B981"/>
    <a:srgbClr val="4F81BD"/>
    <a:srgbClr val="000000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00000000-0000-0000-0000-000000000000}" v="792" dt="2026-08-31T11:47:23.021"/>
    <p1510:client id="{34C2C0D3-0EFB-9AC9-9CCA-B5587AEB4C7A}" v="86" dt="2026-08-31T16:13:41.580"/>
  </p1510:revLst>
</p1510:revInfo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284E427A-3D55-4303-BF80-6455036E1DE7}" styleName="Themed Style 1 - Accent 2">
    <a:tblBg>
      <a:fillRef idx="2">
        <a:schemeClr val="accent2"/>
      </a:fillRef>
      <a:effectRef idx="1">
        <a:schemeClr val="accent2"/>
      </a:effectRef>
    </a:tblBg>
    <a:wholeTbl>
      <a:tcTxStyle>
        <a:fontRef idx="minor">
          <a:scrgbClr r="0" g="0" b="0"/>
        </a:fontRef>
        <a:schemeClr val="dk1"/>
      </a:tcTxStyle>
      <a:tcStyle>
        <a:tcBdr>
          <a:left>
            <a:lnRef idx="1">
              <a:schemeClr val="accent2"/>
            </a:lnRef>
          </a:left>
          <a:right>
            <a:lnRef idx="1">
              <a:schemeClr val="accent2"/>
            </a:lnRef>
          </a:right>
          <a:top>
            <a:lnRef idx="1">
              <a:schemeClr val="accent2"/>
            </a:lnRef>
          </a:top>
          <a:bottom>
            <a:lnRef idx="1">
              <a:schemeClr val="accent2"/>
            </a:lnRef>
          </a:bottom>
          <a:insideH>
            <a:lnRef idx="1">
              <a:schemeClr val="accent2"/>
            </a:lnRef>
          </a:insideH>
          <a:insideV>
            <a:lnRef idx="1">
              <a:schemeClr val="accent2"/>
            </a:lnRef>
          </a:insideV>
        </a:tcBdr>
        <a:fill>
          <a:noFill/>
        </a:fill>
      </a:tcStyle>
    </a:wholeTbl>
    <a:band1H>
      <a:tcStyle>
        <a:tcBdr/>
        <a:fill>
          <a:solidFill>
            <a:schemeClr val="accent2">
              <a:alpha val="40000"/>
            </a:schemeClr>
          </a:solidFill>
        </a:fill>
      </a:tcStyle>
    </a:band1H>
    <a:band2H>
      <a:tcStyle>
        <a:tcBdr/>
      </a:tcStyle>
    </a:band2H>
    <a:band1V>
      <a:tcStyle>
        <a:tcBdr>
          <a:top>
            <a:lnRef idx="1">
              <a:schemeClr val="accent2"/>
            </a:lnRef>
          </a:top>
          <a:bottom>
            <a:lnRef idx="1">
              <a:schemeClr val="accent2"/>
            </a:lnRef>
          </a:bottom>
        </a:tcBdr>
        <a:fill>
          <a:solidFill>
            <a:schemeClr val="accent2">
              <a:alpha val="40000"/>
            </a:schemeClr>
          </a:solidFill>
        </a:fill>
      </a:tcStyle>
    </a:band1V>
    <a:band2V>
      <a:tcStyle>
        <a:tcBdr/>
      </a:tcStyle>
    </a:band2V>
    <a:lastCol>
      <a:tcTxStyle b="on"/>
      <a:tcStyle>
        <a:tcBdr>
          <a:left>
            <a:lnRef idx="2">
              <a:schemeClr val="accent2"/>
            </a:lnRef>
          </a:left>
          <a:right>
            <a:lnRef idx="1">
              <a:schemeClr val="accent2"/>
            </a:lnRef>
          </a:right>
          <a:top>
            <a:lnRef idx="1">
              <a:schemeClr val="accent2"/>
            </a:lnRef>
          </a:top>
          <a:bottom>
            <a:lnRef idx="1">
              <a:schemeClr val="accent2"/>
            </a:lnRef>
          </a:bottom>
          <a:insideH>
            <a:lnRef idx="1">
              <a:schemeClr val="accent2"/>
            </a:lnRef>
          </a:insideH>
          <a:insideV>
            <a:ln>
              <a:noFill/>
            </a:ln>
          </a:insideV>
        </a:tcBdr>
      </a:tcStyle>
    </a:lastCol>
    <a:firstCol>
      <a:tcTxStyle b="on"/>
      <a:tcStyle>
        <a:tcBdr>
          <a:left>
            <a:lnRef idx="1">
              <a:schemeClr val="accent2"/>
            </a:lnRef>
          </a:left>
          <a:right>
            <a:lnRef idx="2">
              <a:schemeClr val="accent2"/>
            </a:lnRef>
          </a:right>
          <a:top>
            <a:lnRef idx="1">
              <a:schemeClr val="accent2"/>
            </a:lnRef>
          </a:top>
          <a:bottom>
            <a:lnRef idx="1">
              <a:schemeClr val="accent2"/>
            </a:lnRef>
          </a:bottom>
          <a:insideH>
            <a:lnRef idx="1">
              <a:schemeClr val="accent2"/>
            </a:lnRef>
          </a:insideH>
          <a:insideV>
            <a:ln>
              <a:noFill/>
            </a:ln>
          </a:insideV>
        </a:tcBdr>
      </a:tcStyle>
    </a:firstCol>
    <a:lastRow>
      <a:tcTxStyle b="on"/>
      <a:tcStyle>
        <a:tcBdr>
          <a:left>
            <a:lnRef idx="1">
              <a:schemeClr val="accent2"/>
            </a:lnRef>
          </a:left>
          <a:right>
            <a:lnRef idx="1">
              <a:schemeClr val="accent2"/>
            </a:lnRef>
          </a:right>
          <a:top>
            <a:lnRef idx="2">
              <a:schemeClr val="accent2"/>
            </a:lnRef>
          </a:top>
          <a:bottom>
            <a:lnRef idx="2">
              <a:schemeClr val="accent2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>
          <a:left>
            <a:lnRef idx="1">
              <a:schemeClr val="accent2"/>
            </a:lnRef>
          </a:left>
          <a:right>
            <a:lnRef idx="1">
              <a:schemeClr val="accent2"/>
            </a:lnRef>
          </a:right>
          <a:top>
            <a:lnRef idx="1">
              <a:schemeClr val="accent2"/>
            </a:lnRef>
          </a:top>
          <a:bottom>
            <a:lnRef idx="2">
              <a:schemeClr val="l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2"/>
          </a:solidFill>
        </a:fill>
      </a:tcStyle>
    </a:firstRow>
  </a:tblStyle>
  <a:tblStyle styleId="{0E3FDE45-AF77-4B5C-9715-49D594BDF05E}" styleName="Light Style 1 - Accent 2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accent2"/>
              </a:solidFill>
            </a:ln>
          </a:top>
          <a:bottom>
            <a:ln w="12700" cmpd="sng">
              <a:solidFill>
                <a:schemeClr val="accent2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2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2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accent2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accent2"/>
              </a:solidFill>
            </a:ln>
          </a:bottom>
        </a:tcBdr>
        <a:fill>
          <a:noFill/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slideViewPr>
    <p:cSldViewPr snapToGrid="0">
      <p:cViewPr>
        <p:scale>
          <a:sx n="1" d="2"/>
          <a:sy n="1" d="2"/>
        </p:scale>
        <p:origin x="0" y="0"/>
      </p:cViewPr>
      <p:guideLst>
        <p:guide orient="horz" pos="2160"/>
        <p:guide pos="2880"/>
      </p:guideLst>
    </p:cSldViewPr>
  </p:slideViewPr>
  <p:gridSpacing cx="76200" cy="76200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font" Target="fonts/font4.fntdata"/><Relationship Id="rId26" Type="http://schemas.openxmlformats.org/officeDocument/2006/relationships/font" Target="fonts/font12.fntdata"/><Relationship Id="rId39" Type="http://schemas.openxmlformats.org/officeDocument/2006/relationships/font" Target="fonts/font25.fntdata"/><Relationship Id="rId21" Type="http://schemas.openxmlformats.org/officeDocument/2006/relationships/font" Target="fonts/font7.fntdata"/><Relationship Id="rId34" Type="http://schemas.openxmlformats.org/officeDocument/2006/relationships/font" Target="fonts/font20.fntdata"/><Relationship Id="rId42" Type="http://schemas.openxmlformats.org/officeDocument/2006/relationships/viewProps" Target="viewProps.xml"/><Relationship Id="rId7" Type="http://schemas.openxmlformats.org/officeDocument/2006/relationships/slide" Target="slides/slide6.xml"/><Relationship Id="rId2" Type="http://schemas.openxmlformats.org/officeDocument/2006/relationships/slide" Target="slides/slide1.xml"/><Relationship Id="rId16" Type="http://schemas.openxmlformats.org/officeDocument/2006/relationships/font" Target="fonts/font2.fntdata"/><Relationship Id="rId29" Type="http://schemas.openxmlformats.org/officeDocument/2006/relationships/font" Target="fonts/font15.fntdata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font" Target="fonts/font10.fntdata"/><Relationship Id="rId32" Type="http://schemas.openxmlformats.org/officeDocument/2006/relationships/font" Target="fonts/font18.fntdata"/><Relationship Id="rId37" Type="http://schemas.openxmlformats.org/officeDocument/2006/relationships/font" Target="fonts/font23.fntdata"/><Relationship Id="rId40" Type="http://schemas.openxmlformats.org/officeDocument/2006/relationships/font" Target="fonts/font26.fntdata"/><Relationship Id="rId45" Type="http://schemas.microsoft.com/office/2016/11/relationships/changesInfo" Target="changesInfos/changesInfo1.xml"/><Relationship Id="rId5" Type="http://schemas.openxmlformats.org/officeDocument/2006/relationships/slide" Target="slides/slide4.xml"/><Relationship Id="rId15" Type="http://schemas.openxmlformats.org/officeDocument/2006/relationships/font" Target="fonts/font1.fntdata"/><Relationship Id="rId23" Type="http://schemas.openxmlformats.org/officeDocument/2006/relationships/font" Target="fonts/font9.fntdata"/><Relationship Id="rId28" Type="http://schemas.openxmlformats.org/officeDocument/2006/relationships/font" Target="fonts/font14.fntdata"/><Relationship Id="rId36" Type="http://schemas.openxmlformats.org/officeDocument/2006/relationships/font" Target="fonts/font22.fntdata"/><Relationship Id="rId10" Type="http://schemas.openxmlformats.org/officeDocument/2006/relationships/slide" Target="slides/slide9.xml"/><Relationship Id="rId19" Type="http://schemas.openxmlformats.org/officeDocument/2006/relationships/font" Target="fonts/font5.fntdata"/><Relationship Id="rId31" Type="http://schemas.openxmlformats.org/officeDocument/2006/relationships/font" Target="fonts/font17.fntdata"/><Relationship Id="rId44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notesMaster" Target="notesMasters/notesMaster1.xml"/><Relationship Id="rId22" Type="http://schemas.openxmlformats.org/officeDocument/2006/relationships/font" Target="fonts/font8.fntdata"/><Relationship Id="rId27" Type="http://schemas.openxmlformats.org/officeDocument/2006/relationships/font" Target="fonts/font13.fntdata"/><Relationship Id="rId30" Type="http://schemas.openxmlformats.org/officeDocument/2006/relationships/font" Target="fonts/font16.fntdata"/><Relationship Id="rId35" Type="http://schemas.openxmlformats.org/officeDocument/2006/relationships/font" Target="fonts/font21.fntdata"/><Relationship Id="rId43" Type="http://schemas.openxmlformats.org/officeDocument/2006/relationships/theme" Target="theme/theme1.xml"/><Relationship Id="rId8" Type="http://schemas.openxmlformats.org/officeDocument/2006/relationships/slide" Target="slides/slide7.xml"/><Relationship Id="rId3" Type="http://schemas.openxmlformats.org/officeDocument/2006/relationships/slide" Target="slides/slide2.xml"/><Relationship Id="rId12" Type="http://schemas.openxmlformats.org/officeDocument/2006/relationships/slide" Target="slides/slide11.xml"/><Relationship Id="rId17" Type="http://schemas.openxmlformats.org/officeDocument/2006/relationships/font" Target="fonts/font3.fntdata"/><Relationship Id="rId25" Type="http://schemas.openxmlformats.org/officeDocument/2006/relationships/font" Target="fonts/font11.fntdata"/><Relationship Id="rId33" Type="http://schemas.openxmlformats.org/officeDocument/2006/relationships/font" Target="fonts/font19.fntdata"/><Relationship Id="rId38" Type="http://schemas.openxmlformats.org/officeDocument/2006/relationships/font" Target="fonts/font24.fntdata"/><Relationship Id="rId46" Type="http://schemas.microsoft.com/office/2015/10/relationships/revisionInfo" Target="revisionInfo.xml"/><Relationship Id="rId20" Type="http://schemas.openxmlformats.org/officeDocument/2006/relationships/font" Target="fonts/font6.fntdata"/><Relationship Id="rId41" Type="http://schemas.openxmlformats.org/officeDocument/2006/relationships/presProps" Target="presProps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Agamya R Jain" userId="5379bb5ac236f65f" providerId="Windows Live" clId="Web-{00000000-0000-0000-0000-000000000000}"/>
    <pc:docChg chg="modSld">
      <pc:chgData name="Agamya R Jain" userId="5379bb5ac236f65f" providerId="Windows Live" clId="Web-{00000000-0000-0000-0000-000000000000}" dt="2026-08-31T11:47:23.021" v="489" actId="1076"/>
      <pc:docMkLst>
        <pc:docMk/>
      </pc:docMkLst>
      <pc:sldChg chg="delSp modSp">
        <pc:chgData name="Agamya R Jain" userId="5379bb5ac236f65f" providerId="Windows Live" clId="Web-{00000000-0000-0000-0000-000000000000}" dt="2026-08-26T08:02:04.974" v="34"/>
        <pc:sldMkLst>
          <pc:docMk/>
          <pc:sldMk cId="0" sldId="256"/>
        </pc:sldMkLst>
        <pc:spChg chg="mod">
          <ac:chgData name="Agamya R Jain" userId="5379bb5ac236f65f" providerId="Windows Live" clId="Web-{00000000-0000-0000-0000-000000000000}" dt="2026-08-26T06:00:51.088" v="18" actId="20577"/>
          <ac:spMkLst>
            <pc:docMk/>
            <pc:sldMk cId="0" sldId="256"/>
            <ac:spMk id="92" creationId="{00000000-0000-0000-0000-000000000000}"/>
          </ac:spMkLst>
        </pc:spChg>
        <pc:picChg chg="mod">
          <ac:chgData name="Agamya R Jain" userId="5379bb5ac236f65f" providerId="Windows Live" clId="Web-{00000000-0000-0000-0000-000000000000}" dt="2026-08-26T08:01:45.083" v="30" actId="1076"/>
          <ac:picMkLst>
            <pc:docMk/>
            <pc:sldMk cId="0" sldId="256"/>
            <ac:picMk id="84" creationId="{00000000-0000-0000-0000-000000000000}"/>
          </ac:picMkLst>
        </pc:picChg>
      </pc:sldChg>
      <pc:sldChg chg="modSp">
        <pc:chgData name="Agamya R Jain" userId="5379bb5ac236f65f" providerId="Windows Live" clId="Web-{00000000-0000-0000-0000-000000000000}" dt="2026-08-27T07:13:34.790" v="427" actId="20577"/>
        <pc:sldMkLst>
          <pc:docMk/>
          <pc:sldMk cId="0" sldId="257"/>
        </pc:sldMkLst>
        <pc:spChg chg="mod">
          <ac:chgData name="Agamya R Jain" userId="5379bb5ac236f65f" providerId="Windows Live" clId="Web-{00000000-0000-0000-0000-000000000000}" dt="2026-08-26T08:07:26.529" v="68" actId="20577"/>
          <ac:spMkLst>
            <pc:docMk/>
            <pc:sldMk cId="0" sldId="257"/>
            <ac:spMk id="8" creationId="{EC1D1197-F6B5-1035-CFF0-4BC9DCB05111}"/>
          </ac:spMkLst>
        </pc:spChg>
        <pc:spChg chg="mod">
          <ac:chgData name="Agamya R Jain" userId="5379bb5ac236f65f" providerId="Windows Live" clId="Web-{00000000-0000-0000-0000-000000000000}" dt="2026-08-27T07:13:34.790" v="427" actId="20577"/>
          <ac:spMkLst>
            <pc:docMk/>
            <pc:sldMk cId="0" sldId="257"/>
            <ac:spMk id="105" creationId="{00000000-0000-0000-0000-000000000000}"/>
          </ac:spMkLst>
        </pc:spChg>
      </pc:sldChg>
      <pc:sldChg chg="delSp modSp">
        <pc:chgData name="Agamya R Jain" userId="5379bb5ac236f65f" providerId="Windows Live" clId="Web-{00000000-0000-0000-0000-000000000000}" dt="2026-08-27T07:14:44.511" v="433" actId="20577"/>
        <pc:sldMkLst>
          <pc:docMk/>
          <pc:sldMk cId="0" sldId="258"/>
        </pc:sldMkLst>
        <pc:spChg chg="mod">
          <ac:chgData name="Agamya R Jain" userId="5379bb5ac236f65f" providerId="Windows Live" clId="Web-{00000000-0000-0000-0000-000000000000}" dt="2026-08-26T13:54:21.658" v="103" actId="1076"/>
          <ac:spMkLst>
            <pc:docMk/>
            <pc:sldMk cId="0" sldId="258"/>
            <ac:spMk id="6" creationId="{42D13E19-D81E-32F3-2848-6D258249B68D}"/>
          </ac:spMkLst>
        </pc:spChg>
        <pc:spChg chg="mod">
          <ac:chgData name="Agamya R Jain" userId="5379bb5ac236f65f" providerId="Windows Live" clId="Web-{00000000-0000-0000-0000-000000000000}" dt="2026-08-26T13:54:21.705" v="104" actId="1076"/>
          <ac:spMkLst>
            <pc:docMk/>
            <pc:sldMk cId="0" sldId="258"/>
            <ac:spMk id="7" creationId="{00DF8E1E-841C-1A1F-F24E-080B3EB89006}"/>
          </ac:spMkLst>
        </pc:spChg>
        <pc:spChg chg="mod">
          <ac:chgData name="Agamya R Jain" userId="5379bb5ac236f65f" providerId="Windows Live" clId="Web-{00000000-0000-0000-0000-000000000000}" dt="2026-08-13T03:51:34.083" v="3" actId="20577"/>
          <ac:spMkLst>
            <pc:docMk/>
            <pc:sldMk cId="0" sldId="258"/>
            <ac:spMk id="137" creationId="{00000000-0000-0000-0000-000000000000}"/>
          </ac:spMkLst>
        </pc:spChg>
        <pc:spChg chg="mod">
          <ac:chgData name="Agamya R Jain" userId="5379bb5ac236f65f" providerId="Windows Live" clId="Web-{00000000-0000-0000-0000-000000000000}" dt="2026-08-26T08:05:15.307" v="37" actId="20577"/>
          <ac:spMkLst>
            <pc:docMk/>
            <pc:sldMk cId="0" sldId="258"/>
            <ac:spMk id="143" creationId="{00000000-0000-0000-0000-000000000000}"/>
          </ac:spMkLst>
        </pc:spChg>
        <pc:spChg chg="mod">
          <ac:chgData name="Agamya R Jain" userId="5379bb5ac236f65f" providerId="Windows Live" clId="Web-{00000000-0000-0000-0000-000000000000}" dt="2026-08-27T07:14:24.729" v="430" actId="20577"/>
          <ac:spMkLst>
            <pc:docMk/>
            <pc:sldMk cId="0" sldId="258"/>
            <ac:spMk id="145" creationId="{00000000-0000-0000-0000-000000000000}"/>
          </ac:spMkLst>
        </pc:spChg>
        <pc:spChg chg="mod">
          <ac:chgData name="Agamya R Jain" userId="5379bb5ac236f65f" providerId="Windows Live" clId="Web-{00000000-0000-0000-0000-000000000000}" dt="2026-08-26T08:05:21.011" v="39" actId="20577"/>
          <ac:spMkLst>
            <pc:docMk/>
            <pc:sldMk cId="0" sldId="258"/>
            <ac:spMk id="146" creationId="{00000000-0000-0000-0000-000000000000}"/>
          </ac:spMkLst>
        </pc:spChg>
        <pc:spChg chg="mod">
          <ac:chgData name="Agamya R Jain" userId="5379bb5ac236f65f" providerId="Windows Live" clId="Web-{00000000-0000-0000-0000-000000000000}" dt="2026-08-27T07:14:44.511" v="433" actId="20577"/>
          <ac:spMkLst>
            <pc:docMk/>
            <pc:sldMk cId="0" sldId="258"/>
            <ac:spMk id="148" creationId="{00000000-0000-0000-0000-000000000000}"/>
          </ac:spMkLst>
        </pc:spChg>
        <pc:spChg chg="mod">
          <ac:chgData name="Agamya R Jain" userId="5379bb5ac236f65f" providerId="Windows Live" clId="Web-{00000000-0000-0000-0000-000000000000}" dt="2026-08-26T08:05:36.573" v="45" actId="20577"/>
          <ac:spMkLst>
            <pc:docMk/>
            <pc:sldMk cId="0" sldId="258"/>
            <ac:spMk id="154" creationId="{00000000-0000-0000-0000-000000000000}"/>
          </ac:spMkLst>
        </pc:spChg>
        <pc:picChg chg="mod">
          <ac:chgData name="Agamya R Jain" userId="5379bb5ac236f65f" providerId="Windows Live" clId="Web-{00000000-0000-0000-0000-000000000000}" dt="2026-08-26T13:53:39.250" v="96" actId="1076"/>
          <ac:picMkLst>
            <pc:docMk/>
            <pc:sldMk cId="0" sldId="258"/>
            <ac:picMk id="3" creationId="{83F19579-02CA-D974-253F-EF7312AB41C6}"/>
          </ac:picMkLst>
        </pc:picChg>
      </pc:sldChg>
      <pc:sldChg chg="modSp">
        <pc:chgData name="Agamya R Jain" userId="5379bb5ac236f65f" providerId="Windows Live" clId="Web-{00000000-0000-0000-0000-000000000000}" dt="2026-08-26T14:41:38.854" v="426" actId="20577"/>
        <pc:sldMkLst>
          <pc:docMk/>
          <pc:sldMk cId="0" sldId="260"/>
        </pc:sldMkLst>
        <pc:spChg chg="mod">
          <ac:chgData name="Agamya R Jain" userId="5379bb5ac236f65f" providerId="Windows Live" clId="Web-{00000000-0000-0000-0000-000000000000}" dt="2026-08-12T08:08:01.942" v="0" actId="20577"/>
          <ac:spMkLst>
            <pc:docMk/>
            <pc:sldMk cId="0" sldId="260"/>
            <ac:spMk id="236" creationId="{00000000-0000-0000-0000-000000000000}"/>
          </ac:spMkLst>
        </pc:spChg>
        <pc:spChg chg="mod">
          <ac:chgData name="Agamya R Jain" userId="5379bb5ac236f65f" providerId="Windows Live" clId="Web-{00000000-0000-0000-0000-000000000000}" dt="2026-08-26T14:41:38.854" v="426" actId="20577"/>
          <ac:spMkLst>
            <pc:docMk/>
            <pc:sldMk cId="0" sldId="260"/>
            <ac:spMk id="237" creationId="{00000000-0000-0000-0000-000000000000}"/>
          </ac:spMkLst>
        </pc:spChg>
      </pc:sldChg>
      <pc:sldChg chg="delSp modSp">
        <pc:chgData name="Agamya R Jain" userId="5379bb5ac236f65f" providerId="Windows Live" clId="Web-{00000000-0000-0000-0000-000000000000}" dt="2026-08-26T14:10:01.259" v="201" actId="14100"/>
        <pc:sldMkLst>
          <pc:docMk/>
          <pc:sldMk cId="0" sldId="261"/>
        </pc:sldMkLst>
        <pc:spChg chg="mod">
          <ac:chgData name="Agamya R Jain" userId="5379bb5ac236f65f" providerId="Windows Live" clId="Web-{00000000-0000-0000-0000-000000000000}" dt="2026-08-26T14:00:32.933" v="155" actId="20577"/>
          <ac:spMkLst>
            <pc:docMk/>
            <pc:sldMk cId="0" sldId="261"/>
            <ac:spMk id="12" creationId="{CEB456F9-F474-9C7A-3C47-26CD76E42F68}"/>
          </ac:spMkLst>
        </pc:spChg>
        <pc:spChg chg="mod">
          <ac:chgData name="Agamya R Jain" userId="5379bb5ac236f65f" providerId="Windows Live" clId="Web-{00000000-0000-0000-0000-000000000000}" dt="2026-08-26T13:59:07.149" v="152" actId="20577"/>
          <ac:spMkLst>
            <pc:docMk/>
            <pc:sldMk cId="0" sldId="261"/>
            <ac:spMk id="266" creationId="{00000000-0000-0000-0000-000000000000}"/>
          </ac:spMkLst>
        </pc:spChg>
        <pc:spChg chg="mod">
          <ac:chgData name="Agamya R Jain" userId="5379bb5ac236f65f" providerId="Windows Live" clId="Web-{00000000-0000-0000-0000-000000000000}" dt="2026-08-26T14:06:33.114" v="177" actId="20577"/>
          <ac:spMkLst>
            <pc:docMk/>
            <pc:sldMk cId="0" sldId="261"/>
            <ac:spMk id="277" creationId="{00000000-0000-0000-0000-000000000000}"/>
          </ac:spMkLst>
        </pc:spChg>
        <pc:spChg chg="mod">
          <ac:chgData name="Agamya R Jain" userId="5379bb5ac236f65f" providerId="Windows Live" clId="Web-{00000000-0000-0000-0000-000000000000}" dt="2026-08-26T14:06:39.582" v="178" actId="1076"/>
          <ac:spMkLst>
            <pc:docMk/>
            <pc:sldMk cId="0" sldId="261"/>
            <ac:spMk id="278" creationId="{00000000-0000-0000-0000-000000000000}"/>
          </ac:spMkLst>
        </pc:spChg>
        <pc:spChg chg="mod">
          <ac:chgData name="Agamya R Jain" userId="5379bb5ac236f65f" providerId="Windows Live" clId="Web-{00000000-0000-0000-0000-000000000000}" dt="2026-08-26T14:06:20.191" v="173"/>
          <ac:spMkLst>
            <pc:docMk/>
            <pc:sldMk cId="0" sldId="261"/>
            <ac:spMk id="279" creationId="{00000000-0000-0000-0000-000000000000}"/>
          </ac:spMkLst>
        </pc:spChg>
        <pc:spChg chg="mod">
          <ac:chgData name="Agamya R Jain" userId="5379bb5ac236f65f" providerId="Windows Live" clId="Web-{00000000-0000-0000-0000-000000000000}" dt="2026-08-26T14:06:46.504" v="180" actId="14100"/>
          <ac:spMkLst>
            <pc:docMk/>
            <pc:sldMk cId="0" sldId="261"/>
            <ac:spMk id="280" creationId="{00000000-0000-0000-0000-000000000000}"/>
          </ac:spMkLst>
        </pc:spChg>
        <pc:spChg chg="mod">
          <ac:chgData name="Agamya R Jain" userId="5379bb5ac236f65f" providerId="Windows Live" clId="Web-{00000000-0000-0000-0000-000000000000}" dt="2026-08-26T14:09:24.680" v="198" actId="14100"/>
          <ac:spMkLst>
            <pc:docMk/>
            <pc:sldMk cId="0" sldId="261"/>
            <ac:spMk id="281" creationId="{00000000-0000-0000-0000-000000000000}"/>
          </ac:spMkLst>
        </pc:spChg>
        <pc:spChg chg="mod">
          <ac:chgData name="Agamya R Jain" userId="5379bb5ac236f65f" providerId="Windows Live" clId="Web-{00000000-0000-0000-0000-000000000000}" dt="2026-08-26T14:09:24.790" v="199" actId="14100"/>
          <ac:spMkLst>
            <pc:docMk/>
            <pc:sldMk cId="0" sldId="261"/>
            <ac:spMk id="282" creationId="{00000000-0000-0000-0000-000000000000}"/>
          </ac:spMkLst>
        </pc:spChg>
        <pc:picChg chg="mod">
          <ac:chgData name="Agamya R Jain" userId="5379bb5ac236f65f" providerId="Windows Live" clId="Web-{00000000-0000-0000-0000-000000000000}" dt="2026-08-26T14:06:12.316" v="160" actId="14100"/>
          <ac:picMkLst>
            <pc:docMk/>
            <pc:sldMk cId="0" sldId="261"/>
            <ac:picMk id="274" creationId="{00000000-0000-0000-0000-000000000000}"/>
          </ac:picMkLst>
        </pc:picChg>
        <pc:picChg chg="mod">
          <ac:chgData name="Agamya R Jain" userId="5379bb5ac236f65f" providerId="Windows Live" clId="Web-{00000000-0000-0000-0000-000000000000}" dt="2026-08-26T14:06:12.394" v="161" actId="14100"/>
          <ac:picMkLst>
            <pc:docMk/>
            <pc:sldMk cId="0" sldId="261"/>
            <ac:picMk id="275" creationId="{00000000-0000-0000-0000-000000000000}"/>
          </ac:picMkLst>
        </pc:picChg>
        <pc:picChg chg="mod">
          <ac:chgData name="Agamya R Jain" userId="5379bb5ac236f65f" providerId="Windows Live" clId="Web-{00000000-0000-0000-0000-000000000000}" dt="2026-08-26T14:10:01.259" v="201" actId="14100"/>
          <ac:picMkLst>
            <pc:docMk/>
            <pc:sldMk cId="0" sldId="261"/>
            <ac:picMk id="276" creationId="{00000000-0000-0000-0000-000000000000}"/>
          </ac:picMkLst>
        </pc:picChg>
        <pc:picChg chg="mod">
          <ac:chgData name="Agamya R Jain" userId="5379bb5ac236f65f" providerId="Windows Live" clId="Web-{00000000-0000-0000-0000-000000000000}" dt="2026-08-26T14:06:13.097" v="169" actId="14100"/>
          <ac:picMkLst>
            <pc:docMk/>
            <pc:sldMk cId="0" sldId="261"/>
            <ac:picMk id="283" creationId="{00000000-0000-0000-0000-000000000000}"/>
          </ac:picMkLst>
        </pc:picChg>
        <pc:picChg chg="mod">
          <ac:chgData name="Agamya R Jain" userId="5379bb5ac236f65f" providerId="Windows Live" clId="Web-{00000000-0000-0000-0000-000000000000}" dt="2026-08-26T14:06:13.191" v="170" actId="14100"/>
          <ac:picMkLst>
            <pc:docMk/>
            <pc:sldMk cId="0" sldId="261"/>
            <ac:picMk id="284" creationId="{00000000-0000-0000-0000-000000000000}"/>
          </ac:picMkLst>
        </pc:picChg>
        <pc:picChg chg="mod">
          <ac:chgData name="Agamya R Jain" userId="5379bb5ac236f65f" providerId="Windows Live" clId="Web-{00000000-0000-0000-0000-000000000000}" dt="2026-08-26T14:09:24.883" v="200" actId="14100"/>
          <ac:picMkLst>
            <pc:docMk/>
            <pc:sldMk cId="0" sldId="261"/>
            <ac:picMk id="285" creationId="{00000000-0000-0000-0000-000000000000}"/>
          </ac:picMkLst>
        </pc:picChg>
      </pc:sldChg>
      <pc:sldChg chg="modSp">
        <pc:chgData name="Agamya R Jain" userId="5379bb5ac236f65f" providerId="Windows Live" clId="Web-{00000000-0000-0000-0000-000000000000}" dt="2026-08-26T14:35:18.891" v="414"/>
        <pc:sldMkLst>
          <pc:docMk/>
          <pc:sldMk cId="0" sldId="262"/>
        </pc:sldMkLst>
        <pc:spChg chg="mod">
          <ac:chgData name="Agamya R Jain" userId="5379bb5ac236f65f" providerId="Windows Live" clId="Web-{00000000-0000-0000-0000-000000000000}" dt="2026-08-26T14:35:18.891" v="414"/>
          <ac:spMkLst>
            <pc:docMk/>
            <pc:sldMk cId="0" sldId="262"/>
            <ac:spMk id="296" creationId="{00000000-0000-0000-0000-000000000000}"/>
          </ac:spMkLst>
        </pc:spChg>
      </pc:sldChg>
      <pc:sldChg chg="addSp delSp modSp mod setBg">
        <pc:chgData name="Agamya R Jain" userId="5379bb5ac236f65f" providerId="Windows Live" clId="Web-{00000000-0000-0000-0000-000000000000}" dt="2026-08-26T14:19:12.586" v="288" actId="1076"/>
        <pc:sldMkLst>
          <pc:docMk/>
          <pc:sldMk cId="0" sldId="263"/>
        </pc:sldMkLst>
        <pc:spChg chg="mod">
          <ac:chgData name="Agamya R Jain" userId="5379bb5ac236f65f" providerId="Windows Live" clId="Web-{00000000-0000-0000-0000-000000000000}" dt="2026-08-26T14:18:10.959" v="267" actId="1076"/>
          <ac:spMkLst>
            <pc:docMk/>
            <pc:sldMk cId="0" sldId="263"/>
            <ac:spMk id="2" creationId="{2CC6CAA9-5FB1-6024-943B-0E2C9D888478}"/>
          </ac:spMkLst>
        </pc:spChg>
        <pc:spChg chg="mod">
          <ac:chgData name="Agamya R Jain" userId="5379bb5ac236f65f" providerId="Windows Live" clId="Web-{00000000-0000-0000-0000-000000000000}" dt="2026-08-26T14:19:12.586" v="288" actId="1076"/>
          <ac:spMkLst>
            <pc:docMk/>
            <pc:sldMk cId="0" sldId="263"/>
            <ac:spMk id="3" creationId="{E7967431-D9A8-65A7-DD57-DB4435D3BA28}"/>
          </ac:spMkLst>
        </pc:spChg>
        <pc:spChg chg="mod">
          <ac:chgData name="Agamya R Jain" userId="5379bb5ac236f65f" providerId="Windows Live" clId="Web-{00000000-0000-0000-0000-000000000000}" dt="2026-08-26T13:57:08.115" v="127" actId="1076"/>
          <ac:spMkLst>
            <pc:docMk/>
            <pc:sldMk cId="0" sldId="263"/>
            <ac:spMk id="341" creationId="{00000000-0000-0000-0000-000000000000}"/>
          </ac:spMkLst>
        </pc:spChg>
        <pc:spChg chg="mod">
          <ac:chgData name="Agamya R Jain" userId="5379bb5ac236f65f" providerId="Windows Live" clId="Web-{00000000-0000-0000-0000-000000000000}" dt="2026-08-26T14:13:23.468" v="204" actId="20577"/>
          <ac:spMkLst>
            <pc:docMk/>
            <pc:sldMk cId="0" sldId="263"/>
            <ac:spMk id="342" creationId="{00000000-0000-0000-0000-000000000000}"/>
          </ac:spMkLst>
        </pc:spChg>
        <pc:spChg chg="mod">
          <ac:chgData name="Agamya R Jain" userId="5379bb5ac236f65f" providerId="Windows Live" clId="Web-{00000000-0000-0000-0000-000000000000}" dt="2026-08-26T14:16:49.566" v="243" actId="20577"/>
          <ac:spMkLst>
            <pc:docMk/>
            <pc:sldMk cId="0" sldId="263"/>
            <ac:spMk id="351" creationId="{00000000-0000-0000-0000-000000000000}"/>
          </ac:spMkLst>
        </pc:spChg>
        <pc:spChg chg="mod">
          <ac:chgData name="Agamya R Jain" userId="5379bb5ac236f65f" providerId="Windows Live" clId="Web-{00000000-0000-0000-0000-000000000000}" dt="2026-08-26T14:18:10.865" v="266" actId="1076"/>
          <ac:spMkLst>
            <pc:docMk/>
            <pc:sldMk cId="0" sldId="263"/>
            <ac:spMk id="354" creationId="{00000000-0000-0000-0000-000000000000}"/>
          </ac:spMkLst>
        </pc:spChg>
        <pc:spChg chg="mod">
          <ac:chgData name="Agamya R Jain" userId="5379bb5ac236f65f" providerId="Windows Live" clId="Web-{00000000-0000-0000-0000-000000000000}" dt="2026-08-26T14:18:02.271" v="265" actId="1076"/>
          <ac:spMkLst>
            <pc:docMk/>
            <pc:sldMk cId="0" sldId="263"/>
            <ac:spMk id="356" creationId="{00000000-0000-0000-0000-000000000000}"/>
          </ac:spMkLst>
        </pc:spChg>
        <pc:spChg chg="mod">
          <ac:chgData name="Agamya R Jain" userId="5379bb5ac236f65f" providerId="Windows Live" clId="Web-{00000000-0000-0000-0000-000000000000}" dt="2026-08-26T14:17:57.459" v="264" actId="1076"/>
          <ac:spMkLst>
            <pc:docMk/>
            <pc:sldMk cId="0" sldId="263"/>
            <ac:spMk id="357" creationId="{00000000-0000-0000-0000-000000000000}"/>
          </ac:spMkLst>
        </pc:spChg>
        <pc:spChg chg="mod">
          <ac:chgData name="Agamya R Jain" userId="5379bb5ac236f65f" providerId="Windows Live" clId="Web-{00000000-0000-0000-0000-000000000000}" dt="2026-08-26T14:17:50.615" v="262" actId="1076"/>
          <ac:spMkLst>
            <pc:docMk/>
            <pc:sldMk cId="0" sldId="263"/>
            <ac:spMk id="358" creationId="{00000000-0000-0000-0000-000000000000}"/>
          </ac:spMkLst>
        </pc:spChg>
        <pc:spChg chg="mod">
          <ac:chgData name="Agamya R Jain" userId="5379bb5ac236f65f" providerId="Windows Live" clId="Web-{00000000-0000-0000-0000-000000000000}" dt="2026-08-26T14:17:50.724" v="263" actId="1076"/>
          <ac:spMkLst>
            <pc:docMk/>
            <pc:sldMk cId="0" sldId="263"/>
            <ac:spMk id="359" creationId="{00000000-0000-0000-0000-000000000000}"/>
          </ac:spMkLst>
        </pc:spChg>
        <pc:spChg chg="mod">
          <ac:chgData name="Agamya R Jain" userId="5379bb5ac236f65f" providerId="Windows Live" clId="Web-{00000000-0000-0000-0000-000000000000}" dt="2026-08-26T14:19:12.476" v="287" actId="1076"/>
          <ac:spMkLst>
            <pc:docMk/>
            <pc:sldMk cId="0" sldId="263"/>
            <ac:spMk id="360" creationId="{00000000-0000-0000-0000-000000000000}"/>
          </ac:spMkLst>
        </pc:spChg>
        <pc:spChg chg="mod">
          <ac:chgData name="Agamya R Jain" userId="5379bb5ac236f65f" providerId="Windows Live" clId="Web-{00000000-0000-0000-0000-000000000000}" dt="2026-08-26T14:19:01.601" v="284" actId="1076"/>
          <ac:spMkLst>
            <pc:docMk/>
            <pc:sldMk cId="0" sldId="263"/>
            <ac:spMk id="362" creationId="{00000000-0000-0000-0000-000000000000}"/>
          </ac:spMkLst>
        </pc:spChg>
        <pc:spChg chg="mod">
          <ac:chgData name="Agamya R Jain" userId="5379bb5ac236f65f" providerId="Windows Live" clId="Web-{00000000-0000-0000-0000-000000000000}" dt="2026-08-26T14:18:55.492" v="283" actId="1076"/>
          <ac:spMkLst>
            <pc:docMk/>
            <pc:sldMk cId="0" sldId="263"/>
            <ac:spMk id="363" creationId="{00000000-0000-0000-0000-000000000000}"/>
          </ac:spMkLst>
        </pc:spChg>
        <pc:spChg chg="mod">
          <ac:chgData name="Agamya R Jain" userId="5379bb5ac236f65f" providerId="Windows Live" clId="Web-{00000000-0000-0000-0000-000000000000}" dt="2026-08-26T14:18:50.148" v="282" actId="1076"/>
          <ac:spMkLst>
            <pc:docMk/>
            <pc:sldMk cId="0" sldId="263"/>
            <ac:spMk id="364" creationId="{00000000-0000-0000-0000-000000000000}"/>
          </ac:spMkLst>
        </pc:spChg>
        <pc:spChg chg="mod">
          <ac:chgData name="Agamya R Jain" userId="5379bb5ac236f65f" providerId="Windows Live" clId="Web-{00000000-0000-0000-0000-000000000000}" dt="2026-08-26T14:18:44.913" v="281" actId="1076"/>
          <ac:spMkLst>
            <pc:docMk/>
            <pc:sldMk cId="0" sldId="263"/>
            <ac:spMk id="365" creationId="{00000000-0000-0000-0000-000000000000}"/>
          </ac:spMkLst>
        </pc:spChg>
        <pc:picChg chg="add del">
          <ac:chgData name="Agamya R Jain" userId="5379bb5ac236f65f" providerId="Windows Live" clId="Web-{00000000-0000-0000-0000-000000000000}" dt="2026-08-26T14:17:25.458" v="249"/>
          <ac:picMkLst>
            <pc:docMk/>
            <pc:sldMk cId="0" sldId="263"/>
            <ac:picMk id="333" creationId="{00000000-0000-0000-0000-000000000000}"/>
          </ac:picMkLst>
        </pc:picChg>
        <pc:picChg chg="mod">
          <ac:chgData name="Agamya R Jain" userId="5379bb5ac236f65f" providerId="Windows Live" clId="Web-{00000000-0000-0000-0000-000000000000}" dt="2026-08-26T14:17:28.208" v="250" actId="1076"/>
          <ac:picMkLst>
            <pc:docMk/>
            <pc:sldMk cId="0" sldId="263"/>
            <ac:picMk id="335" creationId="{00000000-0000-0000-0000-000000000000}"/>
          </ac:picMkLst>
        </pc:picChg>
        <pc:picChg chg="mod">
          <ac:chgData name="Agamya R Jain" userId="5379bb5ac236f65f" providerId="Windows Live" clId="Web-{00000000-0000-0000-0000-000000000000}" dt="2026-08-26T14:18:28.850" v="277" actId="1076"/>
          <ac:picMkLst>
            <pc:docMk/>
            <pc:sldMk cId="0" sldId="263"/>
            <ac:picMk id="336" creationId="{00000000-0000-0000-0000-000000000000}"/>
          </ac:picMkLst>
        </pc:picChg>
      </pc:sldChg>
      <pc:sldChg chg="modSp">
        <pc:chgData name="Agamya R Jain" userId="5379bb5ac236f65f" providerId="Windows Live" clId="Web-{00000000-0000-0000-0000-000000000000}" dt="2026-08-26T13:57:22.303" v="129" actId="1076"/>
        <pc:sldMkLst>
          <pc:docMk/>
          <pc:sldMk cId="0" sldId="264"/>
        </pc:sldMkLst>
        <pc:spChg chg="mod">
          <ac:chgData name="Agamya R Jain" userId="5379bb5ac236f65f" providerId="Windows Live" clId="Web-{00000000-0000-0000-0000-000000000000}" dt="2026-08-26T13:55:18.472" v="109" actId="14100"/>
          <ac:spMkLst>
            <pc:docMk/>
            <pc:sldMk cId="0" sldId="264"/>
            <ac:spMk id="9" creationId="{8E45D6CE-679E-2FEA-EBCA-9C869BB86F71}"/>
          </ac:spMkLst>
        </pc:spChg>
        <pc:spChg chg="mod">
          <ac:chgData name="Agamya R Jain" userId="5379bb5ac236f65f" providerId="Windows Live" clId="Web-{00000000-0000-0000-0000-000000000000}" dt="2026-08-26T13:56:33.458" v="124" actId="1076"/>
          <ac:spMkLst>
            <pc:docMk/>
            <pc:sldMk cId="0" sldId="264"/>
            <ac:spMk id="13" creationId="{331D8CF6-7958-1475-C948-B3FD55CBB9E2}"/>
          </ac:spMkLst>
        </pc:spChg>
        <pc:spChg chg="mod">
          <ac:chgData name="Agamya R Jain" userId="5379bb5ac236f65f" providerId="Windows Live" clId="Web-{00000000-0000-0000-0000-000000000000}" dt="2026-08-26T13:56:17.832" v="123" actId="20577"/>
          <ac:spMkLst>
            <pc:docMk/>
            <pc:sldMk cId="0" sldId="264"/>
            <ac:spMk id="17" creationId="{E40328CF-76AE-7F33-E8B3-6A545C5541C4}"/>
          </ac:spMkLst>
        </pc:spChg>
        <pc:spChg chg="mod">
          <ac:chgData name="Agamya R Jain" userId="5379bb5ac236f65f" providerId="Windows Live" clId="Web-{00000000-0000-0000-0000-000000000000}" dt="2026-08-26T13:57:22.225" v="128" actId="1076"/>
          <ac:spMkLst>
            <pc:docMk/>
            <pc:sldMk cId="0" sldId="264"/>
            <ac:spMk id="380" creationId="{00000000-0000-0000-0000-000000000000}"/>
          </ac:spMkLst>
        </pc:spChg>
        <pc:picChg chg="mod">
          <ac:chgData name="Agamya R Jain" userId="5379bb5ac236f65f" providerId="Windows Live" clId="Web-{00000000-0000-0000-0000-000000000000}" dt="2026-08-26T13:57:22.303" v="129" actId="1076"/>
          <ac:picMkLst>
            <pc:docMk/>
            <pc:sldMk cId="0" sldId="264"/>
            <ac:picMk id="384" creationId="{00000000-0000-0000-0000-000000000000}"/>
          </ac:picMkLst>
        </pc:picChg>
      </pc:sldChg>
      <pc:sldChg chg="modSp">
        <pc:chgData name="Agamya R Jain" userId="5379bb5ac236f65f" providerId="Windows Live" clId="Web-{00000000-0000-0000-0000-000000000000}" dt="2026-08-26T14:35:48.939" v="420" actId="20577"/>
        <pc:sldMkLst>
          <pc:docMk/>
          <pc:sldMk cId="0" sldId="265"/>
        </pc:sldMkLst>
        <pc:spChg chg="mod">
          <ac:chgData name="Agamya R Jain" userId="5379bb5ac236f65f" providerId="Windows Live" clId="Web-{00000000-0000-0000-0000-000000000000}" dt="2026-08-26T14:35:48.939" v="420" actId="20577"/>
          <ac:spMkLst>
            <pc:docMk/>
            <pc:sldMk cId="0" sldId="265"/>
            <ac:spMk id="402" creationId="{00000000-0000-0000-0000-000000000000}"/>
          </ac:spMkLst>
        </pc:spChg>
        <pc:spChg chg="mod">
          <ac:chgData name="Agamya R Jain" userId="5379bb5ac236f65f" providerId="Windows Live" clId="Web-{00000000-0000-0000-0000-000000000000}" dt="2026-08-24T16:56:20.059" v="13" actId="20577"/>
          <ac:spMkLst>
            <pc:docMk/>
            <pc:sldMk cId="0" sldId="265"/>
            <ac:spMk id="408" creationId="{00000000-0000-0000-0000-000000000000}"/>
          </ac:spMkLst>
        </pc:spChg>
        <pc:spChg chg="mod">
          <ac:chgData name="Agamya R Jain" userId="5379bb5ac236f65f" providerId="Windows Live" clId="Web-{00000000-0000-0000-0000-000000000000}" dt="2026-08-26T14:30:10.024" v="412" actId="20577"/>
          <ac:spMkLst>
            <pc:docMk/>
            <pc:sldMk cId="0" sldId="265"/>
            <ac:spMk id="412" creationId="{00000000-0000-0000-0000-000000000000}"/>
          </ac:spMkLst>
        </pc:spChg>
      </pc:sldChg>
      <pc:sldChg chg="addSp delSp modSp mod setBg">
        <pc:chgData name="Agamya R Jain" userId="5379bb5ac236f65f" providerId="Windows Live" clId="Web-{00000000-0000-0000-0000-000000000000}" dt="2026-08-31T11:47:23.021" v="489" actId="1076"/>
        <pc:sldMkLst>
          <pc:docMk/>
          <pc:sldMk cId="0" sldId="266"/>
        </pc:sldMkLst>
        <pc:spChg chg="add del">
          <ac:chgData name="Agamya R Jain" userId="5379bb5ac236f65f" providerId="Windows Live" clId="Web-{00000000-0000-0000-0000-000000000000}" dt="2026-08-31T11:45:40.769" v="469"/>
          <ac:spMkLst>
            <pc:docMk/>
            <pc:sldMk cId="0" sldId="266"/>
            <ac:spMk id="3" creationId="{0EDA6A59-9C13-D7C6-F0C2-7999F9BBE830}"/>
          </ac:spMkLst>
        </pc:spChg>
        <pc:spChg chg="add del">
          <ac:chgData name="Agamya R Jain" userId="5379bb5ac236f65f" providerId="Windows Live" clId="Web-{00000000-0000-0000-0000-000000000000}" dt="2026-08-31T11:46:12.379" v="475"/>
          <ac:spMkLst>
            <pc:docMk/>
            <pc:sldMk cId="0" sldId="266"/>
            <ac:spMk id="6" creationId="{2A5FDB25-98D8-219A-6D7E-4361826D42F1}"/>
          </ac:spMkLst>
        </pc:spChg>
        <pc:spChg chg="add del">
          <ac:chgData name="Agamya R Jain" userId="5379bb5ac236f65f" providerId="Windows Live" clId="Web-{00000000-0000-0000-0000-000000000000}" dt="2026-08-31T11:46:59.771" v="481"/>
          <ac:spMkLst>
            <pc:docMk/>
            <pc:sldMk cId="0" sldId="266"/>
            <ac:spMk id="9" creationId="{168A3B90-9161-FF2A-0868-1C46A60CBDBF}"/>
          </ac:spMkLst>
        </pc:spChg>
        <pc:spChg chg="add del">
          <ac:chgData name="Agamya R Jain" userId="5379bb5ac236f65f" providerId="Windows Live" clId="Web-{00000000-0000-0000-0000-000000000000}" dt="2026-08-31T11:47:13.802" v="487"/>
          <ac:spMkLst>
            <pc:docMk/>
            <pc:sldMk cId="0" sldId="266"/>
            <ac:spMk id="12" creationId="{E68E792D-3D37-CA5F-CF23-CDAAF73A0394}"/>
          </ac:spMkLst>
        </pc:spChg>
        <pc:spChg chg="mod">
          <ac:chgData name="Agamya R Jain" userId="5379bb5ac236f65f" providerId="Windows Live" clId="Web-{00000000-0000-0000-0000-000000000000}" dt="2026-08-31T11:43:24.718" v="442" actId="20577"/>
          <ac:spMkLst>
            <pc:docMk/>
            <pc:sldMk cId="0" sldId="266"/>
            <ac:spMk id="445" creationId="{00000000-0000-0000-0000-000000000000}"/>
          </ac:spMkLst>
        </pc:spChg>
        <pc:spChg chg="mod">
          <ac:chgData name="Agamya R Jain" userId="5379bb5ac236f65f" providerId="Windows Live" clId="Web-{00000000-0000-0000-0000-000000000000}" dt="2026-08-31T11:43:58.828" v="452" actId="1076"/>
          <ac:spMkLst>
            <pc:docMk/>
            <pc:sldMk cId="0" sldId="266"/>
            <ac:spMk id="446" creationId="{00000000-0000-0000-0000-000000000000}"/>
          </ac:spMkLst>
        </pc:spChg>
        <pc:spChg chg="mod">
          <ac:chgData name="Agamya R Jain" userId="5379bb5ac236f65f" providerId="Windows Live" clId="Web-{00000000-0000-0000-0000-000000000000}" dt="2026-08-31T11:43:58.844" v="453" actId="1076"/>
          <ac:spMkLst>
            <pc:docMk/>
            <pc:sldMk cId="0" sldId="266"/>
            <ac:spMk id="450" creationId="{00000000-0000-0000-0000-000000000000}"/>
          </ac:spMkLst>
        </pc:spChg>
        <pc:spChg chg="mod">
          <ac:chgData name="Agamya R Jain" userId="5379bb5ac236f65f" providerId="Windows Live" clId="Web-{00000000-0000-0000-0000-000000000000}" dt="2026-08-31T11:43:58.860" v="454" actId="1076"/>
          <ac:spMkLst>
            <pc:docMk/>
            <pc:sldMk cId="0" sldId="266"/>
            <ac:spMk id="451" creationId="{00000000-0000-0000-0000-000000000000}"/>
          </ac:spMkLst>
        </pc:spChg>
        <pc:spChg chg="mod">
          <ac:chgData name="Agamya R Jain" userId="5379bb5ac236f65f" providerId="Windows Live" clId="Web-{00000000-0000-0000-0000-000000000000}" dt="2026-08-31T11:43:58.875" v="455" actId="1076"/>
          <ac:spMkLst>
            <pc:docMk/>
            <pc:sldMk cId="0" sldId="266"/>
            <ac:spMk id="452" creationId="{00000000-0000-0000-0000-000000000000}"/>
          </ac:spMkLst>
        </pc:spChg>
        <pc:spChg chg="mod">
          <ac:chgData name="Agamya R Jain" userId="5379bb5ac236f65f" providerId="Windows Live" clId="Web-{00000000-0000-0000-0000-000000000000}" dt="2026-08-31T11:43:58.891" v="456" actId="1076"/>
          <ac:spMkLst>
            <pc:docMk/>
            <pc:sldMk cId="0" sldId="266"/>
            <ac:spMk id="453" creationId="{00000000-0000-0000-0000-000000000000}"/>
          </ac:spMkLst>
        </pc:spChg>
        <pc:spChg chg="mod">
          <ac:chgData name="Agamya R Jain" userId="5379bb5ac236f65f" providerId="Windows Live" clId="Web-{00000000-0000-0000-0000-000000000000}" dt="2026-08-31T11:43:58.906" v="457" actId="1076"/>
          <ac:spMkLst>
            <pc:docMk/>
            <pc:sldMk cId="0" sldId="266"/>
            <ac:spMk id="454" creationId="{00000000-0000-0000-0000-000000000000}"/>
          </ac:spMkLst>
        </pc:spChg>
        <pc:spChg chg="mod">
          <ac:chgData name="Agamya R Jain" userId="5379bb5ac236f65f" providerId="Windows Live" clId="Web-{00000000-0000-0000-0000-000000000000}" dt="2026-08-31T11:43:58.922" v="458" actId="1076"/>
          <ac:spMkLst>
            <pc:docMk/>
            <pc:sldMk cId="0" sldId="266"/>
            <ac:spMk id="455" creationId="{00000000-0000-0000-0000-000000000000}"/>
          </ac:spMkLst>
        </pc:spChg>
        <pc:spChg chg="mod">
          <ac:chgData name="Agamya R Jain" userId="5379bb5ac236f65f" providerId="Windows Live" clId="Web-{00000000-0000-0000-0000-000000000000}" dt="2026-08-31T11:43:58.938" v="459" actId="1076"/>
          <ac:spMkLst>
            <pc:docMk/>
            <pc:sldMk cId="0" sldId="266"/>
            <ac:spMk id="456" creationId="{00000000-0000-0000-0000-000000000000}"/>
          </ac:spMkLst>
        </pc:spChg>
        <pc:spChg chg="mod">
          <ac:chgData name="Agamya R Jain" userId="5379bb5ac236f65f" providerId="Windows Live" clId="Web-{00000000-0000-0000-0000-000000000000}" dt="2026-08-31T11:43:58.953" v="460" actId="1076"/>
          <ac:spMkLst>
            <pc:docMk/>
            <pc:sldMk cId="0" sldId="266"/>
            <ac:spMk id="457" creationId="{00000000-0000-0000-0000-000000000000}"/>
          </ac:spMkLst>
        </pc:spChg>
        <pc:spChg chg="mod">
          <ac:chgData name="Agamya R Jain" userId="5379bb5ac236f65f" providerId="Windows Live" clId="Web-{00000000-0000-0000-0000-000000000000}" dt="2026-08-31T11:43:58.969" v="461" actId="1076"/>
          <ac:spMkLst>
            <pc:docMk/>
            <pc:sldMk cId="0" sldId="266"/>
            <ac:spMk id="458" creationId="{00000000-0000-0000-0000-000000000000}"/>
          </ac:spMkLst>
        </pc:spChg>
        <pc:spChg chg="mod">
          <ac:chgData name="Agamya R Jain" userId="5379bb5ac236f65f" providerId="Windows Live" clId="Web-{00000000-0000-0000-0000-000000000000}" dt="2026-08-31T11:43:58.985" v="462" actId="1076"/>
          <ac:spMkLst>
            <pc:docMk/>
            <pc:sldMk cId="0" sldId="266"/>
            <ac:spMk id="459" creationId="{00000000-0000-0000-0000-000000000000}"/>
          </ac:spMkLst>
        </pc:spChg>
        <pc:picChg chg="add del">
          <ac:chgData name="Agamya R Jain" userId="5379bb5ac236f65f" providerId="Windows Live" clId="Web-{00000000-0000-0000-0000-000000000000}" dt="2026-08-31T11:45:40.769" v="470"/>
          <ac:picMkLst>
            <pc:docMk/>
            <pc:sldMk cId="0" sldId="266"/>
            <ac:picMk id="2" creationId="{6F0532B8-D318-40E0-82C0-16E71990C49B}"/>
          </ac:picMkLst>
        </pc:picChg>
        <pc:picChg chg="add del">
          <ac:chgData name="Agamya R Jain" userId="5379bb5ac236f65f" providerId="Windows Live" clId="Web-{00000000-0000-0000-0000-000000000000}" dt="2026-08-31T11:45:40.769" v="468"/>
          <ac:picMkLst>
            <pc:docMk/>
            <pc:sldMk cId="0" sldId="266"/>
            <ac:picMk id="4" creationId="{1BF4A87C-BDEA-D019-2387-7D32CB1DFA9B}"/>
          </ac:picMkLst>
        </pc:picChg>
        <pc:picChg chg="add del">
          <ac:chgData name="Agamya R Jain" userId="5379bb5ac236f65f" providerId="Windows Live" clId="Web-{00000000-0000-0000-0000-000000000000}" dt="2026-08-31T11:46:12.379" v="476"/>
          <ac:picMkLst>
            <pc:docMk/>
            <pc:sldMk cId="0" sldId="266"/>
            <ac:picMk id="5" creationId="{2231872C-BEAB-6BD8-EE43-76BDC3A78BB6}"/>
          </ac:picMkLst>
        </pc:picChg>
        <pc:picChg chg="add del">
          <ac:chgData name="Agamya R Jain" userId="5379bb5ac236f65f" providerId="Windows Live" clId="Web-{00000000-0000-0000-0000-000000000000}" dt="2026-08-31T11:46:12.379" v="474"/>
          <ac:picMkLst>
            <pc:docMk/>
            <pc:sldMk cId="0" sldId="266"/>
            <ac:picMk id="7" creationId="{CD3F04C0-D89B-636C-8A4B-65CDC0AA95B6}"/>
          </ac:picMkLst>
        </pc:picChg>
        <pc:picChg chg="add del">
          <ac:chgData name="Agamya R Jain" userId="5379bb5ac236f65f" providerId="Windows Live" clId="Web-{00000000-0000-0000-0000-000000000000}" dt="2026-08-31T11:46:59.771" v="482"/>
          <ac:picMkLst>
            <pc:docMk/>
            <pc:sldMk cId="0" sldId="266"/>
            <ac:picMk id="8" creationId="{EBE6BB1B-4B63-160E-BB43-ED8C0B247579}"/>
          </ac:picMkLst>
        </pc:picChg>
        <pc:picChg chg="add del">
          <ac:chgData name="Agamya R Jain" userId="5379bb5ac236f65f" providerId="Windows Live" clId="Web-{00000000-0000-0000-0000-000000000000}" dt="2026-08-31T11:46:59.771" v="480"/>
          <ac:picMkLst>
            <pc:docMk/>
            <pc:sldMk cId="0" sldId="266"/>
            <ac:picMk id="10" creationId="{61528DBE-B5F1-0DFC-3131-43637A1CA1F1}"/>
          </ac:picMkLst>
        </pc:picChg>
        <pc:picChg chg="add del">
          <ac:chgData name="Agamya R Jain" userId="5379bb5ac236f65f" providerId="Windows Live" clId="Web-{00000000-0000-0000-0000-000000000000}" dt="2026-08-31T11:47:13.802" v="488"/>
          <ac:picMkLst>
            <pc:docMk/>
            <pc:sldMk cId="0" sldId="266"/>
            <ac:picMk id="11" creationId="{D6EFD79D-EC97-FEC5-24B6-F7BAA03120A5}"/>
          </ac:picMkLst>
        </pc:picChg>
        <pc:picChg chg="add del">
          <ac:chgData name="Agamya R Jain" userId="5379bb5ac236f65f" providerId="Windows Live" clId="Web-{00000000-0000-0000-0000-000000000000}" dt="2026-08-31T11:47:13.802" v="486"/>
          <ac:picMkLst>
            <pc:docMk/>
            <pc:sldMk cId="0" sldId="266"/>
            <ac:picMk id="13" creationId="{C8FD6EAA-3BAA-A855-AC04-2B31CE8A3B80}"/>
          </ac:picMkLst>
        </pc:picChg>
        <pc:picChg chg="del mod">
          <ac:chgData name="Agamya R Jain" userId="5379bb5ac236f65f" providerId="Windows Live" clId="Web-{00000000-0000-0000-0000-000000000000}" dt="2026-08-31T11:43:48.359" v="445"/>
          <ac:picMkLst>
            <pc:docMk/>
            <pc:sldMk cId="0" sldId="266"/>
            <ac:picMk id="436" creationId="{00000000-0000-0000-0000-000000000000}"/>
          </ac:picMkLst>
        </pc:picChg>
        <pc:picChg chg="mod">
          <ac:chgData name="Agamya R Jain" userId="5379bb5ac236f65f" providerId="Windows Live" clId="Web-{00000000-0000-0000-0000-000000000000}" dt="2026-08-31T11:47:23.021" v="489" actId="1076"/>
          <ac:picMkLst>
            <pc:docMk/>
            <pc:sldMk cId="0" sldId="266"/>
            <ac:picMk id="438" creationId="{00000000-0000-0000-0000-000000000000}"/>
          </ac:picMkLst>
        </pc:picChg>
        <pc:picChg chg="mod">
          <ac:chgData name="Agamya R Jain" userId="5379bb5ac236f65f" providerId="Windows Live" clId="Web-{00000000-0000-0000-0000-000000000000}" dt="2026-08-31T11:43:58.735" v="447" actId="1076"/>
          <ac:picMkLst>
            <pc:docMk/>
            <pc:sldMk cId="0" sldId="266"/>
            <ac:picMk id="439" creationId="{00000000-0000-0000-0000-000000000000}"/>
          </ac:picMkLst>
        </pc:picChg>
        <pc:picChg chg="mod">
          <ac:chgData name="Agamya R Jain" userId="5379bb5ac236f65f" providerId="Windows Live" clId="Web-{00000000-0000-0000-0000-000000000000}" dt="2026-08-31T11:43:58.750" v="448" actId="1076"/>
          <ac:picMkLst>
            <pc:docMk/>
            <pc:sldMk cId="0" sldId="266"/>
            <ac:picMk id="440" creationId="{00000000-0000-0000-0000-000000000000}"/>
          </ac:picMkLst>
        </pc:picChg>
        <pc:picChg chg="mod">
          <ac:chgData name="Agamya R Jain" userId="5379bb5ac236f65f" providerId="Windows Live" clId="Web-{00000000-0000-0000-0000-000000000000}" dt="2026-08-31T11:43:58.766" v="449" actId="1076"/>
          <ac:picMkLst>
            <pc:docMk/>
            <pc:sldMk cId="0" sldId="266"/>
            <ac:picMk id="441" creationId="{00000000-0000-0000-0000-000000000000}"/>
          </ac:picMkLst>
        </pc:picChg>
        <pc:picChg chg="mod">
          <ac:chgData name="Agamya R Jain" userId="5379bb5ac236f65f" providerId="Windows Live" clId="Web-{00000000-0000-0000-0000-000000000000}" dt="2026-08-31T11:43:58.781" v="450" actId="1076"/>
          <ac:picMkLst>
            <pc:docMk/>
            <pc:sldMk cId="0" sldId="266"/>
            <ac:picMk id="442" creationId="{00000000-0000-0000-0000-000000000000}"/>
          </ac:picMkLst>
        </pc:picChg>
        <pc:picChg chg="mod">
          <ac:chgData name="Agamya R Jain" userId="5379bb5ac236f65f" providerId="Windows Live" clId="Web-{00000000-0000-0000-0000-000000000000}" dt="2026-08-31T11:43:58.797" v="451" actId="1076"/>
          <ac:picMkLst>
            <pc:docMk/>
            <pc:sldMk cId="0" sldId="266"/>
            <ac:picMk id="443" creationId="{00000000-0000-0000-0000-000000000000}"/>
          </ac:picMkLst>
        </pc:picChg>
        <pc:picChg chg="mod">
          <ac:chgData name="Agamya R Jain" userId="5379bb5ac236f65f" providerId="Windows Live" clId="Web-{00000000-0000-0000-0000-000000000000}" dt="2026-08-31T10:25:06.627" v="434" actId="1076"/>
          <ac:picMkLst>
            <pc:docMk/>
            <pc:sldMk cId="0" sldId="266"/>
            <ac:picMk id="449" creationId="{00000000-0000-0000-0000-000000000000}"/>
          </ac:picMkLst>
        </pc:picChg>
      </pc:sldChg>
    </pc:docChg>
  </pc:docChgLst>
  <pc:docChgLst>
    <pc:chgData name="Agamya R Jain" userId="5379bb5ac236f65f" providerId="Windows Live" clId="Web-{45372456-0097-8A1B-C517-E7050F795BA0}"/>
    <pc:docChg chg="modSld">
      <pc:chgData name="Agamya R Jain" userId="5379bb5ac236f65f" providerId="Windows Live" clId="Web-{45372456-0097-8A1B-C517-E7050F795BA0}" dt="2026-08-09T06:43:00.286" v="0" actId="1076"/>
      <pc:docMkLst>
        <pc:docMk/>
      </pc:docMkLst>
      <pc:sldChg chg="modSp">
        <pc:chgData name="Agamya R Jain" userId="5379bb5ac236f65f" providerId="Windows Live" clId="Web-{45372456-0097-8A1B-C517-E7050F795BA0}" dt="2026-08-09T06:43:00.286" v="0" actId="1076"/>
        <pc:sldMkLst>
          <pc:docMk/>
          <pc:sldMk cId="0" sldId="261"/>
        </pc:sldMkLst>
        <pc:picChg chg="mod">
          <ac:chgData name="Agamya R Jain" userId="5379bb5ac236f65f" providerId="Windows Live" clId="Web-{45372456-0097-8A1B-C517-E7050F795BA0}" dt="2026-08-09T06:43:00.286" v="0" actId="1076"/>
          <ac:picMkLst>
            <pc:docMk/>
            <pc:sldMk cId="0" sldId="261"/>
            <ac:picMk id="285" creationId="{00000000-0000-0000-0000-000000000000}"/>
          </ac:picMkLst>
        </pc:picChg>
      </pc:sldChg>
    </pc:docChg>
  </pc:docChgLst>
  <pc:docChgLst>
    <pc:chgData name="Agamya R Jain" userId="5379bb5ac236f65f" providerId="Windows Live" clId="Web-{34C2C0D3-0EFB-9AC9-9CCA-B5587AEB4C7A}"/>
    <pc:docChg chg="modSld">
      <pc:chgData name="Agamya R Jain" userId="5379bb5ac236f65f" providerId="Windows Live" clId="Web-{34C2C0D3-0EFB-9AC9-9CCA-B5587AEB4C7A}" dt="2026-08-31T16:03:49.827" v="56" actId="20577"/>
      <pc:docMkLst>
        <pc:docMk/>
      </pc:docMkLst>
      <pc:sldChg chg="addSp delSp modSp">
        <pc:chgData name="Agamya R Jain" userId="5379bb5ac236f65f" providerId="Windows Live" clId="Web-{34C2C0D3-0EFB-9AC9-9CCA-B5587AEB4C7A}" dt="2026-08-31T16:03:49.827" v="56" actId="20577"/>
        <pc:sldMkLst>
          <pc:docMk/>
          <pc:sldMk cId="0" sldId="266"/>
        </pc:sldMkLst>
        <pc:spChg chg="add mod">
          <ac:chgData name="Agamya R Jain" userId="5379bb5ac236f65f" providerId="Windows Live" clId="Web-{34C2C0D3-0EFB-9AC9-9CCA-B5587AEB4C7A}" dt="2026-08-31T16:03:49.827" v="56" actId="20577"/>
          <ac:spMkLst>
            <pc:docMk/>
            <pc:sldMk cId="0" sldId="266"/>
            <ac:spMk id="2" creationId="{4969393F-A396-C97F-3A11-28A8F68FD1AC}"/>
          </ac:spMkLst>
        </pc:spChg>
        <pc:spChg chg="mod">
          <ac:chgData name="Agamya R Jain" userId="5379bb5ac236f65f" providerId="Windows Live" clId="Web-{34C2C0D3-0EFB-9AC9-9CCA-B5587AEB4C7A}" dt="2026-08-31T15:59:10.135" v="45" actId="1076"/>
          <ac:spMkLst>
            <pc:docMk/>
            <pc:sldMk cId="0" sldId="266"/>
            <ac:spMk id="445" creationId="{00000000-0000-0000-0000-000000000000}"/>
          </ac:spMkLst>
        </pc:spChg>
        <pc:spChg chg="del">
          <ac:chgData name="Agamya R Jain" userId="5379bb5ac236f65f" providerId="Windows Live" clId="Web-{34C2C0D3-0EFB-9AC9-9CCA-B5587AEB4C7A}" dt="2026-08-31T15:55:38.999" v="10"/>
          <ac:spMkLst>
            <pc:docMk/>
            <pc:sldMk cId="0" sldId="266"/>
            <ac:spMk id="446" creationId="{00000000-0000-0000-0000-000000000000}"/>
          </ac:spMkLst>
        </pc:spChg>
        <pc:spChg chg="del">
          <ac:chgData name="Agamya R Jain" userId="5379bb5ac236f65f" providerId="Windows Live" clId="Web-{34C2C0D3-0EFB-9AC9-9CCA-B5587AEB4C7A}" dt="2026-08-31T15:55:38.999" v="9"/>
          <ac:spMkLst>
            <pc:docMk/>
            <pc:sldMk cId="0" sldId="266"/>
            <ac:spMk id="450" creationId="{00000000-0000-0000-0000-000000000000}"/>
          </ac:spMkLst>
        </pc:spChg>
        <pc:spChg chg="del">
          <ac:chgData name="Agamya R Jain" userId="5379bb5ac236f65f" providerId="Windows Live" clId="Web-{34C2C0D3-0EFB-9AC9-9CCA-B5587AEB4C7A}" dt="2026-08-31T15:55:38.999" v="8"/>
          <ac:spMkLst>
            <pc:docMk/>
            <pc:sldMk cId="0" sldId="266"/>
            <ac:spMk id="451" creationId="{00000000-0000-0000-0000-000000000000}"/>
          </ac:spMkLst>
        </pc:spChg>
        <pc:spChg chg="del">
          <ac:chgData name="Agamya R Jain" userId="5379bb5ac236f65f" providerId="Windows Live" clId="Web-{34C2C0D3-0EFB-9AC9-9CCA-B5587AEB4C7A}" dt="2026-08-31T15:55:38.999" v="7"/>
          <ac:spMkLst>
            <pc:docMk/>
            <pc:sldMk cId="0" sldId="266"/>
            <ac:spMk id="452" creationId="{00000000-0000-0000-0000-000000000000}"/>
          </ac:spMkLst>
        </pc:spChg>
        <pc:spChg chg="del">
          <ac:chgData name="Agamya R Jain" userId="5379bb5ac236f65f" providerId="Windows Live" clId="Web-{34C2C0D3-0EFB-9AC9-9CCA-B5587AEB4C7A}" dt="2026-08-31T15:55:38.999" v="6"/>
          <ac:spMkLst>
            <pc:docMk/>
            <pc:sldMk cId="0" sldId="266"/>
            <ac:spMk id="453" creationId="{00000000-0000-0000-0000-000000000000}"/>
          </ac:spMkLst>
        </pc:spChg>
        <pc:spChg chg="del">
          <ac:chgData name="Agamya R Jain" userId="5379bb5ac236f65f" providerId="Windows Live" clId="Web-{34C2C0D3-0EFB-9AC9-9CCA-B5587AEB4C7A}" dt="2026-08-31T15:55:38.999" v="5"/>
          <ac:spMkLst>
            <pc:docMk/>
            <pc:sldMk cId="0" sldId="266"/>
            <ac:spMk id="454" creationId="{00000000-0000-0000-0000-000000000000}"/>
          </ac:spMkLst>
        </pc:spChg>
        <pc:spChg chg="del">
          <ac:chgData name="Agamya R Jain" userId="5379bb5ac236f65f" providerId="Windows Live" clId="Web-{34C2C0D3-0EFB-9AC9-9CCA-B5587AEB4C7A}" dt="2026-08-31T15:55:38.999" v="4"/>
          <ac:spMkLst>
            <pc:docMk/>
            <pc:sldMk cId="0" sldId="266"/>
            <ac:spMk id="455" creationId="{00000000-0000-0000-0000-000000000000}"/>
          </ac:spMkLst>
        </pc:spChg>
        <pc:spChg chg="del">
          <ac:chgData name="Agamya R Jain" userId="5379bb5ac236f65f" providerId="Windows Live" clId="Web-{34C2C0D3-0EFB-9AC9-9CCA-B5587AEB4C7A}" dt="2026-08-31T15:55:38.999" v="3"/>
          <ac:spMkLst>
            <pc:docMk/>
            <pc:sldMk cId="0" sldId="266"/>
            <ac:spMk id="456" creationId="{00000000-0000-0000-0000-000000000000}"/>
          </ac:spMkLst>
        </pc:spChg>
        <pc:spChg chg="del">
          <ac:chgData name="Agamya R Jain" userId="5379bb5ac236f65f" providerId="Windows Live" clId="Web-{34C2C0D3-0EFB-9AC9-9CCA-B5587AEB4C7A}" dt="2026-08-31T15:55:38.999" v="2"/>
          <ac:spMkLst>
            <pc:docMk/>
            <pc:sldMk cId="0" sldId="266"/>
            <ac:spMk id="457" creationId="{00000000-0000-0000-0000-000000000000}"/>
          </ac:spMkLst>
        </pc:spChg>
        <pc:spChg chg="del">
          <ac:chgData name="Agamya R Jain" userId="5379bb5ac236f65f" providerId="Windows Live" clId="Web-{34C2C0D3-0EFB-9AC9-9CCA-B5587AEB4C7A}" dt="2026-08-31T15:55:38.999" v="1"/>
          <ac:spMkLst>
            <pc:docMk/>
            <pc:sldMk cId="0" sldId="266"/>
            <ac:spMk id="458" creationId="{00000000-0000-0000-0000-000000000000}"/>
          </ac:spMkLst>
        </pc:spChg>
        <pc:spChg chg="del">
          <ac:chgData name="Agamya R Jain" userId="5379bb5ac236f65f" providerId="Windows Live" clId="Web-{34C2C0D3-0EFB-9AC9-9CCA-B5587AEB4C7A}" dt="2026-08-31T15:55:38.999" v="0"/>
          <ac:spMkLst>
            <pc:docMk/>
            <pc:sldMk cId="0" sldId="266"/>
            <ac:spMk id="459" creationId="{00000000-0000-0000-0000-000000000000}"/>
          </ac:spMkLst>
        </pc:spChg>
        <pc:picChg chg="del mod">
          <ac:chgData name="Agamya R Jain" userId="5379bb5ac236f65f" providerId="Windows Live" clId="Web-{34C2C0D3-0EFB-9AC9-9CCA-B5587AEB4C7A}" dt="2026-08-31T15:59:03.603" v="44"/>
          <ac:picMkLst>
            <pc:docMk/>
            <pc:sldMk cId="0" sldId="266"/>
            <ac:picMk id="437" creationId="{00000000-0000-0000-0000-000000000000}"/>
          </ac:picMkLst>
        </pc:picChg>
        <pc:picChg chg="del mod">
          <ac:chgData name="Agamya R Jain" userId="5379bb5ac236f65f" providerId="Windows Live" clId="Web-{34C2C0D3-0EFB-9AC9-9CCA-B5587AEB4C7A}" dt="2026-08-31T15:58:52.883" v="41"/>
          <ac:picMkLst>
            <pc:docMk/>
            <pc:sldMk cId="0" sldId="266"/>
            <ac:picMk id="438" creationId="{00000000-0000-0000-0000-000000000000}"/>
          </ac:picMkLst>
        </pc:picChg>
        <pc:picChg chg="del">
          <ac:chgData name="Agamya R Jain" userId="5379bb5ac236f65f" providerId="Windows Live" clId="Web-{34C2C0D3-0EFB-9AC9-9CCA-B5587AEB4C7A}" dt="2026-08-31T15:55:38.999" v="15"/>
          <ac:picMkLst>
            <pc:docMk/>
            <pc:sldMk cId="0" sldId="266"/>
            <ac:picMk id="439" creationId="{00000000-0000-0000-0000-000000000000}"/>
          </ac:picMkLst>
        </pc:picChg>
        <pc:picChg chg="del">
          <ac:chgData name="Agamya R Jain" userId="5379bb5ac236f65f" providerId="Windows Live" clId="Web-{34C2C0D3-0EFB-9AC9-9CCA-B5587AEB4C7A}" dt="2026-08-31T15:55:38.999" v="14"/>
          <ac:picMkLst>
            <pc:docMk/>
            <pc:sldMk cId="0" sldId="266"/>
            <ac:picMk id="440" creationId="{00000000-0000-0000-0000-000000000000}"/>
          </ac:picMkLst>
        </pc:picChg>
        <pc:picChg chg="del">
          <ac:chgData name="Agamya R Jain" userId="5379bb5ac236f65f" providerId="Windows Live" clId="Web-{34C2C0D3-0EFB-9AC9-9CCA-B5587AEB4C7A}" dt="2026-08-31T15:55:38.999" v="13"/>
          <ac:picMkLst>
            <pc:docMk/>
            <pc:sldMk cId="0" sldId="266"/>
            <ac:picMk id="441" creationId="{00000000-0000-0000-0000-000000000000}"/>
          </ac:picMkLst>
        </pc:picChg>
        <pc:picChg chg="del">
          <ac:chgData name="Agamya R Jain" userId="5379bb5ac236f65f" providerId="Windows Live" clId="Web-{34C2C0D3-0EFB-9AC9-9CCA-B5587AEB4C7A}" dt="2026-08-31T15:55:38.999" v="12"/>
          <ac:picMkLst>
            <pc:docMk/>
            <pc:sldMk cId="0" sldId="266"/>
            <ac:picMk id="442" creationId="{00000000-0000-0000-0000-000000000000}"/>
          </ac:picMkLst>
        </pc:picChg>
        <pc:picChg chg="del">
          <ac:chgData name="Agamya R Jain" userId="5379bb5ac236f65f" providerId="Windows Live" clId="Web-{34C2C0D3-0EFB-9AC9-9CCA-B5587AEB4C7A}" dt="2026-08-31T15:55:38.999" v="11"/>
          <ac:picMkLst>
            <pc:docMk/>
            <pc:sldMk cId="0" sldId="266"/>
            <ac:picMk id="443" creationId="{00000000-0000-0000-0000-000000000000}"/>
          </ac:picMkLst>
        </pc:picChg>
        <pc:picChg chg="del mod">
          <ac:chgData name="Agamya R Jain" userId="5379bb5ac236f65f" providerId="Windows Live" clId="Web-{34C2C0D3-0EFB-9AC9-9CCA-B5587AEB4C7A}" dt="2026-08-31T15:59:03.603" v="43"/>
          <ac:picMkLst>
            <pc:docMk/>
            <pc:sldMk cId="0" sldId="266"/>
            <ac:picMk id="449" creationId="{00000000-0000-0000-0000-000000000000}"/>
          </ac:picMkLst>
        </pc:picChg>
      </pc:sldChg>
    </pc:docChg>
  </pc:docChgLst>
  <pc:docChgLst>
    <pc:chgData name="Agamya R Jain" userId="5379bb5ac236f65f" providerId="Windows Live" clId="Web-{2AA95DDB-0C44-0AE5-5196-BAE0D5585E39}"/>
    <pc:docChg chg="modSld">
      <pc:chgData name="Agamya R Jain" userId="5379bb5ac236f65f" providerId="Windows Live" clId="Web-{2AA95DDB-0C44-0AE5-5196-BAE0D5585E39}" dt="2026-08-26T10:54:01.533" v="288" actId="1076"/>
      <pc:docMkLst>
        <pc:docMk/>
      </pc:docMkLst>
      <pc:sldChg chg="modSp">
        <pc:chgData name="Agamya R Jain" userId="5379bb5ac236f65f" providerId="Windows Live" clId="Web-{2AA95DDB-0C44-0AE5-5196-BAE0D5585E39}" dt="2026-08-26T08:55:37.345" v="26" actId="20577"/>
        <pc:sldMkLst>
          <pc:docMk/>
          <pc:sldMk cId="0" sldId="257"/>
        </pc:sldMkLst>
        <pc:spChg chg="mod">
          <ac:chgData name="Agamya R Jain" userId="5379bb5ac236f65f" providerId="Windows Live" clId="Web-{2AA95DDB-0C44-0AE5-5196-BAE0D5585E39}" dt="2026-08-26T08:54:18.280" v="8" actId="20577"/>
          <ac:spMkLst>
            <pc:docMk/>
            <pc:sldMk cId="0" sldId="257"/>
            <ac:spMk id="110" creationId="{00000000-0000-0000-0000-000000000000}"/>
          </ac:spMkLst>
        </pc:spChg>
        <pc:spChg chg="mod">
          <ac:chgData name="Agamya R Jain" userId="5379bb5ac236f65f" providerId="Windows Live" clId="Web-{2AA95DDB-0C44-0AE5-5196-BAE0D5585E39}" dt="2026-08-26T08:54:13.186" v="6" actId="20577"/>
          <ac:spMkLst>
            <pc:docMk/>
            <pc:sldMk cId="0" sldId="257"/>
            <ac:spMk id="111" creationId="{00000000-0000-0000-0000-000000000000}"/>
          </ac:spMkLst>
        </pc:spChg>
        <pc:spChg chg="mod">
          <ac:chgData name="Agamya R Jain" userId="5379bb5ac236f65f" providerId="Windows Live" clId="Web-{2AA95DDB-0C44-0AE5-5196-BAE0D5585E39}" dt="2026-08-26T08:54:26.171" v="10" actId="20577"/>
          <ac:spMkLst>
            <pc:docMk/>
            <pc:sldMk cId="0" sldId="257"/>
            <ac:spMk id="113" creationId="{00000000-0000-0000-0000-000000000000}"/>
          </ac:spMkLst>
        </pc:spChg>
        <pc:spChg chg="mod">
          <ac:chgData name="Agamya R Jain" userId="5379bb5ac236f65f" providerId="Windows Live" clId="Web-{2AA95DDB-0C44-0AE5-5196-BAE0D5585E39}" dt="2026-08-26T08:54:51.203" v="17" actId="20577"/>
          <ac:spMkLst>
            <pc:docMk/>
            <pc:sldMk cId="0" sldId="257"/>
            <ac:spMk id="114" creationId="{00000000-0000-0000-0000-000000000000}"/>
          </ac:spMkLst>
        </pc:spChg>
        <pc:spChg chg="mod">
          <ac:chgData name="Agamya R Jain" userId="5379bb5ac236f65f" providerId="Windows Live" clId="Web-{2AA95DDB-0C44-0AE5-5196-BAE0D5585E39}" dt="2026-08-26T08:55:32.173" v="23" actId="20577"/>
          <ac:spMkLst>
            <pc:docMk/>
            <pc:sldMk cId="0" sldId="257"/>
            <ac:spMk id="116" creationId="{00000000-0000-0000-0000-000000000000}"/>
          </ac:spMkLst>
        </pc:spChg>
        <pc:spChg chg="mod">
          <ac:chgData name="Agamya R Jain" userId="5379bb5ac236f65f" providerId="Windows Live" clId="Web-{2AA95DDB-0C44-0AE5-5196-BAE0D5585E39}" dt="2026-08-26T08:55:37.345" v="26" actId="20577"/>
          <ac:spMkLst>
            <pc:docMk/>
            <pc:sldMk cId="0" sldId="257"/>
            <ac:spMk id="117" creationId="{00000000-0000-0000-0000-000000000000}"/>
          </ac:spMkLst>
        </pc:spChg>
      </pc:sldChg>
      <pc:sldChg chg="modSp">
        <pc:chgData name="Agamya R Jain" userId="5379bb5ac236f65f" providerId="Windows Live" clId="Web-{2AA95DDB-0C44-0AE5-5196-BAE0D5585E39}" dt="2026-08-26T10:36:48.260" v="189" actId="20577"/>
        <pc:sldMkLst>
          <pc:docMk/>
          <pc:sldMk cId="0" sldId="258"/>
        </pc:sldMkLst>
        <pc:spChg chg="mod">
          <ac:chgData name="Agamya R Jain" userId="5379bb5ac236f65f" providerId="Windows Live" clId="Web-{2AA95DDB-0C44-0AE5-5196-BAE0D5585E39}" dt="2026-08-26T08:57:39.958" v="41" actId="1076"/>
          <ac:spMkLst>
            <pc:docMk/>
            <pc:sldMk cId="0" sldId="258"/>
            <ac:spMk id="6" creationId="{42D13E19-D81E-32F3-2848-6D258249B68D}"/>
          </ac:spMkLst>
        </pc:spChg>
        <pc:spChg chg="mod">
          <ac:chgData name="Agamya R Jain" userId="5379bb5ac236f65f" providerId="Windows Live" clId="Web-{2AA95DDB-0C44-0AE5-5196-BAE0D5585E39}" dt="2026-08-26T08:57:35.052" v="40" actId="1076"/>
          <ac:spMkLst>
            <pc:docMk/>
            <pc:sldMk cId="0" sldId="258"/>
            <ac:spMk id="7" creationId="{00DF8E1E-841C-1A1F-F24E-080B3EB89006}"/>
          </ac:spMkLst>
        </pc:spChg>
        <pc:spChg chg="mod">
          <ac:chgData name="Agamya R Jain" userId="5379bb5ac236f65f" providerId="Windows Live" clId="Web-{2AA95DDB-0C44-0AE5-5196-BAE0D5585E39}" dt="2026-08-26T10:36:48.260" v="189" actId="20577"/>
          <ac:spMkLst>
            <pc:docMk/>
            <pc:sldMk cId="0" sldId="258"/>
            <ac:spMk id="137" creationId="{00000000-0000-0000-0000-000000000000}"/>
          </ac:spMkLst>
        </pc:spChg>
      </pc:sldChg>
      <pc:sldChg chg="modSp">
        <pc:chgData name="Agamya R Jain" userId="5379bb5ac236f65f" providerId="Windows Live" clId="Web-{2AA95DDB-0C44-0AE5-5196-BAE0D5585E39}" dt="2026-08-26T10:50:17.060" v="276" actId="20577"/>
        <pc:sldMkLst>
          <pc:docMk/>
          <pc:sldMk cId="0" sldId="259"/>
        </pc:sldMkLst>
        <pc:spChg chg="mod">
          <ac:chgData name="Agamya R Jain" userId="5379bb5ac236f65f" providerId="Windows Live" clId="Web-{2AA95DDB-0C44-0AE5-5196-BAE0D5585E39}" dt="2026-08-26T10:20:43.019" v="115" actId="1076"/>
          <ac:spMkLst>
            <pc:docMk/>
            <pc:sldMk cId="0" sldId="259"/>
            <ac:spMk id="12" creationId="{A10DC6EB-C902-DC20-C98E-9BD1381E5E06}"/>
          </ac:spMkLst>
        </pc:spChg>
        <pc:spChg chg="mod">
          <ac:chgData name="Agamya R Jain" userId="5379bb5ac236f65f" providerId="Windows Live" clId="Web-{2AA95DDB-0C44-0AE5-5196-BAE0D5585E39}" dt="2026-08-26T10:50:17.060" v="276" actId="20577"/>
          <ac:spMkLst>
            <pc:docMk/>
            <pc:sldMk cId="0" sldId="259"/>
            <ac:spMk id="13" creationId="{5FBAF08E-C409-A163-7FFE-B40ECC3F5064}"/>
          </ac:spMkLst>
        </pc:spChg>
        <pc:spChg chg="mod">
          <ac:chgData name="Agamya R Jain" userId="5379bb5ac236f65f" providerId="Windows Live" clId="Web-{2AA95DDB-0C44-0AE5-5196-BAE0D5585E39}" dt="2026-08-26T10:23:39.303" v="130" actId="20577"/>
          <ac:spMkLst>
            <pc:docMk/>
            <pc:sldMk cId="0" sldId="259"/>
            <ac:spMk id="189" creationId="{00000000-0000-0000-0000-000000000000}"/>
          </ac:spMkLst>
        </pc:spChg>
        <pc:spChg chg="mod">
          <ac:chgData name="Agamya R Jain" userId="5379bb5ac236f65f" providerId="Windows Live" clId="Web-{2AA95DDB-0C44-0AE5-5196-BAE0D5585E39}" dt="2026-08-26T10:20:12.096" v="100" actId="20577"/>
          <ac:spMkLst>
            <pc:docMk/>
            <pc:sldMk cId="0" sldId="259"/>
            <ac:spMk id="214" creationId="{00000000-0000-0000-0000-000000000000}"/>
          </ac:spMkLst>
        </pc:spChg>
        <pc:spChg chg="mod">
          <ac:chgData name="Agamya R Jain" userId="5379bb5ac236f65f" providerId="Windows Live" clId="Web-{2AA95DDB-0C44-0AE5-5196-BAE0D5585E39}" dt="2026-08-26T10:19:32.518" v="93" actId="20577"/>
          <ac:spMkLst>
            <pc:docMk/>
            <pc:sldMk cId="0" sldId="259"/>
            <ac:spMk id="215" creationId="{00000000-0000-0000-0000-000000000000}"/>
          </ac:spMkLst>
        </pc:spChg>
        <pc:spChg chg="mod">
          <ac:chgData name="Agamya R Jain" userId="5379bb5ac236f65f" providerId="Windows Live" clId="Web-{2AA95DDB-0C44-0AE5-5196-BAE0D5585E39}" dt="2026-08-26T10:21:01.488" v="118" actId="1076"/>
          <ac:spMkLst>
            <pc:docMk/>
            <pc:sldMk cId="0" sldId="259"/>
            <ac:spMk id="216" creationId="{00000000-0000-0000-0000-000000000000}"/>
          </ac:spMkLst>
        </pc:spChg>
        <pc:spChg chg="mod">
          <ac:chgData name="Agamya R Jain" userId="5379bb5ac236f65f" providerId="Windows Live" clId="Web-{2AA95DDB-0C44-0AE5-5196-BAE0D5585E39}" dt="2026-08-26T10:21:01.566" v="119" actId="1076"/>
          <ac:spMkLst>
            <pc:docMk/>
            <pc:sldMk cId="0" sldId="259"/>
            <ac:spMk id="217" creationId="{00000000-0000-0000-0000-000000000000}"/>
          </ac:spMkLst>
        </pc:spChg>
        <pc:graphicFrameChg chg="mod">
          <ac:chgData name="Agamya R Jain" userId="5379bb5ac236f65f" providerId="Windows Live" clId="Web-{2AA95DDB-0C44-0AE5-5196-BAE0D5585E39}" dt="2026-08-26T10:24:48.794" v="135" actId="14100"/>
          <ac:graphicFrameMkLst>
            <pc:docMk/>
            <pc:sldMk cId="0" sldId="259"/>
            <ac:graphicFrameMk id="7" creationId="{6ADBB799-3098-4D20-B3AD-1AD25B04C767}"/>
          </ac:graphicFrameMkLst>
        </pc:graphicFrameChg>
        <pc:graphicFrameChg chg="mod">
          <ac:chgData name="Agamya R Jain" userId="5379bb5ac236f65f" providerId="Windows Live" clId="Web-{2AA95DDB-0C44-0AE5-5196-BAE0D5585E39}" dt="2026-08-26T10:24:26.573" v="133" actId="14100"/>
          <ac:graphicFrameMkLst>
            <pc:docMk/>
            <pc:sldMk cId="0" sldId="259"/>
            <ac:graphicFrameMk id="9" creationId="{7E1400DA-B912-1E9E-C6A4-05B3CBE0B644}"/>
          </ac:graphicFrameMkLst>
        </pc:graphicFrameChg>
        <pc:picChg chg="mod">
          <ac:chgData name="Agamya R Jain" userId="5379bb5ac236f65f" providerId="Windows Live" clId="Web-{2AA95DDB-0C44-0AE5-5196-BAE0D5585E39}" dt="2026-08-26T10:20:31.831" v="109" actId="1076"/>
          <ac:picMkLst>
            <pc:docMk/>
            <pc:sldMk cId="0" sldId="259"/>
            <ac:picMk id="10" creationId="{B597AA4F-FA9E-E84C-5DDD-C93EADC0E97C}"/>
          </ac:picMkLst>
        </pc:picChg>
        <pc:picChg chg="mod">
          <ac:chgData name="Agamya R Jain" userId="5379bb5ac236f65f" providerId="Windows Live" clId="Web-{2AA95DDB-0C44-0AE5-5196-BAE0D5585E39}" dt="2026-08-26T10:20:38.534" v="114" actId="14100"/>
          <ac:picMkLst>
            <pc:docMk/>
            <pc:sldMk cId="0" sldId="259"/>
            <ac:picMk id="11" creationId="{52DC172A-3C43-EE99-3961-F90E621724DC}"/>
          </ac:picMkLst>
        </pc:picChg>
        <pc:picChg chg="mod">
          <ac:chgData name="Agamya R Jain" userId="5379bb5ac236f65f" providerId="Windows Live" clId="Web-{2AA95DDB-0C44-0AE5-5196-BAE0D5585E39}" dt="2026-08-26T10:20:50.441" v="116" actId="1076"/>
          <ac:picMkLst>
            <pc:docMk/>
            <pc:sldMk cId="0" sldId="259"/>
            <ac:picMk id="14" creationId="{B9140536-6ACD-E3D3-79B0-F85EE1BB12F8}"/>
          </ac:picMkLst>
        </pc:picChg>
        <pc:picChg chg="mod">
          <ac:chgData name="Agamya R Jain" userId="5379bb5ac236f65f" providerId="Windows Live" clId="Web-{2AA95DDB-0C44-0AE5-5196-BAE0D5585E39}" dt="2026-08-26T10:21:20.629" v="122" actId="14100"/>
          <ac:picMkLst>
            <pc:docMk/>
            <pc:sldMk cId="0" sldId="259"/>
            <ac:picMk id="181" creationId="{00000000-0000-0000-0000-000000000000}"/>
          </ac:picMkLst>
        </pc:picChg>
        <pc:picChg chg="mod">
          <ac:chgData name="Agamya R Jain" userId="5379bb5ac236f65f" providerId="Windows Live" clId="Web-{2AA95DDB-0C44-0AE5-5196-BAE0D5585E39}" dt="2026-08-26T10:21:07.675" v="121" actId="14100"/>
          <ac:picMkLst>
            <pc:docMk/>
            <pc:sldMk cId="0" sldId="259"/>
            <ac:picMk id="182" creationId="{00000000-0000-0000-0000-000000000000}"/>
          </ac:picMkLst>
        </pc:picChg>
        <pc:picChg chg="mod">
          <ac:chgData name="Agamya R Jain" userId="5379bb5ac236f65f" providerId="Windows Live" clId="Web-{2AA95DDB-0C44-0AE5-5196-BAE0D5585E39}" dt="2026-08-26T10:21:01.628" v="120" actId="1076"/>
          <ac:picMkLst>
            <pc:docMk/>
            <pc:sldMk cId="0" sldId="259"/>
            <ac:picMk id="224" creationId="{00000000-0000-0000-0000-000000000000}"/>
          </ac:picMkLst>
        </pc:picChg>
      </pc:sldChg>
      <pc:sldChg chg="modSp">
        <pc:chgData name="Agamya R Jain" userId="5379bb5ac236f65f" providerId="Windows Live" clId="Web-{2AA95DDB-0C44-0AE5-5196-BAE0D5585E39}" dt="2026-08-26T10:54:01.533" v="288" actId="1076"/>
        <pc:sldMkLst>
          <pc:docMk/>
          <pc:sldMk cId="0" sldId="261"/>
        </pc:sldMkLst>
        <pc:spChg chg="mod">
          <ac:chgData name="Agamya R Jain" userId="5379bb5ac236f65f" providerId="Windows Live" clId="Web-{2AA95DDB-0C44-0AE5-5196-BAE0D5585E39}" dt="2026-08-26T10:54:01.533" v="288" actId="1076"/>
          <ac:spMkLst>
            <pc:docMk/>
            <pc:sldMk cId="0" sldId="261"/>
            <ac:spMk id="266" creationId="{00000000-0000-0000-0000-000000000000}"/>
          </ac:spMkLst>
        </pc:spChg>
        <pc:spChg chg="mod">
          <ac:chgData name="Agamya R Jain" userId="5379bb5ac236f65f" providerId="Windows Live" clId="Web-{2AA95DDB-0C44-0AE5-5196-BAE0D5585E39}" dt="2026-08-26T10:37:31.292" v="190" actId="1076"/>
          <ac:spMkLst>
            <pc:docMk/>
            <pc:sldMk cId="0" sldId="261"/>
            <ac:spMk id="268" creationId="{00000000-0000-0000-0000-000000000000}"/>
          </ac:spMkLst>
        </pc:spChg>
      </pc:sldChg>
      <pc:sldChg chg="modSp">
        <pc:chgData name="Agamya R Jain" userId="5379bb5ac236f65f" providerId="Windows Live" clId="Web-{2AA95DDB-0C44-0AE5-5196-BAE0D5585E39}" dt="2026-08-26T10:39:30.871" v="202" actId="14100"/>
        <pc:sldMkLst>
          <pc:docMk/>
          <pc:sldMk cId="0" sldId="262"/>
        </pc:sldMkLst>
        <pc:spChg chg="mod">
          <ac:chgData name="Agamya R Jain" userId="5379bb5ac236f65f" providerId="Windows Live" clId="Web-{2AA95DDB-0C44-0AE5-5196-BAE0D5585E39}" dt="2026-08-26T10:38:03.433" v="191" actId="1076"/>
          <ac:spMkLst>
            <pc:docMk/>
            <pc:sldMk cId="0" sldId="262"/>
            <ac:spMk id="303" creationId="{00000000-0000-0000-0000-000000000000}"/>
          </ac:spMkLst>
        </pc:spChg>
        <pc:spChg chg="mod">
          <ac:chgData name="Agamya R Jain" userId="5379bb5ac236f65f" providerId="Windows Live" clId="Web-{2AA95DDB-0C44-0AE5-5196-BAE0D5585E39}" dt="2026-08-26T10:38:44.886" v="195" actId="1076"/>
          <ac:spMkLst>
            <pc:docMk/>
            <pc:sldMk cId="0" sldId="262"/>
            <ac:spMk id="306" creationId="{00000000-0000-0000-0000-000000000000}"/>
          </ac:spMkLst>
        </pc:spChg>
        <pc:graphicFrameChg chg="mod">
          <ac:chgData name="Agamya R Jain" userId="5379bb5ac236f65f" providerId="Windows Live" clId="Web-{2AA95DDB-0C44-0AE5-5196-BAE0D5585E39}" dt="2026-08-26T10:39:30.871" v="202" actId="14100"/>
          <ac:graphicFrameMkLst>
            <pc:docMk/>
            <pc:sldMk cId="0" sldId="262"/>
            <ac:graphicFrameMk id="2" creationId="{714B0C55-9290-F169-AC68-E7087898070E}"/>
          </ac:graphicFrameMkLst>
        </pc:graphicFrameChg>
        <pc:graphicFrameChg chg="mod">
          <ac:chgData name="Agamya R Jain" userId="5379bb5ac236f65f" providerId="Windows Live" clId="Web-{2AA95DDB-0C44-0AE5-5196-BAE0D5585E39}" dt="2026-08-26T10:39:22.278" v="201" actId="14100"/>
          <ac:graphicFrameMkLst>
            <pc:docMk/>
            <pc:sldMk cId="0" sldId="262"/>
            <ac:graphicFrameMk id="3" creationId="{56209810-D7FD-4FC7-8A24-41C581FD9C33}"/>
          </ac:graphicFrameMkLst>
        </pc:graphicFrameChg>
        <pc:picChg chg="mod">
          <ac:chgData name="Agamya R Jain" userId="5379bb5ac236f65f" providerId="Windows Live" clId="Web-{2AA95DDB-0C44-0AE5-5196-BAE0D5585E39}" dt="2026-08-26T10:38:09.167" v="192" actId="14100"/>
          <ac:picMkLst>
            <pc:docMk/>
            <pc:sldMk cId="0" sldId="262"/>
            <ac:picMk id="4" creationId="{841076DD-1F02-195C-2C8F-5D1810E7D139}"/>
          </ac:picMkLst>
        </pc:picChg>
        <pc:picChg chg="mod">
          <ac:chgData name="Agamya R Jain" userId="5379bb5ac236f65f" providerId="Windows Live" clId="Web-{2AA95DDB-0C44-0AE5-5196-BAE0D5585E39}" dt="2026-08-26T10:38:36.261" v="194" actId="14100"/>
          <ac:picMkLst>
            <pc:docMk/>
            <pc:sldMk cId="0" sldId="262"/>
            <ac:picMk id="10" creationId="{6027B7A5-5534-E0AB-083D-A5D77B0E478E}"/>
          </ac:picMkLst>
        </pc:picChg>
        <pc:picChg chg="mod">
          <ac:chgData name="Agamya R Jain" userId="5379bb5ac236f65f" providerId="Windows Live" clId="Web-{2AA95DDB-0C44-0AE5-5196-BAE0D5585E39}" dt="2026-08-26T10:38:20.292" v="193" actId="14100"/>
          <ac:picMkLst>
            <pc:docMk/>
            <pc:sldMk cId="0" sldId="262"/>
            <ac:picMk id="14" creationId="{9CC8E7F2-BC60-D838-F8F7-866F3BFB77A2}"/>
          </ac:picMkLst>
        </pc:picChg>
        <pc:picChg chg="mod">
          <ac:chgData name="Agamya R Jain" userId="5379bb5ac236f65f" providerId="Windows Live" clId="Web-{2AA95DDB-0C44-0AE5-5196-BAE0D5585E39}" dt="2026-08-26T10:38:45.027" v="196" actId="1076"/>
          <ac:picMkLst>
            <pc:docMk/>
            <pc:sldMk cId="0" sldId="262"/>
            <ac:picMk id="310" creationId="{00000000-0000-0000-0000-000000000000}"/>
          </ac:picMkLst>
        </pc:picChg>
      </pc:sldChg>
      <pc:sldChg chg="modSp">
        <pc:chgData name="Agamya R Jain" userId="5379bb5ac236f65f" providerId="Windows Live" clId="Web-{2AA95DDB-0C44-0AE5-5196-BAE0D5585E39}" dt="2026-08-26T10:43:59.421" v="262" actId="20577"/>
        <pc:sldMkLst>
          <pc:docMk/>
          <pc:sldMk cId="0" sldId="263"/>
        </pc:sldMkLst>
        <pc:spChg chg="mod">
          <ac:chgData name="Agamya R Jain" userId="5379bb5ac236f65f" providerId="Windows Live" clId="Web-{2AA95DDB-0C44-0AE5-5196-BAE0D5585E39}" dt="2026-08-26T10:43:59.421" v="262" actId="20577"/>
          <ac:spMkLst>
            <pc:docMk/>
            <pc:sldMk cId="0" sldId="263"/>
            <ac:spMk id="342" creationId="{00000000-0000-0000-0000-000000000000}"/>
          </ac:spMkLst>
        </pc:spChg>
        <pc:spChg chg="mod">
          <ac:chgData name="Agamya R Jain" userId="5379bb5ac236f65f" providerId="Windows Live" clId="Web-{2AA95DDB-0C44-0AE5-5196-BAE0D5585E39}" dt="2026-08-26T10:43:41.091" v="257" actId="20577"/>
          <ac:spMkLst>
            <pc:docMk/>
            <pc:sldMk cId="0" sldId="263"/>
            <ac:spMk id="347" creationId="{00000000-0000-0000-0000-000000000000}"/>
          </ac:spMkLst>
        </pc:spChg>
        <pc:spChg chg="mod">
          <ac:chgData name="Agamya R Jain" userId="5379bb5ac236f65f" providerId="Windows Live" clId="Web-{2AA95DDB-0C44-0AE5-5196-BAE0D5585E39}" dt="2026-08-26T10:43:22.590" v="251" actId="1076"/>
          <ac:spMkLst>
            <pc:docMk/>
            <pc:sldMk cId="0" sldId="263"/>
            <ac:spMk id="348" creationId="{00000000-0000-0000-0000-000000000000}"/>
          </ac:spMkLst>
        </pc:spChg>
        <pc:spChg chg="mod">
          <ac:chgData name="Agamya R Jain" userId="5379bb5ac236f65f" providerId="Windows Live" clId="Web-{2AA95DDB-0C44-0AE5-5196-BAE0D5585E39}" dt="2026-08-26T10:41:42.785" v="233" actId="14100"/>
          <ac:spMkLst>
            <pc:docMk/>
            <pc:sldMk cId="0" sldId="263"/>
            <ac:spMk id="349" creationId="{00000000-0000-0000-0000-000000000000}"/>
          </ac:spMkLst>
        </pc:spChg>
        <pc:spChg chg="mod">
          <ac:chgData name="Agamya R Jain" userId="5379bb5ac236f65f" providerId="Windows Live" clId="Web-{2AA95DDB-0C44-0AE5-5196-BAE0D5585E39}" dt="2026-08-26T10:43:17.839" v="250" actId="1076"/>
          <ac:spMkLst>
            <pc:docMk/>
            <pc:sldMk cId="0" sldId="263"/>
            <ac:spMk id="350" creationId="{00000000-0000-0000-0000-000000000000}"/>
          </ac:spMkLst>
        </pc:spChg>
        <pc:spChg chg="mod">
          <ac:chgData name="Agamya R Jain" userId="5379bb5ac236f65f" providerId="Windows Live" clId="Web-{2AA95DDB-0C44-0AE5-5196-BAE0D5585E39}" dt="2026-08-26T10:41:58.302" v="234" actId="1076"/>
          <ac:spMkLst>
            <pc:docMk/>
            <pc:sldMk cId="0" sldId="263"/>
            <ac:spMk id="351" creationId="{00000000-0000-0000-0000-000000000000}"/>
          </ac:spMkLst>
        </pc:spChg>
        <pc:spChg chg="mod">
          <ac:chgData name="Agamya R Jain" userId="5379bb5ac236f65f" providerId="Windows Live" clId="Web-{2AA95DDB-0C44-0AE5-5196-BAE0D5585E39}" dt="2026-08-26T10:43:10.823" v="249" actId="1076"/>
          <ac:spMkLst>
            <pc:docMk/>
            <pc:sldMk cId="0" sldId="263"/>
            <ac:spMk id="352" creationId="{00000000-0000-0000-0000-000000000000}"/>
          </ac:spMkLst>
        </pc:spChg>
        <pc:spChg chg="mod">
          <ac:chgData name="Agamya R Jain" userId="5379bb5ac236f65f" providerId="Windows Live" clId="Web-{2AA95DDB-0C44-0AE5-5196-BAE0D5585E39}" dt="2026-08-26T10:42:31.398" v="241" actId="1076"/>
          <ac:spMkLst>
            <pc:docMk/>
            <pc:sldMk cId="0" sldId="263"/>
            <ac:spMk id="353" creationId="{00000000-0000-0000-0000-000000000000}"/>
          </ac:spMkLst>
        </pc:spChg>
        <pc:picChg chg="mod">
          <ac:chgData name="Agamya R Jain" userId="5379bb5ac236f65f" providerId="Windows Live" clId="Web-{2AA95DDB-0C44-0AE5-5196-BAE0D5585E39}" dt="2026-08-26T10:42:49.322" v="244" actId="14100"/>
          <ac:picMkLst>
            <pc:docMk/>
            <pc:sldMk cId="0" sldId="263"/>
            <ac:picMk id="337" creationId="{00000000-0000-0000-0000-000000000000}"/>
          </ac:picMkLst>
        </pc:picChg>
        <pc:picChg chg="mod">
          <ac:chgData name="Agamya R Jain" userId="5379bb5ac236f65f" providerId="Windows Live" clId="Web-{2AA95DDB-0C44-0AE5-5196-BAE0D5585E39}" dt="2026-08-26T10:42:49.416" v="245" actId="14100"/>
          <ac:picMkLst>
            <pc:docMk/>
            <pc:sldMk cId="0" sldId="263"/>
            <ac:picMk id="338" creationId="{00000000-0000-0000-0000-000000000000}"/>
          </ac:picMkLst>
        </pc:picChg>
        <pc:picChg chg="mod">
          <ac:chgData name="Agamya R Jain" userId="5379bb5ac236f65f" providerId="Windows Live" clId="Web-{2AA95DDB-0C44-0AE5-5196-BAE0D5585E39}" dt="2026-08-26T10:43:03.776" v="248" actId="14100"/>
          <ac:picMkLst>
            <pc:docMk/>
            <pc:sldMk cId="0" sldId="263"/>
            <ac:picMk id="339" creationId="{00000000-0000-0000-0000-000000000000}"/>
          </ac:picMkLst>
        </pc:picChg>
        <pc:picChg chg="mod">
          <ac:chgData name="Agamya R Jain" userId="5379bb5ac236f65f" providerId="Windows Live" clId="Web-{2AA95DDB-0C44-0AE5-5196-BAE0D5585E39}" dt="2026-08-26T10:40:43.201" v="221" actId="1076"/>
          <ac:picMkLst>
            <pc:docMk/>
            <pc:sldMk cId="0" sldId="263"/>
            <ac:picMk id="366" creationId="{00000000-0000-0000-0000-000000000000}"/>
          </ac:picMkLst>
        </pc:picChg>
        <pc:picChg chg="mod">
          <ac:chgData name="Agamya R Jain" userId="5379bb5ac236f65f" providerId="Windows Live" clId="Web-{2AA95DDB-0C44-0AE5-5196-BAE0D5585E39}" dt="2026-08-26T10:43:29.278" v="253" actId="1076"/>
          <ac:picMkLst>
            <pc:docMk/>
            <pc:sldMk cId="0" sldId="263"/>
            <ac:picMk id="367" creationId="{00000000-0000-0000-0000-000000000000}"/>
          </ac:picMkLst>
        </pc:picChg>
        <pc:picChg chg="mod">
          <ac:chgData name="Agamya R Jain" userId="5379bb5ac236f65f" providerId="Windows Live" clId="Web-{2AA95DDB-0C44-0AE5-5196-BAE0D5585E39}" dt="2026-08-26T10:42:40.368" v="243" actId="1076"/>
          <ac:picMkLst>
            <pc:docMk/>
            <pc:sldMk cId="0" sldId="263"/>
            <ac:picMk id="368" creationId="{00000000-0000-0000-0000-000000000000}"/>
          </ac:picMkLst>
        </pc:picChg>
      </pc:sldChg>
      <pc:sldChg chg="modSp">
        <pc:chgData name="Agamya R Jain" userId="5379bb5ac236f65f" providerId="Windows Live" clId="Web-{2AA95DDB-0C44-0AE5-5196-BAE0D5585E39}" dt="2026-08-26T10:45:10.925" v="269" actId="1076"/>
        <pc:sldMkLst>
          <pc:docMk/>
          <pc:sldMk cId="0" sldId="264"/>
        </pc:sldMkLst>
        <pc:spChg chg="mod">
          <ac:chgData name="Agamya R Jain" userId="5379bb5ac236f65f" providerId="Windows Live" clId="Web-{2AA95DDB-0C44-0AE5-5196-BAE0D5585E39}" dt="2026-08-26T10:45:04.659" v="266" actId="1076"/>
          <ac:spMkLst>
            <pc:docMk/>
            <pc:sldMk cId="0" sldId="264"/>
            <ac:spMk id="380" creationId="{00000000-0000-0000-0000-000000000000}"/>
          </ac:spMkLst>
        </pc:spChg>
        <pc:spChg chg="mod">
          <ac:chgData name="Agamya R Jain" userId="5379bb5ac236f65f" providerId="Windows Live" clId="Web-{2AA95DDB-0C44-0AE5-5196-BAE0D5585E39}" dt="2026-08-26T10:44:53.174" v="265" actId="1076"/>
          <ac:spMkLst>
            <pc:docMk/>
            <pc:sldMk cId="0" sldId="264"/>
            <ac:spMk id="381" creationId="{00000000-0000-0000-0000-000000000000}"/>
          </ac:spMkLst>
        </pc:spChg>
        <pc:graphicFrameChg chg="mod">
          <ac:chgData name="Agamya R Jain" userId="5379bb5ac236f65f" providerId="Windows Live" clId="Web-{2AA95DDB-0C44-0AE5-5196-BAE0D5585E39}" dt="2026-08-26T10:44:14.687" v="263" actId="1076"/>
          <ac:graphicFrameMkLst>
            <pc:docMk/>
            <pc:sldMk cId="0" sldId="264"/>
            <ac:graphicFrameMk id="2" creationId="{37B9B77F-88B3-1727-987B-05C364A3F580}"/>
          </ac:graphicFrameMkLst>
        </pc:graphicFrameChg>
        <pc:picChg chg="mod">
          <ac:chgData name="Agamya R Jain" userId="5379bb5ac236f65f" providerId="Windows Live" clId="Web-{2AA95DDB-0C44-0AE5-5196-BAE0D5585E39}" dt="2026-08-26T10:45:10.925" v="269" actId="1076"/>
          <ac:picMkLst>
            <pc:docMk/>
            <pc:sldMk cId="0" sldId="264"/>
            <ac:picMk id="23" creationId="{1AF069BE-A0B4-33AA-BDBB-73086C0BE8E1}"/>
          </ac:picMkLst>
        </pc:picChg>
        <pc:picChg chg="mod">
          <ac:chgData name="Agamya R Jain" userId="5379bb5ac236f65f" providerId="Windows Live" clId="Web-{2AA95DDB-0C44-0AE5-5196-BAE0D5585E39}" dt="2026-08-26T10:45:04.737" v="267" actId="1076"/>
          <ac:picMkLst>
            <pc:docMk/>
            <pc:sldMk cId="0" sldId="264"/>
            <ac:picMk id="384" creationId="{00000000-0000-0000-0000-000000000000}"/>
          </ac:picMkLst>
        </pc:picChg>
      </pc:sldChg>
      <pc:sldChg chg="delSp modSp">
        <pc:chgData name="Agamya R Jain" userId="5379bb5ac236f65f" providerId="Windows Live" clId="Web-{2AA95DDB-0C44-0AE5-5196-BAE0D5585E39}" dt="2026-08-26T10:27:56.776" v="174" actId="20577"/>
        <pc:sldMkLst>
          <pc:docMk/>
          <pc:sldMk cId="0" sldId="265"/>
        </pc:sldMkLst>
        <pc:spChg chg="mod">
          <ac:chgData name="Agamya R Jain" userId="5379bb5ac236f65f" providerId="Windows Live" clId="Web-{2AA95DDB-0C44-0AE5-5196-BAE0D5585E39}" dt="2026-08-26T09:04:10.924" v="70" actId="20577"/>
          <ac:spMkLst>
            <pc:docMk/>
            <pc:sldMk cId="0" sldId="265"/>
            <ac:spMk id="408" creationId="{00000000-0000-0000-0000-000000000000}"/>
          </ac:spMkLst>
        </pc:spChg>
        <pc:spChg chg="mod">
          <ac:chgData name="Agamya R Jain" userId="5379bb5ac236f65f" providerId="Windows Live" clId="Web-{2AA95DDB-0C44-0AE5-5196-BAE0D5585E39}" dt="2026-08-26T09:04:44.410" v="78" actId="1076"/>
          <ac:spMkLst>
            <pc:docMk/>
            <pc:sldMk cId="0" sldId="265"/>
            <ac:spMk id="409" creationId="{00000000-0000-0000-0000-000000000000}"/>
          </ac:spMkLst>
        </pc:spChg>
        <pc:spChg chg="mod">
          <ac:chgData name="Agamya R Jain" userId="5379bb5ac236f65f" providerId="Windows Live" clId="Web-{2AA95DDB-0C44-0AE5-5196-BAE0D5585E39}" dt="2026-08-26T09:03:18.360" v="64" actId="1076"/>
          <ac:spMkLst>
            <pc:docMk/>
            <pc:sldMk cId="0" sldId="265"/>
            <ac:spMk id="412" creationId="{00000000-0000-0000-0000-000000000000}"/>
          </ac:spMkLst>
        </pc:spChg>
        <pc:spChg chg="mod">
          <ac:chgData name="Agamya R Jain" userId="5379bb5ac236f65f" providerId="Windows Live" clId="Web-{2AA95DDB-0C44-0AE5-5196-BAE0D5585E39}" dt="2026-08-26T10:27:56.776" v="174" actId="20577"/>
          <ac:spMkLst>
            <pc:docMk/>
            <pc:sldMk cId="0" sldId="265"/>
            <ac:spMk id="422" creationId="{00000000-0000-0000-0000-000000000000}"/>
          </ac:spMkLst>
        </pc:spChg>
        <pc:picChg chg="mod">
          <ac:chgData name="Agamya R Jain" userId="5379bb5ac236f65f" providerId="Windows Live" clId="Web-{2AA95DDB-0C44-0AE5-5196-BAE0D5585E39}" dt="2026-08-26T09:02:25.685" v="44" actId="14100"/>
          <ac:picMkLst>
            <pc:docMk/>
            <pc:sldMk cId="0" sldId="265"/>
            <ac:picMk id="398" creationId="{00000000-0000-0000-0000-000000000000}"/>
          </ac:picMkLst>
        </pc:picChg>
        <pc:picChg chg="mod">
          <ac:chgData name="Agamya R Jain" userId="5379bb5ac236f65f" providerId="Windows Live" clId="Web-{2AA95DDB-0C44-0AE5-5196-BAE0D5585E39}" dt="2026-08-26T09:02:25.873" v="45" actId="14100"/>
          <ac:picMkLst>
            <pc:docMk/>
            <pc:sldMk cId="0" sldId="265"/>
            <ac:picMk id="399" creationId="{00000000-0000-0000-0000-000000000000}"/>
          </ac:picMkLst>
        </pc:picChg>
      </pc:sldChg>
      <pc:sldChg chg="addSp delSp modSp">
        <pc:chgData name="Agamya R Jain" userId="5379bb5ac236f65f" providerId="Windows Live" clId="Web-{2AA95DDB-0C44-0AE5-5196-BAE0D5585E39}" dt="2026-08-26T10:53:13.876" v="283" actId="20577"/>
        <pc:sldMkLst>
          <pc:docMk/>
          <pc:sldMk cId="298958995" sldId="269"/>
        </pc:sldMkLst>
        <pc:spChg chg="mod">
          <ac:chgData name="Agamya R Jain" userId="5379bb5ac236f65f" providerId="Windows Live" clId="Web-{2AA95DDB-0C44-0AE5-5196-BAE0D5585E39}" dt="2026-08-26T10:26:25.661" v="153" actId="1076"/>
          <ac:spMkLst>
            <pc:docMk/>
            <pc:sldMk cId="298958995" sldId="269"/>
            <ac:spMk id="12" creationId="{32568B9A-B66C-8715-2AA8-B7A6A719E66D}"/>
          </ac:spMkLst>
        </pc:spChg>
        <pc:spChg chg="add del mod">
          <ac:chgData name="Agamya R Jain" userId="5379bb5ac236f65f" providerId="Windows Live" clId="Web-{2AA95DDB-0C44-0AE5-5196-BAE0D5585E39}" dt="2026-08-26T10:26:35.255" v="158" actId="20577"/>
          <ac:spMkLst>
            <pc:docMk/>
            <pc:sldMk cId="298958995" sldId="269"/>
            <ac:spMk id="13" creationId="{904BE511-4F0C-155E-12F1-B197C1B55E0D}"/>
          </ac:spMkLst>
        </pc:spChg>
        <pc:spChg chg="mod">
          <ac:chgData name="Agamya R Jain" userId="5379bb5ac236f65f" providerId="Windows Live" clId="Web-{2AA95DDB-0C44-0AE5-5196-BAE0D5585E39}" dt="2026-08-26T10:25:29.188" v="142"/>
          <ac:spMkLst>
            <pc:docMk/>
            <pc:sldMk cId="298958995" sldId="269"/>
            <ac:spMk id="214" creationId="{54C37268-1B98-D6B3-2917-9BB17100FB3C}"/>
          </ac:spMkLst>
        </pc:spChg>
        <pc:spChg chg="mod">
          <ac:chgData name="Agamya R Jain" userId="5379bb5ac236f65f" providerId="Windows Live" clId="Web-{2AA95DDB-0C44-0AE5-5196-BAE0D5585E39}" dt="2026-08-26T10:25:29.204" v="143"/>
          <ac:spMkLst>
            <pc:docMk/>
            <pc:sldMk cId="298958995" sldId="269"/>
            <ac:spMk id="215" creationId="{66B2A4C7-BF9C-F141-F6F7-D4E62FF4C10B}"/>
          </ac:spMkLst>
        </pc:spChg>
        <pc:spChg chg="mod">
          <ac:chgData name="Agamya R Jain" userId="5379bb5ac236f65f" providerId="Windows Live" clId="Web-{2AA95DDB-0C44-0AE5-5196-BAE0D5585E39}" dt="2026-08-26T10:27:02.851" v="167" actId="1076"/>
          <ac:spMkLst>
            <pc:docMk/>
            <pc:sldMk cId="298958995" sldId="269"/>
            <ac:spMk id="216" creationId="{EAC467BC-BD6D-5525-3F61-AB49B4D7F237}"/>
          </ac:spMkLst>
        </pc:spChg>
        <pc:spChg chg="mod">
          <ac:chgData name="Agamya R Jain" userId="5379bb5ac236f65f" providerId="Windows Live" clId="Web-{2AA95DDB-0C44-0AE5-5196-BAE0D5585E39}" dt="2026-08-26T10:53:13.876" v="283" actId="20577"/>
          <ac:spMkLst>
            <pc:docMk/>
            <pc:sldMk cId="298958995" sldId="269"/>
            <ac:spMk id="217" creationId="{7BFC07BF-06E3-4AE7-B0BD-972E65AFD498}"/>
          </ac:spMkLst>
        </pc:spChg>
        <pc:picChg chg="mod">
          <ac:chgData name="Agamya R Jain" userId="5379bb5ac236f65f" providerId="Windows Live" clId="Web-{2AA95DDB-0C44-0AE5-5196-BAE0D5585E39}" dt="2026-08-26T10:27:02.773" v="166" actId="1076"/>
          <ac:picMkLst>
            <pc:docMk/>
            <pc:sldMk cId="298958995" sldId="269"/>
            <ac:picMk id="182" creationId="{CA1B99FE-76C9-43D8-02B7-981DB97DE8C8}"/>
          </ac:picMkLst>
        </pc:picChg>
      </pc:sldChg>
    </pc:docChg>
  </pc:docChgLst>
  <pc:docChgLst>
    <pc:chgData name="Agamya R Jain" userId="5379bb5ac236f65f" providerId="Windows Live" clId="Web-{F7FC6A15-3E99-2E87-6897-336687A77A90}"/>
    <pc:docChg chg="modSld">
      <pc:chgData name="Agamya R Jain" userId="5379bb5ac236f65f" providerId="Windows Live" clId="Web-{F7FC6A15-3E99-2E87-6897-336687A77A90}" dt="2026-08-27T07:11:29.222" v="1" actId="20577"/>
      <pc:docMkLst>
        <pc:docMk/>
      </pc:docMkLst>
      <pc:sldChg chg="modSp">
        <pc:chgData name="Agamya R Jain" userId="5379bb5ac236f65f" providerId="Windows Live" clId="Web-{F7FC6A15-3E99-2E87-6897-336687A77A90}" dt="2026-08-27T07:11:29.222" v="1" actId="20577"/>
        <pc:sldMkLst>
          <pc:docMk/>
          <pc:sldMk cId="0" sldId="257"/>
        </pc:sldMkLst>
        <pc:spChg chg="mod">
          <ac:chgData name="Agamya R Jain" userId="5379bb5ac236f65f" providerId="Windows Live" clId="Web-{F7FC6A15-3E99-2E87-6897-336687A77A90}" dt="2026-08-27T07:11:29.222" v="1" actId="20577"/>
          <ac:spMkLst>
            <pc:docMk/>
            <pc:sldMk cId="0" sldId="257"/>
            <ac:spMk id="105" creationId="{00000000-0000-0000-0000-000000000000}"/>
          </ac:spMkLst>
        </pc:spChg>
      </pc:sldChg>
    </pc:docChg>
  </pc:docChgLst>
</pc:chgInfo>
</file>

<file path=ppt/charts/_rels/chart1.xml.rels><?xml version="1.0" encoding="UTF-8" standalone="yes"?>
<Relationships xmlns="http://schemas.openxmlformats.org/package/2006/relationships"><Relationship Id="rId3" Type="http://schemas.openxmlformats.org/officeDocument/2006/relationships/oleObject" Target="https://d.docs.live.net/5379BB5AC236F65F/Book%206.xlsx" TargetMode="External"/><Relationship Id="rId2" Type="http://schemas.microsoft.com/office/2011/relationships/chartColorStyle" Target="colors1.xml"/><Relationship Id="rId1" Type="http://schemas.microsoft.com/office/2011/relationships/chartStyle" Target="style1.xml"/></Relationships>
</file>

<file path=ppt/charts/_rels/chart2.xml.rels><?xml version="1.0" encoding="UTF-8" standalone="yes"?>
<Relationships xmlns="http://schemas.openxmlformats.org/package/2006/relationships"><Relationship Id="rId3" Type="http://schemas.openxmlformats.org/officeDocument/2006/relationships/oleObject" Target="https://d.docs.live.net/5379BB5AC236F65F/Book%206.xlsx" TargetMode="External"/><Relationship Id="rId2" Type="http://schemas.microsoft.com/office/2011/relationships/chartColorStyle" Target="colors2.xml"/><Relationship Id="rId1" Type="http://schemas.microsoft.com/office/2011/relationships/chartStyle" Target="style2.xml"/></Relationships>
</file>

<file path=ppt/charts/_rels/chart3.xml.rels><?xml version="1.0" encoding="UTF-8" standalone="yes"?>
<Relationships xmlns="http://schemas.openxmlformats.org/package/2006/relationships"><Relationship Id="rId3" Type="http://schemas.openxmlformats.org/officeDocument/2006/relationships/oleObject" Target="https://d.docs.live.net/5379BB5AC236F65F/Book%206.xlsx" TargetMode="External"/><Relationship Id="rId2" Type="http://schemas.microsoft.com/office/2011/relationships/chartColorStyle" Target="colors3.xml"/><Relationship Id="rId1" Type="http://schemas.microsoft.com/office/2011/relationships/chartStyle" Target="style3.xml"/></Relationships>
</file>

<file path=ppt/charts/_rels/chart4.xml.rels><?xml version="1.0" encoding="UTF-8" standalone="yes"?>
<Relationships xmlns="http://schemas.openxmlformats.org/package/2006/relationships"><Relationship Id="rId3" Type="http://schemas.openxmlformats.org/officeDocument/2006/relationships/oleObject" Target="https://d.docs.live.net/5379BB5AC236F65F/Book%206.xlsx" TargetMode="External"/><Relationship Id="rId2" Type="http://schemas.microsoft.com/office/2011/relationships/chartColorStyle" Target="colors4.xml"/><Relationship Id="rId1" Type="http://schemas.microsoft.com/office/2011/relationships/chartStyle" Target="style4.xml"/></Relationships>
</file>

<file path=ppt/charts/_rels/chart5.xml.rels><?xml version="1.0" encoding="UTF-8" standalone="yes"?>
<Relationships xmlns="http://schemas.openxmlformats.org/package/2006/relationships"><Relationship Id="rId3" Type="http://schemas.openxmlformats.org/officeDocument/2006/relationships/oleObject" Target="https://d.docs.live.net/5379BB5AC236F65F/Book%206.xlsx" TargetMode="External"/><Relationship Id="rId2" Type="http://schemas.microsoft.com/office/2011/relationships/chartColorStyle" Target="colors5.xml"/><Relationship Id="rId1" Type="http://schemas.microsoft.com/office/2011/relationships/chartStyle" Target="style5.xml"/></Relationships>
</file>

<file path=ppt/charts/_rels/chart6.xml.rels><?xml version="1.0" encoding="UTF-8" standalone="yes"?>
<Relationships xmlns="http://schemas.openxmlformats.org/package/2006/relationships"><Relationship Id="rId3" Type="http://schemas.openxmlformats.org/officeDocument/2006/relationships/oleObject" Target="https://d.docs.live.net/5379BB5AC236F65F/Book%206.xlsx" TargetMode="External"/><Relationship Id="rId2" Type="http://schemas.microsoft.com/office/2011/relationships/chartColorStyle" Target="colors6.xml"/><Relationship Id="rId1" Type="http://schemas.microsoft.com/office/2011/relationships/chartStyle" Target="style6.xml"/></Relationships>
</file>

<file path=ppt/charts/_rels/chart7.xml.rels><?xml version="1.0" encoding="UTF-8" standalone="yes"?>
<Relationships xmlns="http://schemas.openxmlformats.org/package/2006/relationships"><Relationship Id="rId3" Type="http://schemas.openxmlformats.org/officeDocument/2006/relationships/oleObject" Target="https://d.docs.live.net/5379BB5AC236F65F/Book%206.xlsx" TargetMode="External"/><Relationship Id="rId2" Type="http://schemas.microsoft.com/office/2011/relationships/chartColorStyle" Target="colors7.xml"/><Relationship Id="rId1" Type="http://schemas.microsoft.com/office/2011/relationships/chartStyle" Target="style7.xml"/></Relationships>
</file>

<file path=ppt/charts/_rels/chart8.xml.rels><?xml version="1.0" encoding="UTF-8" standalone="yes"?>
<Relationships xmlns="http://schemas.openxmlformats.org/package/2006/relationships"><Relationship Id="rId3" Type="http://schemas.openxmlformats.org/officeDocument/2006/relationships/oleObject" Target="https://d.docs.live.net/5379BB5AC236F65F/Book%206.xlsx" TargetMode="External"/><Relationship Id="rId2" Type="http://schemas.microsoft.com/office/2011/relationships/chartColorStyle" Target="colors8.xml"/><Relationship Id="rId1" Type="http://schemas.microsoft.com/office/2011/relationships/chartStyle" Target="style8.xml"/></Relationships>
</file>

<file path=ppt/charts/_rels/chart9.xml.rels><?xml version="1.0" encoding="UTF-8" standalone="yes"?>
<Relationships xmlns="http://schemas.openxmlformats.org/package/2006/relationships"><Relationship Id="rId3" Type="http://schemas.openxmlformats.org/officeDocument/2006/relationships/oleObject" Target="https://d.docs.live.net/5379BB5AC236F65F/Book%206.xlsx" TargetMode="External"/><Relationship Id="rId2" Type="http://schemas.microsoft.com/office/2011/relationships/chartColorStyle" Target="colors9.xml"/><Relationship Id="rId1" Type="http://schemas.microsoft.com/office/2011/relationships/chartStyle" Target="style9.xml"/></Relationships>
</file>

<file path=ppt/charts/_rels/chart10.xml.rels><?xml version="1.0" encoding="UTF-8" standalone="yes"?>
<Relationships xmlns="http://schemas.openxmlformats.org/package/2006/relationships"><Relationship Id="rId3" Type="http://schemas.openxmlformats.org/officeDocument/2006/relationships/oleObject" Target="https://d.docs.live.net/5379BB5AC236F65F/Book%206.xlsx" TargetMode="External"/><Relationship Id="rId2" Type="http://schemas.microsoft.com/office/2011/relationships/chartColorStyle" Target="colors10.xml"/><Relationship Id="rId1" Type="http://schemas.microsoft.com/office/2011/relationships/chartStyle" Target="style10.xml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autoTitleDeleted val="1"/>
    <c:plotArea>
      <c:layout/>
      <c:barChart>
        <c:barDir val="bar"/>
        <c:grouping val="stacked"/>
        <c:varyColors val="0"/>
        <c:ser>
          <c:idx val="0"/>
          <c:order val="0"/>
          <c:tx>
            <c:strRef>
              <c:f>Sheet1!$B$8</c:f>
              <c:strCache>
                <c:ptCount val="1"/>
                <c:pt idx="0">
                  <c:v>Profit Margin %</c:v>
                </c:pt>
              </c:strCache>
            </c:strRef>
          </c:tx>
          <c:spPr>
            <a:solidFill>
              <a:schemeClr val="accent1"/>
            </a:solidFill>
            <a:ln>
              <a:noFill/>
            </a:ln>
            <a:effectLst/>
          </c:spPr>
          <c:invertIfNegative val="0"/>
          <c:dPt>
            <c:idx val="0"/>
            <c:invertIfNegative val="0"/>
            <c:bubble3D val="0"/>
            <c:spPr>
              <a:solidFill>
                <a:srgbClr val="F59E0B"/>
              </a:solidFill>
              <a:ln>
                <a:noFill/>
              </a:ln>
              <a:effectLst/>
            </c:spPr>
            <c:extLst>
              <c:ext xmlns:c16="http://schemas.microsoft.com/office/drawing/2014/chart" uri="{C3380CC4-5D6E-409C-BE32-E72D297353CC}">
                <c16:uniqueId val="{00000001-070E-41A2-9B54-3DB9E2260264}"/>
              </c:ext>
            </c:extLst>
          </c:dPt>
          <c:dPt>
            <c:idx val="2"/>
            <c:invertIfNegative val="0"/>
            <c:bubble3D val="0"/>
            <c:spPr>
              <a:solidFill>
                <a:srgbClr val="10B981"/>
              </a:solidFill>
              <a:ln>
                <a:noFill/>
              </a:ln>
              <a:effectLst/>
            </c:spPr>
            <c:extLst>
              <c:ext xmlns:c16="http://schemas.microsoft.com/office/drawing/2014/chart" uri="{C3380CC4-5D6E-409C-BE32-E72D297353CC}">
                <c16:uniqueId val="{00000003-070E-41A2-9B54-3DB9E2260264}"/>
              </c:ext>
            </c:extLst>
          </c:dPt>
          <c:dLbls>
            <c:dLbl>
              <c:idx val="0"/>
              <c:tx>
                <c:rich>
                  <a:bodyPr/>
                  <a:lstStyle/>
                  <a:p>
                    <a:r>
                      <a:rPr lang="en-US"/>
                      <a:t>58.72% Margin</a:t>
                    </a:r>
                  </a:p>
                </c:rich>
              </c:tx>
              <c:dLblPos val="inEnd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showDataLabelsRange val="0"/>
                </c:ext>
                <c:ext xmlns:c16="http://schemas.microsoft.com/office/drawing/2014/chart" uri="{C3380CC4-5D6E-409C-BE32-E72D297353CC}">
                  <c16:uniqueId val="{00000001-070E-41A2-9B54-3DB9E2260264}"/>
                </c:ext>
              </c:extLst>
            </c:dLbl>
            <c:dLbl>
              <c:idx val="1"/>
              <c:tx>
                <c:rich>
                  <a:bodyPr/>
                  <a:lstStyle/>
                  <a:p>
                    <a:r>
                      <a:rPr lang="en-US"/>
                      <a:t>73.39% Margin</a:t>
                    </a:r>
                  </a:p>
                </c:rich>
              </c:tx>
              <c:dLblPos val="inEnd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showDataLabelsRange val="0"/>
                </c:ext>
                <c:ext xmlns:c16="http://schemas.microsoft.com/office/drawing/2014/chart" uri="{C3380CC4-5D6E-409C-BE32-E72D297353CC}">
                  <c16:uniqueId val="{00000004-070E-41A2-9B54-3DB9E2260264}"/>
                </c:ext>
              </c:extLst>
            </c:dLbl>
            <c:dLbl>
              <c:idx val="2"/>
              <c:tx>
                <c:rich>
                  <a:bodyPr/>
                  <a:lstStyle/>
                  <a:p>
                    <a:r>
                      <a:rPr lang="en-US"/>
                      <a:t>79.46% Margin</a:t>
                    </a:r>
                  </a:p>
                </c:rich>
              </c:tx>
              <c:dLblPos val="inEnd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showDataLabelsRange val="0"/>
                </c:ext>
                <c:ext xmlns:c16="http://schemas.microsoft.com/office/drawing/2014/chart" uri="{C3380CC4-5D6E-409C-BE32-E72D297353CC}">
                  <c16:uniqueId val="{00000003-070E-41A2-9B54-3DB9E2260264}"/>
                </c:ext>
              </c:extLst>
            </c:dLbl>
            <c:spPr>
              <a:noFill/>
              <a:ln>
                <a:noFill/>
              </a:ln>
              <a:effectLst/>
            </c:spPr>
            <c:txPr>
              <a:bodyPr rot="0" spcFirstLastPara="1" vertOverflow="ellipsis" vert="horz" wrap="square" lIns="38100" tIns="19050" rIns="38100" bIns="19050" anchor="ctr" anchorCtr="1">
                <a:spAutoFit/>
              </a:bodyPr>
              <a:lstStyle/>
              <a:p>
                <a:pPr>
                  <a:defRPr sz="900" b="1" i="0" u="none" strike="noStrike" kern="1200" baseline="0">
                    <a:solidFill>
                      <a:srgbClr val="FFFFFF"/>
                    </a:solidFill>
                    <a:latin typeface="Aptos Narrow"/>
                    <a:ea typeface="Aptos Narrow"/>
                    <a:cs typeface="Aptos Narrow"/>
                  </a:defRPr>
                </a:pPr>
                <a:endParaRPr lang="en-US"/>
              </a:p>
            </c:txPr>
            <c:dLblPos val="inEnd"/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1"/>
                <c15:leaderLines>
                  <c:spPr>
                    <a:ln w="9525" cap="flat" cmpd="sng" algn="ctr">
                      <a:solidFill>
                        <a:schemeClr val="tx1">
                          <a:lumMod val="35000"/>
                          <a:lumOff val="65000"/>
                        </a:schemeClr>
                      </a:solidFill>
                      <a:round/>
                    </a:ln>
                    <a:effectLst/>
                  </c:spPr>
                </c15:leaderLines>
              </c:ext>
            </c:extLst>
          </c:dLbls>
          <c:cat>
            <c:strRef>
              <c:f>Sheet1!$A$9:$A$11</c:f>
              <c:strCache>
                <c:ptCount val="3"/>
                <c:pt idx="0">
                  <c:v>Clothing</c:v>
                </c:pt>
                <c:pt idx="1">
                  <c:v>Shoes</c:v>
                </c:pt>
                <c:pt idx="2">
                  <c:v>Accessories</c:v>
                </c:pt>
              </c:strCache>
            </c:strRef>
          </c:cat>
          <c:val>
            <c:numRef>
              <c:f>Sheet1!$B$9:$B$11</c:f>
              <c:numCache>
                <c:formatCode>0.00%</c:formatCode>
                <c:ptCount val="3"/>
                <c:pt idx="0">
                  <c:v>0.58720000000000006</c:v>
                </c:pt>
                <c:pt idx="1">
                  <c:v>0.7339</c:v>
                </c:pt>
                <c:pt idx="2">
                  <c:v>0.79459999999999997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5-070E-41A2-9B54-3DB9E2260264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gapWidth val="40"/>
        <c:overlap val="100"/>
        <c:axId val="802489864"/>
        <c:axId val="802496520"/>
      </c:barChart>
      <c:catAx>
        <c:axId val="802489864"/>
        <c:scaling>
          <c:orientation val="minMax"/>
        </c:scaling>
        <c:delete val="0"/>
        <c:axPos val="l"/>
        <c:numFmt formatCode="General" sourceLinked="1"/>
        <c:majorTickMark val="none"/>
        <c:minorTickMark val="none"/>
        <c:tickLblPos val="nextTo"/>
        <c:spPr>
          <a:noFill/>
          <a:ln w="9525" cap="flat" cmpd="sng" algn="ctr">
            <a:solidFill>
              <a:schemeClr val="tx1">
                <a:lumMod val="15000"/>
                <a:lumOff val="85000"/>
              </a:schemeClr>
            </a:solidFill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900" b="1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Aptos Narrow"/>
                <a:ea typeface="Aptos Narrow"/>
                <a:cs typeface="Aptos Narrow"/>
              </a:defRPr>
            </a:pPr>
            <a:endParaRPr lang="en-US"/>
          </a:p>
        </c:txPr>
        <c:crossAx val="802496520"/>
        <c:crosses val="autoZero"/>
        <c:auto val="1"/>
        <c:lblAlgn val="ctr"/>
        <c:lblOffset val="100"/>
        <c:noMultiLvlLbl val="0"/>
      </c:catAx>
      <c:valAx>
        <c:axId val="802496520"/>
        <c:scaling>
          <c:orientation val="minMax"/>
        </c:scaling>
        <c:delete val="1"/>
        <c:axPos val="b"/>
        <c:numFmt formatCode="0.00%" sourceLinked="1"/>
        <c:majorTickMark val="none"/>
        <c:minorTickMark val="none"/>
        <c:tickLblPos val="nextTo"/>
        <c:crossAx val="80248986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gap"/>
    <c:showDLblsOverMax val="0"/>
  </c:chart>
  <c:spPr>
    <a:noFill/>
    <a:ln>
      <a:noFill/>
    </a:ln>
    <a:effectLst/>
  </c:spPr>
  <c:txPr>
    <a:bodyPr/>
    <a:lstStyle/>
    <a:p>
      <a:pPr>
        <a:defRPr/>
      </a:pPr>
      <a:endParaRPr lang="en-US"/>
    </a:p>
  </c:txPr>
  <c:externalData r:id="rId3">
    <c:autoUpdate val="0"/>
  </c:externalData>
</c:chartSpace>
</file>

<file path=ppt/charts/chart2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autoTitleDeleted val="1"/>
    <c:plotArea>
      <c:layout/>
      <c:barChart>
        <c:barDir val="bar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Net Profit</c:v>
                </c:pt>
              </c:strCache>
            </c:strRef>
          </c:tx>
          <c:spPr>
            <a:solidFill>
              <a:srgbClr val="10B981"/>
            </a:solidFill>
            <a:ln>
              <a:noFill/>
            </a:ln>
            <a:effectLst/>
          </c:spPr>
          <c:invertIfNegative val="0"/>
          <c:dLbls>
            <c:dLbl>
              <c:idx val="0"/>
              <c:tx>
                <c:rich>
                  <a:bodyPr/>
                  <a:lstStyle/>
                  <a:p>
                    <a:r>
                      <a:rPr lang="en-US"/>
                      <a:t>Profit: ₹ 26.75 M</a:t>
                    </a:r>
                  </a:p>
                </c:rich>
              </c:tx>
              <c:dLblPos val="inEnd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showDataLabelsRange val="0"/>
                </c:ext>
                <c:ext xmlns:c16="http://schemas.microsoft.com/office/drawing/2014/chart" uri="{C3380CC4-5D6E-409C-BE32-E72D297353CC}">
                  <c16:uniqueId val="{00000000-40A2-445E-ADB4-FC7D587CB005}"/>
                </c:ext>
              </c:extLst>
            </c:dLbl>
            <c:dLbl>
              <c:idx val="1"/>
              <c:tx>
                <c:rich>
                  <a:bodyPr/>
                  <a:lstStyle/>
                  <a:p>
                    <a:r>
                      <a:rPr lang="en-US"/>
                      <a:t> Profit: ₹ 47.59 M</a:t>
                    </a:r>
                  </a:p>
                </c:rich>
              </c:tx>
              <c:dLblPos val="inEnd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showDataLabelsRange val="0"/>
                </c:ext>
                <c:ext xmlns:c16="http://schemas.microsoft.com/office/drawing/2014/chart" uri="{C3380CC4-5D6E-409C-BE32-E72D297353CC}">
                  <c16:uniqueId val="{00000001-40A2-445E-ADB4-FC7D587CB005}"/>
                </c:ext>
              </c:extLst>
            </c:dLbl>
            <c:dLbl>
              <c:idx val="2"/>
              <c:tx>
                <c:rich>
                  <a:bodyPr/>
                  <a:lstStyle/>
                  <a:p>
                    <a:r>
                      <a:rPr lang="en-US"/>
                      <a:t> Profit: ₹ 65.62 M</a:t>
                    </a:r>
                  </a:p>
                </c:rich>
              </c:tx>
              <c:dLblPos val="inEnd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showDataLabelsRange val="0"/>
                </c:ext>
                <c:ext xmlns:c16="http://schemas.microsoft.com/office/drawing/2014/chart" uri="{C3380CC4-5D6E-409C-BE32-E72D297353CC}">
                  <c16:uniqueId val="{00000002-40A2-445E-ADB4-FC7D587CB005}"/>
                </c:ext>
              </c:extLst>
            </c:dLbl>
            <c:spPr>
              <a:noFill/>
              <a:ln>
                <a:noFill/>
              </a:ln>
              <a:effectLst/>
            </c:spPr>
            <c:txPr>
              <a:bodyPr rot="0" spcFirstLastPara="1" vertOverflow="ellipsis" vert="horz" wrap="square" lIns="38100" tIns="19050" rIns="38100" bIns="19050" anchor="ctr" anchorCtr="1">
                <a:spAutoFit/>
              </a:bodyPr>
              <a:lstStyle/>
              <a:p>
                <a:pPr>
                  <a:defRPr sz="900" b="1" i="0" u="none" strike="noStrike" kern="1200" baseline="0">
                    <a:solidFill>
                      <a:srgbClr val="FFFFFF"/>
                    </a:solidFill>
                    <a:latin typeface="Aptos Narrow"/>
                    <a:ea typeface="Aptos Narrow"/>
                    <a:cs typeface="Aptos Narrow"/>
                  </a:defRPr>
                </a:pPr>
                <a:endParaRPr lang="en-US"/>
              </a:p>
            </c:txPr>
            <c:dLblPos val="inEnd"/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1"/>
                <c15:leaderLines>
                  <c:spPr>
                    <a:ln w="9525" cap="flat" cmpd="sng" algn="ctr">
                      <a:solidFill>
                        <a:schemeClr val="tx1">
                          <a:lumMod val="35000"/>
                          <a:lumOff val="65000"/>
                        </a:schemeClr>
                      </a:solidFill>
                      <a:round/>
                    </a:ln>
                    <a:effectLst/>
                  </c:spPr>
                </c15:leaderLines>
              </c:ext>
            </c:extLst>
          </c:dLbls>
          <c:cat>
            <c:strRef>
              <c:f>Sheet1!$A$2:$A$4</c:f>
              <c:strCache>
                <c:ptCount val="3"/>
                <c:pt idx="0">
                  <c:v>Clothing</c:v>
                </c:pt>
                <c:pt idx="1">
                  <c:v>Shoes</c:v>
                </c:pt>
                <c:pt idx="2">
                  <c:v>Accessories</c:v>
                </c:pt>
              </c:strCache>
            </c:strRef>
          </c:cat>
          <c:val>
            <c:numRef>
              <c:f>Sheet1!$B$2:$B$4</c:f>
              <c:numCache>
                <c:formatCode>_ [$₹-4009]\ * #,##0.00_ ;_ [$₹-4009]\ * \-#,##0.00_ ;_ [$₹-4009]\ * "-"??_ ;_ @_ </c:formatCode>
                <c:ptCount val="3"/>
                <c:pt idx="0">
                  <c:v>26.746659010000002</c:v>
                </c:pt>
                <c:pt idx="1">
                  <c:v>47.588460619999999</c:v>
                </c:pt>
                <c:pt idx="2">
                  <c:v>65.62469222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3-40A2-445E-ADB4-FC7D587CB005}"/>
            </c:ext>
          </c:extLst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Net Revenue</c:v>
                </c:pt>
              </c:strCache>
            </c:strRef>
          </c:tx>
          <c:spPr>
            <a:solidFill>
              <a:srgbClr val="4472C4"/>
            </a:solidFill>
            <a:ln>
              <a:noFill/>
            </a:ln>
            <a:effectLst/>
          </c:spPr>
          <c:invertIfNegative val="0"/>
          <c:dLbls>
            <c:dLbl>
              <c:idx val="0"/>
              <c:tx>
                <c:rich>
                  <a:bodyPr/>
                  <a:lstStyle/>
                  <a:p>
                    <a:r>
                      <a:rPr lang="en-US"/>
                      <a:t> Rev: ₹ 45.55 M</a:t>
                    </a:r>
                  </a:p>
                </c:rich>
              </c:tx>
              <c:dLblPos val="inEnd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showDataLabelsRange val="0"/>
                </c:ext>
                <c:ext xmlns:c16="http://schemas.microsoft.com/office/drawing/2014/chart" uri="{C3380CC4-5D6E-409C-BE32-E72D297353CC}">
                  <c16:uniqueId val="{00000004-40A2-445E-ADB4-FC7D587CB005}"/>
                </c:ext>
              </c:extLst>
            </c:dLbl>
            <c:dLbl>
              <c:idx val="1"/>
              <c:tx>
                <c:rich>
                  <a:bodyPr/>
                  <a:lstStyle/>
                  <a:p>
                    <a:r>
                      <a:rPr lang="en-US"/>
                      <a:t>Rev: ₹ 64.85 M</a:t>
                    </a:r>
                  </a:p>
                </c:rich>
              </c:tx>
              <c:dLblPos val="inEnd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showDataLabelsRange val="0"/>
                </c:ext>
                <c:ext xmlns:c16="http://schemas.microsoft.com/office/drawing/2014/chart" uri="{C3380CC4-5D6E-409C-BE32-E72D297353CC}">
                  <c16:uniqueId val="{00000005-40A2-445E-ADB4-FC7D587CB005}"/>
                </c:ext>
              </c:extLst>
            </c:dLbl>
            <c:dLbl>
              <c:idx val="2"/>
              <c:tx>
                <c:rich>
                  <a:bodyPr/>
                  <a:lstStyle/>
                  <a:p>
                    <a:r>
                      <a:rPr lang="en-US"/>
                      <a:t> Rev: ₹ 82.58 M</a:t>
                    </a:r>
                  </a:p>
                </c:rich>
              </c:tx>
              <c:dLblPos val="inEnd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showDataLabelsRange val="0"/>
                </c:ext>
                <c:ext xmlns:c16="http://schemas.microsoft.com/office/drawing/2014/chart" uri="{C3380CC4-5D6E-409C-BE32-E72D297353CC}">
                  <c16:uniqueId val="{00000006-40A2-445E-ADB4-FC7D587CB005}"/>
                </c:ext>
              </c:extLst>
            </c:dLbl>
            <c:spPr>
              <a:noFill/>
              <a:ln>
                <a:noFill/>
              </a:ln>
              <a:effectLst/>
            </c:spPr>
            <c:txPr>
              <a:bodyPr rot="0" spcFirstLastPara="1" vertOverflow="ellipsis" vert="horz" wrap="square" lIns="38100" tIns="19050" rIns="38100" bIns="19050" anchor="ctr" anchorCtr="1">
                <a:spAutoFit/>
              </a:bodyPr>
              <a:lstStyle/>
              <a:p>
                <a:pPr>
                  <a:defRPr sz="900" b="1" i="0" u="none" strike="noStrike" kern="1200" baseline="0">
                    <a:solidFill>
                      <a:srgbClr val="FFFFFF"/>
                    </a:solidFill>
                    <a:latin typeface="Aptos Narrow"/>
                    <a:ea typeface="Aptos Narrow"/>
                    <a:cs typeface="Aptos Narrow"/>
                  </a:defRPr>
                </a:pPr>
                <a:endParaRPr lang="en-US"/>
              </a:p>
            </c:txPr>
            <c:dLblPos val="inEnd"/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1"/>
                <c15:leaderLines>
                  <c:spPr>
                    <a:ln w="9525" cap="flat" cmpd="sng" algn="ctr">
                      <a:solidFill>
                        <a:schemeClr val="tx1">
                          <a:lumMod val="35000"/>
                          <a:lumOff val="65000"/>
                        </a:schemeClr>
                      </a:solidFill>
                      <a:round/>
                    </a:ln>
                    <a:effectLst/>
                  </c:spPr>
                </c15:leaderLines>
              </c:ext>
            </c:extLst>
          </c:dLbls>
          <c:cat>
            <c:strRef>
              <c:f>Sheet1!$A$2:$A$4</c:f>
              <c:strCache>
                <c:ptCount val="3"/>
                <c:pt idx="0">
                  <c:v>Clothing</c:v>
                </c:pt>
                <c:pt idx="1">
                  <c:v>Shoes</c:v>
                </c:pt>
                <c:pt idx="2">
                  <c:v>Accessories</c:v>
                </c:pt>
              </c:strCache>
            </c:strRef>
          </c:cat>
          <c:val>
            <c:numRef>
              <c:f>Sheet1!$C$2:$C$4</c:f>
              <c:numCache>
                <c:formatCode>_ [$₹-4009]\ * #,##0.00_ ;_ [$₹-4009]\ * \-#,##0.00_ ;_ [$₹-4009]\ * "-"??_ ;_ @_ </c:formatCode>
                <c:ptCount val="3"/>
                <c:pt idx="0">
                  <c:v>45.553330330000001</c:v>
                </c:pt>
                <c:pt idx="1">
                  <c:v>64.84567697</c:v>
                </c:pt>
                <c:pt idx="2">
                  <c:v>82.584276720000005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7-40A2-445E-ADB4-FC7D587CB005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gapWidth val="40"/>
        <c:axId val="802489864"/>
        <c:axId val="802496520"/>
      </c:barChart>
      <c:catAx>
        <c:axId val="802489864"/>
        <c:scaling>
          <c:orientation val="minMax"/>
        </c:scaling>
        <c:delete val="0"/>
        <c:axPos val="l"/>
        <c:numFmt formatCode="General" sourceLinked="1"/>
        <c:majorTickMark val="none"/>
        <c:minorTickMark val="none"/>
        <c:tickLblPos val="nextTo"/>
        <c:spPr>
          <a:noFill/>
          <a:ln w="9525" cap="flat" cmpd="sng" algn="ctr">
            <a:solidFill>
              <a:schemeClr val="tx1">
                <a:lumMod val="15000"/>
                <a:lumOff val="85000"/>
              </a:schemeClr>
            </a:solidFill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900" b="1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Aptos Narrow"/>
                <a:ea typeface="Aptos Narrow"/>
                <a:cs typeface="Aptos Narrow"/>
              </a:defRPr>
            </a:pPr>
            <a:endParaRPr lang="en-US"/>
          </a:p>
        </c:txPr>
        <c:crossAx val="802496520"/>
        <c:crosses val="autoZero"/>
        <c:auto val="1"/>
        <c:lblAlgn val="ctr"/>
        <c:lblOffset val="100"/>
        <c:noMultiLvlLbl val="0"/>
      </c:catAx>
      <c:valAx>
        <c:axId val="802496520"/>
        <c:scaling>
          <c:orientation val="minMax"/>
        </c:scaling>
        <c:delete val="1"/>
        <c:axPos val="b"/>
        <c:numFmt formatCode="_ [$₹-4009]\ * #,##0.00_ ;_ [$₹-4009]\ * \-#,##0.00_ ;_ [$₹-4009]\ * &quot;-&quot;??_ ;_ @_ " sourceLinked="1"/>
        <c:majorTickMark val="none"/>
        <c:minorTickMark val="none"/>
        <c:tickLblPos val="nextTo"/>
        <c:crossAx val="80248986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gap"/>
    <c:showDLblsOverMax val="0"/>
  </c:chart>
  <c:spPr>
    <a:noFill/>
    <a:ln>
      <a:noFill/>
    </a:ln>
    <a:effectLst/>
  </c:spPr>
  <c:txPr>
    <a:bodyPr/>
    <a:lstStyle/>
    <a:p>
      <a:pPr>
        <a:defRPr/>
      </a:pPr>
      <a:endParaRPr lang="en-US"/>
    </a:p>
  </c:txPr>
  <c:externalData r:id="rId3">
    <c:autoUpdate val="0"/>
  </c:externalData>
</c:chartSpace>
</file>

<file path=ppt/charts/chart3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autoTitleDeleted val="1"/>
    <c:plotArea>
      <c:layout/>
      <c:barChart>
        <c:barDir val="bar"/>
        <c:grouping val="stacked"/>
        <c:varyColors val="0"/>
        <c:ser>
          <c:idx val="0"/>
          <c:order val="0"/>
          <c:tx>
            <c:strRef>
              <c:f>Sheet1!$F$13</c:f>
              <c:strCache>
                <c:ptCount val="1"/>
                <c:pt idx="0">
                  <c:v>Profit Margin %</c:v>
                </c:pt>
              </c:strCache>
            </c:strRef>
          </c:tx>
          <c:spPr>
            <a:solidFill>
              <a:srgbClr val="0284C7"/>
            </a:solidFill>
            <a:ln>
              <a:noFill/>
            </a:ln>
            <a:effectLst/>
          </c:spPr>
          <c:invertIfNegative val="0"/>
          <c:dPt>
            <c:idx val="0"/>
            <c:invertIfNegative val="0"/>
            <c:bubble3D val="0"/>
            <c:spPr>
              <a:solidFill>
                <a:srgbClr val="833C0C"/>
              </a:solidFill>
              <a:ln>
                <a:noFill/>
              </a:ln>
              <a:effectLst/>
            </c:spPr>
            <c:extLst>
              <c:ext xmlns:c16="http://schemas.microsoft.com/office/drawing/2014/chart" uri="{C3380CC4-5D6E-409C-BE32-E72D297353CC}">
                <c16:uniqueId val="{00000001-7156-4EA0-B93C-6A32EAFA1A8C}"/>
              </c:ext>
            </c:extLst>
          </c:dPt>
          <c:dPt>
            <c:idx val="1"/>
            <c:invertIfNegative val="0"/>
            <c:bubble3D val="0"/>
            <c:spPr>
              <a:solidFill>
                <a:srgbClr val="DC2626"/>
              </a:solidFill>
              <a:ln>
                <a:noFill/>
              </a:ln>
              <a:effectLst/>
            </c:spPr>
            <c:extLst>
              <c:ext xmlns:c16="http://schemas.microsoft.com/office/drawing/2014/chart" uri="{C3380CC4-5D6E-409C-BE32-E72D297353CC}">
                <c16:uniqueId val="{00000003-7156-4EA0-B93C-6A32EAFA1A8C}"/>
              </c:ext>
            </c:extLst>
          </c:dPt>
          <c:dPt>
            <c:idx val="2"/>
            <c:invertIfNegative val="0"/>
            <c:bubble3D val="0"/>
            <c:spPr>
              <a:solidFill>
                <a:srgbClr val="D97706"/>
              </a:solidFill>
              <a:ln>
                <a:noFill/>
              </a:ln>
              <a:effectLst/>
            </c:spPr>
            <c:extLst>
              <c:ext xmlns:c16="http://schemas.microsoft.com/office/drawing/2014/chart" uri="{C3380CC4-5D6E-409C-BE32-E72D297353CC}">
                <c16:uniqueId val="{00000005-7156-4EA0-B93C-6A32EAFA1A8C}"/>
              </c:ext>
            </c:extLst>
          </c:dPt>
          <c:dPt>
            <c:idx val="3"/>
            <c:invertIfNegative val="0"/>
            <c:bubble3D val="0"/>
            <c:spPr>
              <a:solidFill>
                <a:srgbClr val="F59E0B"/>
              </a:solidFill>
              <a:ln>
                <a:noFill/>
              </a:ln>
              <a:effectLst/>
            </c:spPr>
            <c:extLst>
              <c:ext xmlns:c16="http://schemas.microsoft.com/office/drawing/2014/chart" uri="{C3380CC4-5D6E-409C-BE32-E72D297353CC}">
                <c16:uniqueId val="{00000007-7156-4EA0-B93C-6A32EAFA1A8C}"/>
              </c:ext>
            </c:extLst>
          </c:dPt>
          <c:dPt>
            <c:idx val="4"/>
            <c:invertIfNegative val="0"/>
            <c:bubble3D val="0"/>
            <c:spPr>
              <a:solidFill>
                <a:srgbClr val="0D9488"/>
              </a:solidFill>
              <a:ln>
                <a:noFill/>
              </a:ln>
              <a:effectLst/>
            </c:spPr>
            <c:extLst>
              <c:ext xmlns:c16="http://schemas.microsoft.com/office/drawing/2014/chart" uri="{C3380CC4-5D6E-409C-BE32-E72D297353CC}">
                <c16:uniqueId val="{00000009-7156-4EA0-B93C-6A32EAFA1A8C}"/>
              </c:ext>
            </c:extLst>
          </c:dPt>
          <c:dPt>
            <c:idx val="6"/>
            <c:invertIfNegative val="0"/>
            <c:bubble3D val="0"/>
            <c:spPr>
              <a:solidFill>
                <a:srgbClr val="16A34A"/>
              </a:solidFill>
              <a:ln>
                <a:noFill/>
              </a:ln>
              <a:effectLst/>
            </c:spPr>
            <c:extLst>
              <c:ext xmlns:c16="http://schemas.microsoft.com/office/drawing/2014/chart" uri="{C3380CC4-5D6E-409C-BE32-E72D297353CC}">
                <c16:uniqueId val="{0000000B-7156-4EA0-B93C-6A32EAFA1A8C}"/>
              </c:ext>
            </c:extLst>
          </c:dPt>
          <c:dLbls>
            <c:dLbl>
              <c:idx val="0"/>
              <c:tx>
                <c:rich>
                  <a:bodyPr/>
                  <a:lstStyle/>
                  <a:p>
                    <a:r>
                      <a:rPr lang="en-US"/>
                      <a:t>64.56% Profit Margin</a:t>
                    </a:r>
                  </a:p>
                </c:rich>
              </c:tx>
              <c:dLblPos val="inEnd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showDataLabelsRange val="0"/>
                </c:ext>
                <c:ext xmlns:c16="http://schemas.microsoft.com/office/drawing/2014/chart" uri="{C3380CC4-5D6E-409C-BE32-E72D297353CC}">
                  <c16:uniqueId val="{00000001-7156-4EA0-B93C-6A32EAFA1A8C}"/>
                </c:ext>
              </c:extLst>
            </c:dLbl>
            <c:dLbl>
              <c:idx val="1"/>
              <c:tx>
                <c:rich>
                  <a:bodyPr/>
                  <a:lstStyle/>
                  <a:p>
                    <a:r>
                      <a:rPr lang="en-US"/>
                      <a:t>65.81% Profit Margin</a:t>
                    </a:r>
                  </a:p>
                </c:rich>
              </c:tx>
              <c:dLblPos val="inEnd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showDataLabelsRange val="0"/>
                </c:ext>
                <c:ext xmlns:c16="http://schemas.microsoft.com/office/drawing/2014/chart" uri="{C3380CC4-5D6E-409C-BE32-E72D297353CC}">
                  <c16:uniqueId val="{00000003-7156-4EA0-B93C-6A32EAFA1A8C}"/>
                </c:ext>
              </c:extLst>
            </c:dLbl>
            <c:dLbl>
              <c:idx val="2"/>
              <c:tx>
                <c:rich>
                  <a:bodyPr/>
                  <a:lstStyle/>
                  <a:p>
                    <a:r>
                      <a:rPr lang="en-US"/>
                      <a:t>69.42% Profit Margin</a:t>
                    </a:r>
                  </a:p>
                </c:rich>
              </c:tx>
              <c:dLblPos val="inEnd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showDataLabelsRange val="0"/>
                </c:ext>
                <c:ext xmlns:c16="http://schemas.microsoft.com/office/drawing/2014/chart" uri="{C3380CC4-5D6E-409C-BE32-E72D297353CC}">
                  <c16:uniqueId val="{00000005-7156-4EA0-B93C-6A32EAFA1A8C}"/>
                </c:ext>
              </c:extLst>
            </c:dLbl>
            <c:dLbl>
              <c:idx val="3"/>
              <c:tx>
                <c:rich>
                  <a:bodyPr/>
                  <a:lstStyle/>
                  <a:p>
                    <a:r>
                      <a:rPr lang="en-US"/>
                      <a:t>70.34% Profit Margin</a:t>
                    </a:r>
                  </a:p>
                </c:rich>
              </c:tx>
              <c:dLblPos val="inEnd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showDataLabelsRange val="0"/>
                </c:ext>
                <c:ext xmlns:c16="http://schemas.microsoft.com/office/drawing/2014/chart" uri="{C3380CC4-5D6E-409C-BE32-E72D297353CC}">
                  <c16:uniqueId val="{00000007-7156-4EA0-B93C-6A32EAFA1A8C}"/>
                </c:ext>
              </c:extLst>
            </c:dLbl>
            <c:dLbl>
              <c:idx val="4"/>
              <c:tx>
                <c:rich>
                  <a:bodyPr/>
                  <a:lstStyle/>
                  <a:p>
                    <a:r>
                      <a:rPr lang="en-US"/>
                      <a:t>71.70% Profit Margin</a:t>
                    </a:r>
                  </a:p>
                </c:rich>
              </c:tx>
              <c:dLblPos val="inEnd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showDataLabelsRange val="0"/>
                </c:ext>
                <c:ext xmlns:c16="http://schemas.microsoft.com/office/drawing/2014/chart" uri="{C3380CC4-5D6E-409C-BE32-E72D297353CC}">
                  <c16:uniqueId val="{00000009-7156-4EA0-B93C-6A32EAFA1A8C}"/>
                </c:ext>
              </c:extLst>
            </c:dLbl>
            <c:dLbl>
              <c:idx val="5"/>
              <c:tx>
                <c:rich>
                  <a:bodyPr/>
                  <a:lstStyle/>
                  <a:p>
                    <a:r>
                      <a:rPr lang="en-US"/>
                      <a:t>73.45% Profit Margin</a:t>
                    </a:r>
                  </a:p>
                </c:rich>
              </c:tx>
              <c:dLblPos val="inEnd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showDataLabelsRange val="0"/>
                </c:ext>
                <c:ext xmlns:c16="http://schemas.microsoft.com/office/drawing/2014/chart" uri="{C3380CC4-5D6E-409C-BE32-E72D297353CC}">
                  <c16:uniqueId val="{0000000C-7156-4EA0-B93C-6A32EAFA1A8C}"/>
                </c:ext>
              </c:extLst>
            </c:dLbl>
            <c:dLbl>
              <c:idx val="6"/>
              <c:tx>
                <c:rich>
                  <a:bodyPr/>
                  <a:lstStyle/>
                  <a:p>
                    <a:r>
                      <a:rPr lang="en-US"/>
                      <a:t>75.42% Profit Margin</a:t>
                    </a:r>
                  </a:p>
                </c:rich>
              </c:tx>
              <c:dLblPos val="inEnd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showDataLabelsRange val="0"/>
                </c:ext>
                <c:ext xmlns:c16="http://schemas.microsoft.com/office/drawing/2014/chart" uri="{C3380CC4-5D6E-409C-BE32-E72D297353CC}">
                  <c16:uniqueId val="{0000000B-7156-4EA0-B93C-6A32EAFA1A8C}"/>
                </c:ext>
              </c:extLst>
            </c:dLbl>
            <c:spPr>
              <a:noFill/>
              <a:ln>
                <a:noFill/>
              </a:ln>
              <a:effectLst/>
            </c:spPr>
            <c:txPr>
              <a:bodyPr rot="0" spcFirstLastPara="1" vertOverflow="ellipsis" vert="horz" wrap="square" lIns="38100" tIns="19050" rIns="38100" bIns="19050" anchor="ctr" anchorCtr="1">
                <a:spAutoFit/>
              </a:bodyPr>
              <a:lstStyle/>
              <a:p>
                <a:pPr>
                  <a:defRPr sz="900" b="1" i="0" u="none" strike="noStrike" kern="1200" baseline="0">
                    <a:solidFill>
                      <a:srgbClr val="FFFFFF"/>
                    </a:solidFill>
                    <a:latin typeface="Aptos Narrow"/>
                    <a:ea typeface="Aptos Narrow"/>
                    <a:cs typeface="Aptos Narrow"/>
                  </a:defRPr>
                </a:pPr>
                <a:endParaRPr lang="en-US"/>
              </a:p>
            </c:txPr>
            <c:dLblPos val="inEnd"/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1"/>
                <c15:leaderLines>
                  <c:spPr>
                    <a:ln w="9525" cap="flat" cmpd="sng" algn="ctr">
                      <a:solidFill>
                        <a:schemeClr val="tx1">
                          <a:lumMod val="35000"/>
                          <a:lumOff val="65000"/>
                        </a:schemeClr>
                      </a:solidFill>
                      <a:round/>
                    </a:ln>
                    <a:effectLst/>
                  </c:spPr>
                </c15:leaderLines>
              </c:ext>
            </c:extLst>
          </c:dLbls>
          <c:cat>
            <c:strRef>
              <c:f>Sheet1!$E$14:$E$20</c:f>
              <c:strCache>
                <c:ptCount val="7"/>
                <c:pt idx="0">
                  <c:v>&gt;25% Discount </c:v>
                </c:pt>
                <c:pt idx="1">
                  <c:v>25% Discount </c:v>
                </c:pt>
                <c:pt idx="2">
                  <c:v>20% Discount </c:v>
                </c:pt>
                <c:pt idx="3">
                  <c:v>15% Discount </c:v>
                </c:pt>
                <c:pt idx="4">
                  <c:v>10% Discount </c:v>
                </c:pt>
                <c:pt idx="5">
                  <c:v>5% Discount </c:v>
                </c:pt>
                <c:pt idx="6">
                  <c:v>0% (No Discount)</c:v>
                </c:pt>
              </c:strCache>
            </c:strRef>
          </c:cat>
          <c:val>
            <c:numRef>
              <c:f>Sheet1!$F$14:$F$20</c:f>
              <c:numCache>
                <c:formatCode>0.00%</c:formatCode>
                <c:ptCount val="7"/>
                <c:pt idx="0">
                  <c:v>0.64559999999999995</c:v>
                </c:pt>
                <c:pt idx="1">
                  <c:v>0.65810000000000002</c:v>
                </c:pt>
                <c:pt idx="2">
                  <c:v>0.69420000000000004</c:v>
                </c:pt>
                <c:pt idx="3">
                  <c:v>0.70340000000000003</c:v>
                </c:pt>
                <c:pt idx="4">
                  <c:v>0.71699999999999997</c:v>
                </c:pt>
                <c:pt idx="5">
                  <c:v>0.73450000000000004</c:v>
                </c:pt>
                <c:pt idx="6">
                  <c:v>0.75419999999999998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D-2BCA-419C-A12D-312F31857098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gapWidth val="25"/>
        <c:overlap val="100"/>
        <c:axId val="1548267528"/>
        <c:axId val="1548270600"/>
      </c:barChart>
      <c:catAx>
        <c:axId val="1548267528"/>
        <c:scaling>
          <c:orientation val="minMax"/>
        </c:scaling>
        <c:delete val="0"/>
        <c:axPos val="l"/>
        <c:numFmt formatCode="General" sourceLinked="1"/>
        <c:majorTickMark val="none"/>
        <c:minorTickMark val="none"/>
        <c:tickLblPos val="nextTo"/>
        <c:spPr>
          <a:noFill/>
          <a:ln w="9525" cap="flat" cmpd="sng" algn="ctr">
            <a:solidFill>
              <a:schemeClr val="tx1">
                <a:lumMod val="15000"/>
                <a:lumOff val="85000"/>
              </a:schemeClr>
            </a:solidFill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900" b="1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Aptos Display"/>
                <a:ea typeface="Aptos Display"/>
                <a:cs typeface="Aptos Display"/>
              </a:defRPr>
            </a:pPr>
            <a:endParaRPr lang="en-US"/>
          </a:p>
        </c:txPr>
        <c:crossAx val="1548270600"/>
        <c:crosses val="autoZero"/>
        <c:auto val="1"/>
        <c:lblAlgn val="ctr"/>
        <c:lblOffset val="100"/>
        <c:noMultiLvlLbl val="0"/>
      </c:catAx>
      <c:valAx>
        <c:axId val="1548270600"/>
        <c:scaling>
          <c:orientation val="minMax"/>
        </c:scaling>
        <c:delete val="1"/>
        <c:axPos val="b"/>
        <c:numFmt formatCode="0.00%" sourceLinked="1"/>
        <c:majorTickMark val="none"/>
        <c:minorTickMark val="none"/>
        <c:tickLblPos val="nextTo"/>
        <c:crossAx val="1548267528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gap"/>
    <c:showDLblsOverMax val="0"/>
  </c:chart>
  <c:spPr>
    <a:noFill/>
    <a:ln>
      <a:noFill/>
    </a:ln>
    <a:effectLst/>
  </c:spPr>
  <c:txPr>
    <a:bodyPr/>
    <a:lstStyle/>
    <a:p>
      <a:pPr>
        <a:defRPr/>
      </a:pPr>
      <a:endParaRPr lang="en-US"/>
    </a:p>
  </c:txPr>
  <c:externalData r:id="rId3">
    <c:autoUpdate val="0"/>
  </c:externalData>
</c:chartSpace>
</file>

<file path=ppt/charts/chart4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autoTitleDeleted val="1"/>
    <c:plotArea>
      <c:layout/>
      <c:barChart>
        <c:barDir val="col"/>
        <c:grouping val="clustered"/>
        <c:varyColors val="0"/>
        <c:ser>
          <c:idx val="1"/>
          <c:order val="0"/>
          <c:tx>
            <c:strRef>
              <c:f>Sheet1!G1</c:f>
              <c:strCache>
                <c:ptCount val="1"/>
                <c:pt idx="0">
                  <c:v>Net Revenue</c:v>
                </c:pt>
              </c:strCache>
            </c:strRef>
          </c:tx>
          <c:spPr>
            <a:solidFill>
              <a:srgbClr val="0284C7"/>
            </a:solidFill>
            <a:ln>
              <a:noFill/>
            </a:ln>
            <a:effectLst/>
          </c:spPr>
          <c:invertIfNegative val="0"/>
          <c:dPt>
            <c:idx val="0"/>
            <c:invertIfNegative val="0"/>
            <c:bubble3D val="0"/>
            <c:spPr>
              <a:solidFill>
                <a:srgbClr val="375623"/>
              </a:solidFill>
              <a:ln>
                <a:noFill/>
              </a:ln>
              <a:effectLst/>
            </c:spPr>
            <c:extLst>
              <c:ext xmlns:c16="http://schemas.microsoft.com/office/drawing/2014/chart" uri="{C3380CC4-5D6E-409C-BE32-E72D297353CC}">
                <c16:uniqueId val="{00000001-3C5E-41AF-8D1B-43CC77BFBA4D}"/>
              </c:ext>
            </c:extLst>
          </c:dPt>
          <c:dPt>
            <c:idx val="1"/>
            <c:invertIfNegative val="0"/>
            <c:bubble3D val="0"/>
            <c:spPr>
              <a:solidFill>
                <a:srgbClr val="DC2626"/>
              </a:solidFill>
              <a:ln>
                <a:noFill/>
              </a:ln>
              <a:effectLst/>
            </c:spPr>
            <c:extLst>
              <c:ext xmlns:c16="http://schemas.microsoft.com/office/drawing/2014/chart" uri="{C3380CC4-5D6E-409C-BE32-E72D297353CC}">
                <c16:uniqueId val="{00000003-3C5E-41AF-8D1B-43CC77BFBA4D}"/>
              </c:ext>
            </c:extLst>
          </c:dPt>
          <c:dPt>
            <c:idx val="2"/>
            <c:invertIfNegative val="0"/>
            <c:bubble3D val="0"/>
            <c:spPr>
              <a:solidFill>
                <a:srgbClr val="D97706"/>
              </a:solidFill>
              <a:ln>
                <a:noFill/>
              </a:ln>
              <a:effectLst/>
            </c:spPr>
            <c:extLst>
              <c:ext xmlns:c16="http://schemas.microsoft.com/office/drawing/2014/chart" uri="{C3380CC4-5D6E-409C-BE32-E72D297353CC}">
                <c16:uniqueId val="{00000005-3C5E-41AF-8D1B-43CC77BFBA4D}"/>
              </c:ext>
            </c:extLst>
          </c:dPt>
          <c:dPt>
            <c:idx val="3"/>
            <c:invertIfNegative val="0"/>
            <c:bubble3D val="0"/>
            <c:spPr>
              <a:solidFill>
                <a:srgbClr val="F59E0B"/>
              </a:solidFill>
              <a:ln>
                <a:noFill/>
              </a:ln>
              <a:effectLst/>
            </c:spPr>
            <c:extLst>
              <c:ext xmlns:c16="http://schemas.microsoft.com/office/drawing/2014/chart" uri="{C3380CC4-5D6E-409C-BE32-E72D297353CC}">
                <c16:uniqueId val="{00000007-3C5E-41AF-8D1B-43CC77BFBA4D}"/>
              </c:ext>
            </c:extLst>
          </c:dPt>
          <c:dPt>
            <c:idx val="4"/>
            <c:invertIfNegative val="0"/>
            <c:bubble3D val="0"/>
            <c:spPr>
              <a:solidFill>
                <a:srgbClr val="0D9488"/>
              </a:solidFill>
              <a:ln>
                <a:noFill/>
              </a:ln>
              <a:effectLst/>
            </c:spPr>
            <c:extLst>
              <c:ext xmlns:c16="http://schemas.microsoft.com/office/drawing/2014/chart" uri="{C3380CC4-5D6E-409C-BE32-E72D297353CC}">
                <c16:uniqueId val="{00000009-3C5E-41AF-8D1B-43CC77BFBA4D}"/>
              </c:ext>
            </c:extLst>
          </c:dPt>
          <c:dPt>
            <c:idx val="6"/>
            <c:invertIfNegative val="0"/>
            <c:bubble3D val="0"/>
            <c:spPr>
              <a:solidFill>
                <a:srgbClr val="16A34A"/>
              </a:solidFill>
              <a:ln>
                <a:noFill/>
              </a:ln>
              <a:effectLst/>
            </c:spPr>
            <c:extLst>
              <c:ext xmlns:c16="http://schemas.microsoft.com/office/drawing/2014/chart" uri="{C3380CC4-5D6E-409C-BE32-E72D297353CC}">
                <c16:uniqueId val="{0000000B-3C5E-41AF-8D1B-43CC77BFBA4D}"/>
              </c:ext>
            </c:extLst>
          </c:dPt>
          <c:dLbls>
            <c:dLbl>
              <c:idx val="0"/>
              <c:tx>
                <c:rich>
                  <a:bodyPr/>
                  <a:lstStyle/>
                  <a:p>
                    <a:r>
                      <a:rPr lang="en-US"/>
                      <a:t> ₹ 5.17 M</a:t>
                    </a:r>
                  </a:p>
                </c:rich>
              </c:tx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showDataLabelsRange val="0"/>
                </c:ext>
                <c:ext xmlns:c16="http://schemas.microsoft.com/office/drawing/2014/chart" uri="{C3380CC4-5D6E-409C-BE32-E72D297353CC}">
                  <c16:uniqueId val="{00000001-3C5E-41AF-8D1B-43CC77BFBA4D}"/>
                </c:ext>
              </c:extLst>
            </c:dLbl>
            <c:dLbl>
              <c:idx val="1"/>
              <c:tx>
                <c:rich>
                  <a:bodyPr/>
                  <a:lstStyle/>
                  <a:p>
                    <a:r>
                      <a:rPr lang="en-US"/>
                      <a:t> ₹ 9.97 M</a:t>
                    </a:r>
                  </a:p>
                </c:rich>
              </c:tx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showDataLabelsRange val="0"/>
                </c:ext>
                <c:ext xmlns:c16="http://schemas.microsoft.com/office/drawing/2014/chart" uri="{C3380CC4-5D6E-409C-BE32-E72D297353CC}">
                  <c16:uniqueId val="{00000003-3C5E-41AF-8D1B-43CC77BFBA4D}"/>
                </c:ext>
              </c:extLst>
            </c:dLbl>
            <c:dLbl>
              <c:idx val="2"/>
              <c:tx>
                <c:rich>
                  <a:bodyPr/>
                  <a:lstStyle/>
                  <a:p>
                    <a:r>
                      <a:rPr lang="en-US"/>
                      <a:t> ₹ 19.14 M</a:t>
                    </a:r>
                  </a:p>
                </c:rich>
              </c:tx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showDataLabelsRange val="0"/>
                </c:ext>
                <c:ext xmlns:c16="http://schemas.microsoft.com/office/drawing/2014/chart" uri="{C3380CC4-5D6E-409C-BE32-E72D297353CC}">
                  <c16:uniqueId val="{00000005-3C5E-41AF-8D1B-43CC77BFBA4D}"/>
                </c:ext>
              </c:extLst>
            </c:dLbl>
            <c:dLbl>
              <c:idx val="3"/>
              <c:layout>
                <c:manualLayout>
                  <c:x val="0"/>
                  <c:y val="-2.7777777777777776E-2"/>
                </c:manualLayout>
              </c:layout>
              <c:tx>
                <c:rich>
                  <a:bodyPr/>
                  <a:lstStyle/>
                  <a:p>
                    <a:r>
                      <a:rPr lang="en-US"/>
                      <a:t> ₹ 20.53 M</a:t>
                    </a:r>
                  </a:p>
                </c:rich>
              </c:tx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showDataLabelsRange val="0"/>
                </c:ext>
                <c:ext xmlns:c16="http://schemas.microsoft.com/office/drawing/2014/chart" uri="{C3380CC4-5D6E-409C-BE32-E72D297353CC}">
                  <c16:uniqueId val="{00000007-3C5E-41AF-8D1B-43CC77BFBA4D}"/>
                </c:ext>
              </c:extLst>
            </c:dLbl>
            <c:dLbl>
              <c:idx val="4"/>
              <c:layout>
                <c:manualLayout>
                  <c:x val="-1.3661202185792349E-2"/>
                  <c:y val="6.9444444444444441E-3"/>
                </c:manualLayout>
              </c:layout>
              <c:tx>
                <c:rich>
                  <a:bodyPr/>
                  <a:lstStyle/>
                  <a:p>
                    <a:r>
                      <a:rPr lang="en-US"/>
                      <a:t> ₹ 32.84 M</a:t>
                    </a:r>
                  </a:p>
                </c:rich>
              </c:tx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showDataLabelsRange val="0"/>
                </c:ext>
                <c:ext xmlns:c16="http://schemas.microsoft.com/office/drawing/2014/chart" uri="{C3380CC4-5D6E-409C-BE32-E72D297353CC}">
                  <c16:uniqueId val="{00000009-3C5E-41AF-8D1B-43CC77BFBA4D}"/>
                </c:ext>
              </c:extLst>
            </c:dLbl>
            <c:dLbl>
              <c:idx val="5"/>
              <c:layout>
                <c:manualLayout>
                  <c:x val="5.4644808743169564E-3"/>
                  <c:y val="-4.5138888888888888E-2"/>
                </c:manualLayout>
              </c:layout>
              <c:tx>
                <c:rich>
                  <a:bodyPr/>
                  <a:lstStyle/>
                  <a:p>
                    <a:r>
                      <a:rPr lang="en-US"/>
                      <a:t> ₹ 33.44 M</a:t>
                    </a:r>
                  </a:p>
                </c:rich>
              </c:tx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showDataLabelsRange val="0"/>
                </c:ext>
                <c:ext xmlns:c16="http://schemas.microsoft.com/office/drawing/2014/chart" uri="{C3380CC4-5D6E-409C-BE32-E72D297353CC}">
                  <c16:uniqueId val="{0000000C-3C5E-41AF-8D1B-43CC77BFBA4D}"/>
                </c:ext>
              </c:extLst>
            </c:dLbl>
            <c:dLbl>
              <c:idx val="6"/>
              <c:tx>
                <c:rich>
                  <a:bodyPr/>
                  <a:lstStyle/>
                  <a:p>
                    <a:r>
                      <a:rPr lang="en-US"/>
                      <a:t> ₹ 71.90 M</a:t>
                    </a:r>
                  </a:p>
                </c:rich>
              </c:tx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showDataLabelsRange val="0"/>
                </c:ext>
                <c:ext xmlns:c16="http://schemas.microsoft.com/office/drawing/2014/chart" uri="{C3380CC4-5D6E-409C-BE32-E72D297353CC}">
                  <c16:uniqueId val="{0000000B-3C5E-41AF-8D1B-43CC77BFBA4D}"/>
                </c:ext>
              </c:extLst>
            </c:dLbl>
            <c:spPr>
              <a:noFill/>
              <a:ln>
                <a:noFill/>
              </a:ln>
              <a:effectLst/>
            </c:spPr>
            <c:txPr>
              <a:bodyPr rot="0" spcFirstLastPara="1" vertOverflow="ellipsis" vert="horz" wrap="square" lIns="38100" tIns="19050" rIns="38100" bIns="19050" anchor="ctr" anchorCtr="1">
                <a:spAutoFit/>
              </a:bodyPr>
              <a:lstStyle/>
              <a:p>
                <a:pPr>
                  <a:defRPr sz="900" b="1" i="0" u="none" strike="noStrike" kern="1200" baseline="0">
                    <a:solidFill>
                      <a:schemeClr val="tx1">
                        <a:lumMod val="75000"/>
                        <a:lumOff val="25000"/>
                      </a:schemeClr>
                    </a:solidFill>
                    <a:latin typeface="Aptos Display"/>
                    <a:ea typeface="Aptos Display"/>
                    <a:cs typeface="Aptos Display"/>
                  </a:defRPr>
                </a:pPr>
                <a:endParaRPr lang="en-US"/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1"/>
                <c15:leaderLines>
                  <c:spPr>
                    <a:ln w="9525" cap="flat" cmpd="sng" algn="ctr">
                      <a:solidFill>
                        <a:schemeClr val="tx1">
                          <a:lumMod val="35000"/>
                          <a:lumOff val="65000"/>
                        </a:schemeClr>
                      </a:solidFill>
                      <a:round/>
                    </a:ln>
                    <a:effectLst/>
                  </c:spPr>
                </c15:leaderLines>
              </c:ext>
            </c:extLst>
          </c:dLbls>
          <c:cat>
            <c:strRef>
              <c:f>Sheet1!$E$2:$E$8</c:f>
              <c:strCache>
                <c:ptCount val="7"/>
                <c:pt idx="0">
                  <c:v>&gt;25% Discount </c:v>
                </c:pt>
                <c:pt idx="1">
                  <c:v>25% Discount </c:v>
                </c:pt>
                <c:pt idx="2">
                  <c:v>20% Discount </c:v>
                </c:pt>
                <c:pt idx="3">
                  <c:v>15% Discount </c:v>
                </c:pt>
                <c:pt idx="4">
                  <c:v>10% Discount </c:v>
                </c:pt>
                <c:pt idx="5">
                  <c:v>5% Discount </c:v>
                </c:pt>
                <c:pt idx="6">
                  <c:v>0% (No Discount)</c:v>
                </c:pt>
              </c:strCache>
            </c:strRef>
          </c:cat>
          <c:val>
            <c:numRef>
              <c:f>Sheet1!G2:G8</c:f>
              <c:numCache>
                <c:formatCode>_ [$₹-4009]\ * #,##0.00_ ;_ [$₹-4009]\ * \-#,##0.00_ ;_ [$₹-4009]\ * "-"??_ ;_ @_ </c:formatCode>
                <c:ptCount val="7"/>
                <c:pt idx="0">
                  <c:v>5.1693409699999995</c:v>
                </c:pt>
                <c:pt idx="1">
                  <c:v>9.9696576099999987</c:v>
                </c:pt>
                <c:pt idx="2">
                  <c:v>19.140877750000001</c:v>
                </c:pt>
                <c:pt idx="3">
                  <c:v>20.530750770000001</c:v>
                </c:pt>
                <c:pt idx="4">
                  <c:v>32.839901739999995</c:v>
                </c:pt>
                <c:pt idx="5">
                  <c:v>33.437186740000001</c:v>
                </c:pt>
                <c:pt idx="6">
                  <c:v>71.895568439999991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D-3C5E-41AF-8D1B-43CC77BFBA4D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gapWidth val="150"/>
        <c:axId val="1984088584"/>
        <c:axId val="88923143"/>
      </c:barChart>
      <c:catAx>
        <c:axId val="1984088584"/>
        <c:scaling>
          <c:orientation val="maxMin"/>
        </c:scaling>
        <c:delete val="0"/>
        <c:axPos val="b"/>
        <c:numFmt formatCode="General" sourceLinked="1"/>
        <c:majorTickMark val="none"/>
        <c:minorTickMark val="none"/>
        <c:tickLblPos val="nextTo"/>
        <c:spPr>
          <a:noFill/>
          <a:ln w="9525" cap="flat" cmpd="sng" algn="ctr">
            <a:solidFill>
              <a:schemeClr val="tx1">
                <a:lumMod val="15000"/>
                <a:lumOff val="85000"/>
              </a:schemeClr>
            </a:solidFill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900" b="1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Aptos Display"/>
                <a:ea typeface="Aptos Display"/>
                <a:cs typeface="Aptos Display"/>
              </a:defRPr>
            </a:pPr>
            <a:endParaRPr lang="en-US"/>
          </a:p>
        </c:txPr>
        <c:crossAx val="88923143"/>
        <c:crosses val="autoZero"/>
        <c:auto val="1"/>
        <c:lblAlgn val="ctr"/>
        <c:lblOffset val="100"/>
        <c:noMultiLvlLbl val="0"/>
      </c:catAx>
      <c:valAx>
        <c:axId val="88923143"/>
        <c:scaling>
          <c:orientation val="minMax"/>
        </c:scaling>
        <c:delete val="1"/>
        <c:axPos val="r"/>
        <c:numFmt formatCode="_ [$₹-4009]\ * #,##0.00_ ;_ [$₹-4009]\ * \-#,##0.00_ ;_ [$₹-4009]\ * &quot;-&quot;??_ ;_ @_ " sourceLinked="1"/>
        <c:majorTickMark val="none"/>
        <c:minorTickMark val="none"/>
        <c:tickLblPos val="nextTo"/>
        <c:crossAx val="198408858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gap"/>
    <c:showDLblsOverMax val="0"/>
  </c:chart>
  <c:spPr>
    <a:noFill/>
    <a:ln>
      <a:noFill/>
    </a:ln>
    <a:effectLst/>
  </c:spPr>
  <c:txPr>
    <a:bodyPr/>
    <a:lstStyle/>
    <a:p>
      <a:pPr>
        <a:defRPr/>
      </a:pPr>
      <a:endParaRPr lang="en-US"/>
    </a:p>
  </c:txPr>
  <c:externalData r:id="rId3">
    <c:autoUpdate val="0"/>
  </c:externalData>
</c:chartSpace>
</file>

<file path=ppt/charts/chart5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autoTitleDeleted val="1"/>
    <c:plotArea>
      <c:layout/>
      <c:pieChart>
        <c:varyColors val="1"/>
        <c:ser>
          <c:idx val="0"/>
          <c:order val="0"/>
          <c:tx>
            <c:strRef>
              <c:f>Sheet1!$H$1</c:f>
              <c:strCache>
                <c:ptCount val="1"/>
                <c:pt idx="0">
                  <c:v>Transactions</c:v>
                </c:pt>
              </c:strCache>
            </c:strRef>
          </c:tx>
          <c:dPt>
            <c:idx val="0"/>
            <c:bubble3D val="0"/>
            <c:spPr>
              <a:solidFill>
                <a:srgbClr val="375623"/>
              </a:solidFill>
              <a:ln w="19050">
                <a:solidFill>
                  <a:schemeClr val="lt1"/>
                </a:solidFill>
              </a:ln>
              <a:effectLst/>
            </c:spPr>
            <c:extLst>
              <c:ext xmlns:c16="http://schemas.microsoft.com/office/drawing/2014/chart" uri="{C3380CC4-5D6E-409C-BE32-E72D297353CC}">
                <c16:uniqueId val="{00000001-BAC5-4DF8-AD5D-6A554338F83A}"/>
              </c:ext>
            </c:extLst>
          </c:dPt>
          <c:dPt>
            <c:idx val="1"/>
            <c:bubble3D val="0"/>
            <c:spPr>
              <a:solidFill>
                <a:srgbClr val="DC2626"/>
              </a:solidFill>
              <a:ln w="19050">
                <a:solidFill>
                  <a:schemeClr val="lt1"/>
                </a:solidFill>
              </a:ln>
              <a:effectLst/>
            </c:spPr>
            <c:extLst>
              <c:ext xmlns:c16="http://schemas.microsoft.com/office/drawing/2014/chart" uri="{C3380CC4-5D6E-409C-BE32-E72D297353CC}">
                <c16:uniqueId val="{00000003-BAC5-4DF8-AD5D-6A554338F83A}"/>
              </c:ext>
            </c:extLst>
          </c:dPt>
          <c:dPt>
            <c:idx val="2"/>
            <c:bubble3D val="0"/>
            <c:spPr>
              <a:solidFill>
                <a:srgbClr val="D97706"/>
              </a:solidFill>
              <a:ln w="19050">
                <a:solidFill>
                  <a:schemeClr val="lt1"/>
                </a:solidFill>
              </a:ln>
              <a:effectLst/>
            </c:spPr>
            <c:extLst>
              <c:ext xmlns:c16="http://schemas.microsoft.com/office/drawing/2014/chart" uri="{C3380CC4-5D6E-409C-BE32-E72D297353CC}">
                <c16:uniqueId val="{00000005-BAC5-4DF8-AD5D-6A554338F83A}"/>
              </c:ext>
            </c:extLst>
          </c:dPt>
          <c:dPt>
            <c:idx val="3"/>
            <c:bubble3D val="0"/>
            <c:spPr>
              <a:solidFill>
                <a:srgbClr val="F59E0B"/>
              </a:solidFill>
              <a:ln w="19050">
                <a:solidFill>
                  <a:schemeClr val="lt1"/>
                </a:solidFill>
              </a:ln>
              <a:effectLst/>
            </c:spPr>
            <c:extLst>
              <c:ext xmlns:c16="http://schemas.microsoft.com/office/drawing/2014/chart" uri="{C3380CC4-5D6E-409C-BE32-E72D297353CC}">
                <c16:uniqueId val="{00000007-BAC5-4DF8-AD5D-6A554338F83A}"/>
              </c:ext>
            </c:extLst>
          </c:dPt>
          <c:dPt>
            <c:idx val="4"/>
            <c:bubble3D val="0"/>
            <c:spPr>
              <a:solidFill>
                <a:srgbClr val="0D9488"/>
              </a:solidFill>
              <a:ln w="19050">
                <a:solidFill>
                  <a:schemeClr val="lt1"/>
                </a:solidFill>
              </a:ln>
              <a:effectLst/>
            </c:spPr>
            <c:extLst>
              <c:ext xmlns:c16="http://schemas.microsoft.com/office/drawing/2014/chart" uri="{C3380CC4-5D6E-409C-BE32-E72D297353CC}">
                <c16:uniqueId val="{00000009-BAC5-4DF8-AD5D-6A554338F83A}"/>
              </c:ext>
            </c:extLst>
          </c:dPt>
          <c:dPt>
            <c:idx val="5"/>
            <c:bubble3D val="0"/>
            <c:spPr>
              <a:solidFill>
                <a:srgbClr val="0284C7"/>
              </a:solidFill>
              <a:ln w="19050">
                <a:solidFill>
                  <a:schemeClr val="lt1"/>
                </a:solidFill>
              </a:ln>
              <a:effectLst/>
            </c:spPr>
            <c:extLst>
              <c:ext xmlns:c16="http://schemas.microsoft.com/office/drawing/2014/chart" uri="{C3380CC4-5D6E-409C-BE32-E72D297353CC}">
                <c16:uniqueId val="{0000000B-BAC5-4DF8-AD5D-6A554338F83A}"/>
              </c:ext>
            </c:extLst>
          </c:dPt>
          <c:dPt>
            <c:idx val="6"/>
            <c:bubble3D val="0"/>
            <c:spPr>
              <a:solidFill>
                <a:srgbClr val="16A34A"/>
              </a:solidFill>
              <a:ln w="19050">
                <a:solidFill>
                  <a:schemeClr val="lt1"/>
                </a:solidFill>
              </a:ln>
              <a:effectLst/>
            </c:spPr>
            <c:extLst>
              <c:ext xmlns:c16="http://schemas.microsoft.com/office/drawing/2014/chart" uri="{C3380CC4-5D6E-409C-BE32-E72D297353CC}">
                <c16:uniqueId val="{0000000D-BAC5-4DF8-AD5D-6A554338F83A}"/>
              </c:ext>
            </c:extLst>
          </c:dPt>
          <c:dLbls>
            <c:dLbl>
              <c:idx val="0"/>
              <c:layout>
                <c:manualLayout>
                  <c:x val="-0.24351531058617673"/>
                  <c:y val="1.1643700787401569E-2"/>
                </c:manualLayout>
              </c:layout>
              <c:tx>
                <c:rich>
                  <a:bodyPr/>
                  <a:lstStyle/>
                  <a:p>
                    <a:r>
                      <a:rPr lang="en-US"/>
                      <a:t>&gt;25% Discount , 310 Txns</a:t>
                    </a:r>
                  </a:p>
                </c:rich>
              </c:tx>
              <c:showLegendKey val="1"/>
              <c:showVal val="1"/>
              <c:showCatName val="1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showDataLabelsRange val="0"/>
                </c:ext>
                <c:ext xmlns:c16="http://schemas.microsoft.com/office/drawing/2014/chart" uri="{C3380CC4-5D6E-409C-BE32-E72D297353CC}">
                  <c16:uniqueId val="{00000001-BAC5-4DF8-AD5D-6A554338F83A}"/>
                </c:ext>
              </c:extLst>
            </c:dLbl>
            <c:dLbl>
              <c:idx val="1"/>
              <c:layout>
                <c:manualLayout>
                  <c:x val="-2.242782152230971E-2"/>
                  <c:y val="4.6365923009623798E-2"/>
                </c:manualLayout>
              </c:layout>
              <c:tx>
                <c:rich>
                  <a:bodyPr/>
                  <a:lstStyle/>
                  <a:p>
                    <a:r>
                      <a:rPr lang="en-US"/>
                      <a:t>25% Discount , 709 Txns</a:t>
                    </a:r>
                  </a:p>
                </c:rich>
              </c:tx>
              <c:showLegendKey val="1"/>
              <c:showVal val="1"/>
              <c:showCatName val="1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showDataLabelsRange val="0"/>
                </c:ext>
                <c:ext xmlns:c16="http://schemas.microsoft.com/office/drawing/2014/chart" uri="{C3380CC4-5D6E-409C-BE32-E72D297353CC}">
                  <c16:uniqueId val="{00000003-BAC5-4DF8-AD5D-6A554338F83A}"/>
                </c:ext>
              </c:extLst>
            </c:dLbl>
            <c:dLbl>
              <c:idx val="2"/>
              <c:layout>
                <c:manualLayout>
                  <c:x val="4.5056430446194125E-2"/>
                  <c:y val="0.1558639545056868"/>
                </c:manualLayout>
              </c:layout>
              <c:tx>
                <c:rich>
                  <a:bodyPr/>
                  <a:lstStyle/>
                  <a:p>
                    <a:r>
                      <a:rPr lang="en-US"/>
                      <a:t>20% Discount , 1,195 Txns</a:t>
                    </a:r>
                  </a:p>
                </c:rich>
              </c:tx>
              <c:showLegendKey val="1"/>
              <c:showVal val="1"/>
              <c:showCatName val="1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showDataLabelsRange val="0"/>
                </c:ext>
                <c:ext xmlns:c16="http://schemas.microsoft.com/office/drawing/2014/chart" uri="{C3380CC4-5D6E-409C-BE32-E72D297353CC}">
                  <c16:uniqueId val="{00000005-BAC5-4DF8-AD5D-6A554338F83A}"/>
                </c:ext>
              </c:extLst>
            </c:dLbl>
            <c:dLbl>
              <c:idx val="3"/>
              <c:layout>
                <c:manualLayout>
                  <c:x val="-1.3790463692038598E-2"/>
                  <c:y val="0.15543307086614172"/>
                </c:manualLayout>
              </c:layout>
              <c:tx>
                <c:rich>
                  <a:bodyPr/>
                  <a:lstStyle/>
                  <a:p>
                    <a:r>
                      <a:rPr lang="en-US"/>
                      <a:t>15% Discount , 1,532 Txns</a:t>
                    </a:r>
                  </a:p>
                </c:rich>
              </c:tx>
              <c:showLegendKey val="1"/>
              <c:showVal val="1"/>
              <c:showCatName val="1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showDataLabelsRange val="0"/>
                </c:ext>
                <c:ext xmlns:c16="http://schemas.microsoft.com/office/drawing/2014/chart" uri="{C3380CC4-5D6E-409C-BE32-E72D297353CC}">
                  <c16:uniqueId val="{00000007-BAC5-4DF8-AD5D-6A554338F83A}"/>
                </c:ext>
              </c:extLst>
            </c:dLbl>
            <c:dLbl>
              <c:idx val="4"/>
              <c:layout>
                <c:manualLayout>
                  <c:x val="-1.4860236220472441E-2"/>
                  <c:y val="3.1376494604840974E-2"/>
                </c:manualLayout>
              </c:layout>
              <c:tx>
                <c:rich>
                  <a:bodyPr/>
                  <a:lstStyle/>
                  <a:p>
                    <a:r>
                      <a:rPr lang="en-US"/>
                      <a:t>10% Discount , 2,274 Txns</a:t>
                    </a:r>
                  </a:p>
                </c:rich>
              </c:tx>
              <c:showLegendKey val="1"/>
              <c:showVal val="1"/>
              <c:showCatName val="1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showDataLabelsRange val="0"/>
                </c:ext>
                <c:ext xmlns:c16="http://schemas.microsoft.com/office/drawing/2014/chart" uri="{C3380CC4-5D6E-409C-BE32-E72D297353CC}">
                  <c16:uniqueId val="{00000009-BAC5-4DF8-AD5D-6A554338F83A}"/>
                </c:ext>
              </c:extLst>
            </c:dLbl>
            <c:dLbl>
              <c:idx val="5"/>
              <c:layout>
                <c:manualLayout>
                  <c:x val="0.19156124234470681"/>
                  <c:y val="-3.4212962962962966E-2"/>
                </c:manualLayout>
              </c:layout>
              <c:tx>
                <c:rich>
                  <a:bodyPr/>
                  <a:lstStyle/>
                  <a:p>
                    <a:r>
                      <a:rPr lang="en-US"/>
                      <a:t>5% Discount , 2,987 Txns</a:t>
                    </a:r>
                  </a:p>
                </c:rich>
              </c:tx>
              <c:showLegendKey val="1"/>
              <c:showVal val="1"/>
              <c:showCatName val="1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showDataLabelsRange val="0"/>
                </c:ext>
                <c:ext xmlns:c16="http://schemas.microsoft.com/office/drawing/2014/chart" uri="{C3380CC4-5D6E-409C-BE32-E72D297353CC}">
                  <c16:uniqueId val="{0000000B-BAC5-4DF8-AD5D-6A554338F83A}"/>
                </c:ext>
              </c:extLst>
            </c:dLbl>
            <c:dLbl>
              <c:idx val="6"/>
              <c:layout>
                <c:manualLayout>
                  <c:x val="-1.6516404199475067E-2"/>
                  <c:y val="0.19401866433362497"/>
                </c:manualLayout>
              </c:layout>
              <c:tx>
                <c:rich>
                  <a:bodyPr/>
                  <a:lstStyle/>
                  <a:p>
                    <a:r>
                      <a:rPr lang="en-US"/>
                      <a:t>0% (No Discount), 5,993 Txns </a:t>
                    </a:r>
                  </a:p>
                </c:rich>
              </c:tx>
              <c:showLegendKey val="1"/>
              <c:showVal val="1"/>
              <c:showCatName val="1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showDataLabelsRange val="0"/>
                </c:ext>
                <c:ext xmlns:c16="http://schemas.microsoft.com/office/drawing/2014/chart" uri="{C3380CC4-5D6E-409C-BE32-E72D297353CC}">
                  <c16:uniqueId val="{0000000D-BAC5-4DF8-AD5D-6A554338F83A}"/>
                </c:ext>
              </c:extLst>
            </c:dLbl>
            <c:spPr>
              <a:noFill/>
              <a:ln>
                <a:noFill/>
              </a:ln>
              <a:effectLst/>
            </c:spPr>
            <c:txPr>
              <a:bodyPr rot="0" spcFirstLastPara="1" vertOverflow="ellipsis" vert="horz" wrap="square" lIns="38100" tIns="19050" rIns="38100" bIns="19050" anchor="ctr" anchorCtr="1">
                <a:spAutoFit/>
              </a:bodyPr>
              <a:lstStyle/>
              <a:p>
                <a:pPr>
                  <a:defRPr sz="900" b="1" i="0" u="none" strike="noStrike" kern="1200" baseline="0">
                    <a:solidFill>
                      <a:schemeClr val="tx1">
                        <a:lumMod val="75000"/>
                        <a:lumOff val="25000"/>
                      </a:schemeClr>
                    </a:solidFill>
                    <a:latin typeface="Aptos Display"/>
                    <a:ea typeface="Aptos Display"/>
                    <a:cs typeface="Aptos Display"/>
                  </a:defRPr>
                </a:pPr>
                <a:endParaRPr lang="en-US"/>
              </a:p>
            </c:txPr>
            <c:showLegendKey val="1"/>
            <c:showVal val="1"/>
            <c:showCatName val="1"/>
            <c:showSerName val="0"/>
            <c:showPercent val="0"/>
            <c:showBubbleSize val="0"/>
            <c:showLeaderLines val="1"/>
            <c:leaderLines>
              <c:spPr>
                <a:ln w="9525" cap="flat" cmpd="sng" algn="ctr">
                  <a:solidFill>
                    <a:schemeClr val="tx1">
                      <a:lumMod val="35000"/>
                      <a:lumOff val="65000"/>
                    </a:schemeClr>
                  </a:solidFill>
                  <a:round/>
                </a:ln>
                <a:effectLst/>
              </c:spPr>
            </c:leaderLines>
            <c:extLst>
              <c:ext xmlns:c15="http://schemas.microsoft.com/office/drawing/2012/chart" uri="{CE6537A1-D6FC-4f65-9D91-7224C49458BB}"/>
            </c:extLst>
          </c:dLbls>
          <c:cat>
            <c:strRef>
              <c:f>Sheet1!$E$2:$E$8</c:f>
              <c:strCache>
                <c:ptCount val="7"/>
                <c:pt idx="0">
                  <c:v>&gt;25% Discount </c:v>
                </c:pt>
                <c:pt idx="1">
                  <c:v>25% Discount </c:v>
                </c:pt>
                <c:pt idx="2">
                  <c:v>20% Discount </c:v>
                </c:pt>
                <c:pt idx="3">
                  <c:v>15% Discount </c:v>
                </c:pt>
                <c:pt idx="4">
                  <c:v>10% Discount </c:v>
                </c:pt>
                <c:pt idx="5">
                  <c:v>5% Discount </c:v>
                </c:pt>
                <c:pt idx="6">
                  <c:v>0% (No Discount)</c:v>
                </c:pt>
              </c:strCache>
            </c:strRef>
          </c:cat>
          <c:val>
            <c:numRef>
              <c:f>Sheet1!$H$2:$H$8</c:f>
              <c:numCache>
                <c:formatCode>General</c:formatCode>
                <c:ptCount val="7"/>
                <c:pt idx="0">
                  <c:v>310</c:v>
                </c:pt>
                <c:pt idx="1">
                  <c:v>709</c:v>
                </c:pt>
                <c:pt idx="2" formatCode="#,##0">
                  <c:v>1195</c:v>
                </c:pt>
                <c:pt idx="3" formatCode="#,##0">
                  <c:v>1532</c:v>
                </c:pt>
                <c:pt idx="4" formatCode="#,##0">
                  <c:v>2274</c:v>
                </c:pt>
                <c:pt idx="5" formatCode="#,##0">
                  <c:v>2987</c:v>
                </c:pt>
                <c:pt idx="6" formatCode="#,##0">
                  <c:v>5993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E-BAC5-4DF8-AD5D-6A554338F83A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  <c:showLeaderLines val="1"/>
        </c:dLbls>
        <c:firstSliceAng val="0"/>
      </c:pieChart>
      <c:spPr>
        <a:noFill/>
        <a:ln>
          <a:noFill/>
        </a:ln>
        <a:effectLst/>
      </c:spPr>
    </c:plotArea>
    <c:plotVisOnly val="1"/>
    <c:dispBlanksAs val="gap"/>
    <c:showDLblsOverMax val="0"/>
  </c:chart>
  <c:spPr>
    <a:noFill/>
    <a:ln>
      <a:noFill/>
    </a:ln>
    <a:effectLst/>
  </c:spPr>
  <c:txPr>
    <a:bodyPr/>
    <a:lstStyle/>
    <a:p>
      <a:pPr>
        <a:defRPr/>
      </a:pPr>
      <a:endParaRPr lang="en-US"/>
    </a:p>
  </c:txPr>
  <c:externalData r:id="rId3">
    <c:autoUpdate val="0"/>
  </c:externalData>
</c:chartSpace>
</file>

<file path=ppt/charts/chart6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title>
      <c:tx>
        <c:rich>
          <a:bodyPr rot="0" spcFirstLastPara="1" vertOverflow="ellipsis" vert="horz" wrap="square" anchor="ctr" anchorCtr="1"/>
          <a:lstStyle/>
          <a:p>
            <a:pPr>
              <a:defRPr sz="1000" b="1" i="0" u="none" strike="noStrike" kern="1200" spc="0" baseline="0">
                <a:solidFill>
                  <a:srgbClr val="548235"/>
                </a:solidFill>
                <a:latin typeface="Mangal"/>
                <a:ea typeface="Mangal"/>
                <a:cs typeface="Mangal"/>
              </a:defRPr>
            </a:pPr>
            <a:r>
              <a:rPr lang="en-US"/>
              <a:t>Top 5 Performing Stores (Revenue &amp; Profit)</a:t>
            </a:r>
          </a:p>
        </c:rich>
      </c:tx>
      <c:layout>
        <c:manualLayout>
          <c:xMode val="edge"/>
          <c:yMode val="edge"/>
          <c:x val="1.053455818022747E-2"/>
          <c:y val="2.7777777777777776E-2"/>
        </c:manualLayout>
      </c:layout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1000" b="1" i="0" u="none" strike="noStrike" kern="1200" spc="0" baseline="0">
              <a:solidFill>
                <a:srgbClr val="548235"/>
              </a:solidFill>
              <a:latin typeface="Mangal"/>
              <a:ea typeface="Mangal"/>
              <a:cs typeface="Mangal"/>
            </a:defRPr>
          </a:pPr>
          <a:endParaRPr lang="en-US"/>
        </a:p>
      </c:txPr>
    </c:title>
    <c:autoTitleDeleted val="0"/>
    <c:plotArea>
      <c:layout/>
      <c:barChart>
        <c:barDir val="bar"/>
        <c:grouping val="stacked"/>
        <c:varyColors val="0"/>
        <c:ser>
          <c:idx val="0"/>
          <c:order val="0"/>
          <c:tx>
            <c:strRef>
              <c:f>Sheet1!$F$11</c:f>
              <c:strCache>
                <c:ptCount val="1"/>
                <c:pt idx="0">
                  <c:v>Net Revenue (₹M)</c:v>
                </c:pt>
              </c:strCache>
            </c:strRef>
          </c:tx>
          <c:spPr>
            <a:solidFill>
              <a:srgbClr val="0A986B"/>
            </a:solidFill>
            <a:ln>
              <a:noFill/>
            </a:ln>
            <a:effectLst/>
          </c:spPr>
          <c:invertIfNegative val="0"/>
          <c:dLbls>
            <c:dLbl>
              <c:idx val="0"/>
              <c:tx>
                <c:rich>
                  <a:bodyPr/>
                  <a:lstStyle/>
                  <a:p>
                    <a:r>
                      <a:rPr lang="en-US"/>
                      <a:t>Revenue: ₹ 4.96 M</a:t>
                    </a:r>
                  </a:p>
                </c:rich>
              </c:tx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showDataLabelsRange val="0"/>
                </c:ext>
                <c:ext xmlns:c16="http://schemas.microsoft.com/office/drawing/2014/chart" uri="{C3380CC4-5D6E-409C-BE32-E72D297353CC}">
                  <c16:uniqueId val="{00000000-3D29-4050-9CFC-D4F96A2207A5}"/>
                </c:ext>
              </c:extLst>
            </c:dLbl>
            <c:dLbl>
              <c:idx val="1"/>
              <c:tx>
                <c:rich>
                  <a:bodyPr/>
                  <a:lstStyle/>
                  <a:p>
                    <a:r>
                      <a:rPr lang="en-US"/>
                      <a:t> Revenue: ₹ 4.74 M</a:t>
                    </a:r>
                  </a:p>
                </c:rich>
              </c:tx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showDataLabelsRange val="0"/>
                </c:ext>
                <c:ext xmlns:c16="http://schemas.microsoft.com/office/drawing/2014/chart" uri="{C3380CC4-5D6E-409C-BE32-E72D297353CC}">
                  <c16:uniqueId val="{00000001-3D29-4050-9CFC-D4F96A2207A5}"/>
                </c:ext>
              </c:extLst>
            </c:dLbl>
            <c:dLbl>
              <c:idx val="2"/>
              <c:tx>
                <c:rich>
                  <a:bodyPr/>
                  <a:lstStyle/>
                  <a:p>
                    <a:r>
                      <a:rPr lang="en-US"/>
                      <a:t> Revenue: ₹ 4.81 M</a:t>
                    </a:r>
                  </a:p>
                </c:rich>
              </c:tx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showDataLabelsRange val="0"/>
                </c:ext>
                <c:ext xmlns:c16="http://schemas.microsoft.com/office/drawing/2014/chart" uri="{C3380CC4-5D6E-409C-BE32-E72D297353CC}">
                  <c16:uniqueId val="{00000002-3D29-4050-9CFC-D4F96A2207A5}"/>
                </c:ext>
              </c:extLst>
            </c:dLbl>
            <c:dLbl>
              <c:idx val="3"/>
              <c:tx>
                <c:rich>
                  <a:bodyPr/>
                  <a:lstStyle/>
                  <a:p>
                    <a:r>
                      <a:rPr lang="en-US"/>
                      <a:t> Revenue: ₹ 4.70 M</a:t>
                    </a:r>
                  </a:p>
                </c:rich>
              </c:tx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showDataLabelsRange val="0"/>
                </c:ext>
                <c:ext xmlns:c16="http://schemas.microsoft.com/office/drawing/2014/chart" uri="{C3380CC4-5D6E-409C-BE32-E72D297353CC}">
                  <c16:uniqueId val="{00000003-3D29-4050-9CFC-D4F96A2207A5}"/>
                </c:ext>
              </c:extLst>
            </c:dLbl>
            <c:dLbl>
              <c:idx val="4"/>
              <c:tx>
                <c:rich>
                  <a:bodyPr/>
                  <a:lstStyle/>
                  <a:p>
                    <a:r>
                      <a:rPr lang="en-US"/>
                      <a:t>Revenue:  ₹ 4.79 M</a:t>
                    </a:r>
                  </a:p>
                </c:rich>
              </c:tx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showDataLabelsRange val="0"/>
                </c:ext>
                <c:ext xmlns:c16="http://schemas.microsoft.com/office/drawing/2014/chart" uri="{C3380CC4-5D6E-409C-BE32-E72D297353CC}">
                  <c16:uniqueId val="{00000004-3D29-4050-9CFC-D4F96A2207A5}"/>
                </c:ext>
              </c:extLst>
            </c:dLbl>
            <c:spPr>
              <a:noFill/>
              <a:ln>
                <a:noFill/>
              </a:ln>
              <a:effectLst/>
            </c:spPr>
            <c:txPr>
              <a:bodyPr rot="0" spcFirstLastPara="1" vertOverflow="ellipsis" vert="horz" wrap="square" lIns="38100" tIns="19050" rIns="38100" bIns="19050" anchor="ctr" anchorCtr="1">
                <a:spAutoFit/>
              </a:bodyPr>
              <a:lstStyle/>
              <a:p>
                <a:pPr>
                  <a:defRPr sz="900" b="1" i="0" u="none" strike="noStrike" kern="1200" baseline="0">
                    <a:solidFill>
                      <a:srgbClr val="FFFFFF"/>
                    </a:solidFill>
                    <a:latin typeface="Aptos Display"/>
                    <a:ea typeface="Aptos Display"/>
                    <a:cs typeface="Aptos Display"/>
                  </a:defRPr>
                </a:pPr>
                <a:endParaRPr lang="en-US"/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1"/>
                <c15:leaderLines>
                  <c:spPr>
                    <a:ln w="9525" cap="flat" cmpd="sng" algn="ctr">
                      <a:solidFill>
                        <a:schemeClr val="tx1">
                          <a:lumMod val="35000"/>
                          <a:lumOff val="65000"/>
                        </a:schemeClr>
                      </a:solidFill>
                      <a:round/>
                    </a:ln>
                    <a:effectLst/>
                  </c:spPr>
                </c15:leaderLines>
              </c:ext>
            </c:extLst>
          </c:dLbls>
          <c:cat>
            <c:strRef>
              <c:f>Sheet1!$E$12:$E$16</c:f>
              <c:strCache>
                <c:ptCount val="5"/>
                <c:pt idx="0">
                  <c:v>STR018</c:v>
                </c:pt>
                <c:pt idx="1">
                  <c:v>STR008</c:v>
                </c:pt>
                <c:pt idx="2">
                  <c:v>STR028</c:v>
                </c:pt>
                <c:pt idx="3">
                  <c:v>STR025</c:v>
                </c:pt>
                <c:pt idx="4">
                  <c:v>STR041</c:v>
                </c:pt>
              </c:strCache>
            </c:strRef>
          </c:cat>
          <c:val>
            <c:numRef>
              <c:f>Sheet1!$F$12:$F$16</c:f>
              <c:numCache>
                <c:formatCode>_ [$₹-4009]\ * #,##0.00_ ;_ [$₹-4009]\ * \-#,##0.00_ ;_ [$₹-4009]\ * "-"??_ ;_ @_ </c:formatCode>
                <c:ptCount val="5"/>
                <c:pt idx="0">
                  <c:v>4.96</c:v>
                </c:pt>
                <c:pt idx="1">
                  <c:v>4.74</c:v>
                </c:pt>
                <c:pt idx="2">
                  <c:v>4.8099999999999996</c:v>
                </c:pt>
                <c:pt idx="3">
                  <c:v>4.7</c:v>
                </c:pt>
                <c:pt idx="4">
                  <c:v>4.79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5-3D29-4050-9CFC-D4F96A2207A5}"/>
            </c:ext>
          </c:extLst>
        </c:ser>
        <c:ser>
          <c:idx val="1"/>
          <c:order val="1"/>
          <c:tx>
            <c:strRef>
              <c:f>Sheet1!$G$11</c:f>
              <c:strCache>
                <c:ptCount val="1"/>
                <c:pt idx="0">
                  <c:v>Net Profit (₹M)</c:v>
                </c:pt>
              </c:strCache>
            </c:strRef>
          </c:tx>
          <c:spPr>
            <a:solidFill>
              <a:srgbClr val="375623"/>
            </a:solidFill>
            <a:ln>
              <a:noFill/>
            </a:ln>
            <a:effectLst/>
          </c:spPr>
          <c:invertIfNegative val="0"/>
          <c:dLbls>
            <c:dLbl>
              <c:idx val="0"/>
              <c:tx>
                <c:rich>
                  <a:bodyPr/>
                  <a:lstStyle/>
                  <a:p>
                    <a:r>
                      <a:rPr lang="en-US"/>
                      <a:t> Profit: ₹ 3.79 M</a:t>
                    </a:r>
                  </a:p>
                </c:rich>
              </c:tx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showDataLabelsRange val="0"/>
                </c:ext>
                <c:ext xmlns:c16="http://schemas.microsoft.com/office/drawing/2014/chart" uri="{C3380CC4-5D6E-409C-BE32-E72D297353CC}">
                  <c16:uniqueId val="{00000006-3D29-4050-9CFC-D4F96A2207A5}"/>
                </c:ext>
              </c:extLst>
            </c:dLbl>
            <c:dLbl>
              <c:idx val="1"/>
              <c:tx>
                <c:rich>
                  <a:bodyPr/>
                  <a:lstStyle/>
                  <a:p>
                    <a:r>
                      <a:rPr lang="en-US"/>
                      <a:t>  Profit: ₹ 3.61 M</a:t>
                    </a:r>
                  </a:p>
                </c:rich>
              </c:tx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showDataLabelsRange val="0"/>
                </c:ext>
                <c:ext xmlns:c16="http://schemas.microsoft.com/office/drawing/2014/chart" uri="{C3380CC4-5D6E-409C-BE32-E72D297353CC}">
                  <c16:uniqueId val="{00000007-3D29-4050-9CFC-D4F96A2207A5}"/>
                </c:ext>
              </c:extLst>
            </c:dLbl>
            <c:dLbl>
              <c:idx val="2"/>
              <c:tx>
                <c:rich>
                  <a:bodyPr/>
                  <a:lstStyle/>
                  <a:p>
                    <a:r>
                      <a:rPr lang="en-US"/>
                      <a:t>  Profit: ₹ 3.60 M</a:t>
                    </a:r>
                  </a:p>
                </c:rich>
              </c:tx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showDataLabelsRange val="0"/>
                </c:ext>
                <c:ext xmlns:c16="http://schemas.microsoft.com/office/drawing/2014/chart" uri="{C3380CC4-5D6E-409C-BE32-E72D297353CC}">
                  <c16:uniqueId val="{00000008-3D29-4050-9CFC-D4F96A2207A5}"/>
                </c:ext>
              </c:extLst>
            </c:dLbl>
            <c:dLbl>
              <c:idx val="3"/>
              <c:tx>
                <c:rich>
                  <a:bodyPr/>
                  <a:lstStyle/>
                  <a:p>
                    <a:r>
                      <a:rPr lang="en-US"/>
                      <a:t>  Profit: ₹ 3.59 M</a:t>
                    </a:r>
                  </a:p>
                </c:rich>
              </c:tx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showDataLabelsRange val="0"/>
                </c:ext>
                <c:ext xmlns:c16="http://schemas.microsoft.com/office/drawing/2014/chart" uri="{C3380CC4-5D6E-409C-BE32-E72D297353CC}">
                  <c16:uniqueId val="{00000009-3D29-4050-9CFC-D4F96A2207A5}"/>
                </c:ext>
              </c:extLst>
            </c:dLbl>
            <c:dLbl>
              <c:idx val="4"/>
              <c:tx>
                <c:rich>
                  <a:bodyPr/>
                  <a:lstStyle/>
                  <a:p>
                    <a:r>
                      <a:rPr lang="en-US"/>
                      <a:t>  Profit: ₹ 3.56 M</a:t>
                    </a:r>
                  </a:p>
                </c:rich>
              </c:tx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showDataLabelsRange val="0"/>
                </c:ext>
                <c:ext xmlns:c16="http://schemas.microsoft.com/office/drawing/2014/chart" uri="{C3380CC4-5D6E-409C-BE32-E72D297353CC}">
                  <c16:uniqueId val="{0000000A-3D29-4050-9CFC-D4F96A2207A5}"/>
                </c:ext>
              </c:extLst>
            </c:dLbl>
            <c:spPr>
              <a:noFill/>
              <a:ln>
                <a:noFill/>
              </a:ln>
              <a:effectLst/>
            </c:spPr>
            <c:txPr>
              <a:bodyPr rot="0" spcFirstLastPara="1" vertOverflow="ellipsis" vert="horz" wrap="square" lIns="38100" tIns="19050" rIns="38100" bIns="19050" anchor="ctr" anchorCtr="1">
                <a:spAutoFit/>
              </a:bodyPr>
              <a:lstStyle/>
              <a:p>
                <a:pPr>
                  <a:defRPr sz="900" b="1" i="0" u="none" strike="noStrike" kern="1200" baseline="0">
                    <a:solidFill>
                      <a:srgbClr val="FFFFFF"/>
                    </a:solidFill>
                    <a:latin typeface="Aptos Display"/>
                    <a:ea typeface="Aptos Display"/>
                    <a:cs typeface="Aptos Display"/>
                  </a:defRPr>
                </a:pPr>
                <a:endParaRPr lang="en-US"/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1"/>
                <c15:leaderLines>
                  <c:spPr>
                    <a:ln w="9525" cap="flat" cmpd="sng" algn="ctr">
                      <a:solidFill>
                        <a:schemeClr val="tx1">
                          <a:lumMod val="35000"/>
                          <a:lumOff val="65000"/>
                        </a:schemeClr>
                      </a:solidFill>
                      <a:round/>
                    </a:ln>
                    <a:effectLst/>
                  </c:spPr>
                </c15:leaderLines>
              </c:ext>
            </c:extLst>
          </c:dLbls>
          <c:cat>
            <c:strRef>
              <c:f>Sheet1!$E$12:$E$16</c:f>
              <c:strCache>
                <c:ptCount val="5"/>
                <c:pt idx="0">
                  <c:v>STR018</c:v>
                </c:pt>
                <c:pt idx="1">
                  <c:v>STR008</c:v>
                </c:pt>
                <c:pt idx="2">
                  <c:v>STR028</c:v>
                </c:pt>
                <c:pt idx="3">
                  <c:v>STR025</c:v>
                </c:pt>
                <c:pt idx="4">
                  <c:v>STR041</c:v>
                </c:pt>
              </c:strCache>
            </c:strRef>
          </c:cat>
          <c:val>
            <c:numRef>
              <c:f>Sheet1!$G$12:$G$16</c:f>
              <c:numCache>
                <c:formatCode>_ [$₹-4009]\ * #,##0.00_ ;_ [$₹-4009]\ * \-#,##0.00_ ;_ [$₹-4009]\ * "-"??_ ;_ @_ </c:formatCode>
                <c:ptCount val="5"/>
                <c:pt idx="0">
                  <c:v>3.79</c:v>
                </c:pt>
                <c:pt idx="1">
                  <c:v>3.61</c:v>
                </c:pt>
                <c:pt idx="2">
                  <c:v>3.6</c:v>
                </c:pt>
                <c:pt idx="3">
                  <c:v>3.59</c:v>
                </c:pt>
                <c:pt idx="4">
                  <c:v>3.56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B-3D29-4050-9CFC-D4F96A2207A5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gapWidth val="36"/>
        <c:overlap val="100"/>
        <c:axId val="363669511"/>
        <c:axId val="363700231"/>
      </c:barChart>
      <c:catAx>
        <c:axId val="363669511"/>
        <c:scaling>
          <c:orientation val="maxMin"/>
        </c:scaling>
        <c:delete val="0"/>
        <c:axPos val="l"/>
        <c:numFmt formatCode="General" sourceLinked="1"/>
        <c:majorTickMark val="none"/>
        <c:minorTickMark val="none"/>
        <c:tickLblPos val="nextTo"/>
        <c:spPr>
          <a:noFill/>
          <a:ln w="9525" cap="flat" cmpd="sng" algn="ctr">
            <a:solidFill>
              <a:schemeClr val="tx1">
                <a:lumMod val="15000"/>
                <a:lumOff val="85000"/>
              </a:schemeClr>
            </a:solidFill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900" b="1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Aptos Display"/>
                <a:ea typeface="Aptos Display"/>
                <a:cs typeface="Aptos Display"/>
              </a:defRPr>
            </a:pPr>
            <a:endParaRPr lang="en-US"/>
          </a:p>
        </c:txPr>
        <c:crossAx val="363700231"/>
        <c:crosses val="autoZero"/>
        <c:auto val="1"/>
        <c:lblAlgn val="ctr"/>
        <c:lblOffset val="100"/>
        <c:noMultiLvlLbl val="0"/>
      </c:catAx>
      <c:valAx>
        <c:axId val="363700231"/>
        <c:scaling>
          <c:orientation val="minMax"/>
        </c:scaling>
        <c:delete val="1"/>
        <c:axPos val="t"/>
        <c:numFmt formatCode="_ [$₹-4009]\ * #,##0.00_ ;_ [$₹-4009]\ * \-#,##0.00_ ;_ [$₹-4009]\ * &quot;-&quot;??_ ;_ @_ " sourceLinked="1"/>
        <c:majorTickMark val="none"/>
        <c:minorTickMark val="none"/>
        <c:tickLblPos val="nextTo"/>
        <c:crossAx val="363669511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gap"/>
    <c:showDLblsOverMax val="0"/>
  </c:chart>
  <c:spPr>
    <a:noFill/>
    <a:ln>
      <a:noFill/>
    </a:ln>
    <a:effectLst/>
  </c:spPr>
  <c:txPr>
    <a:bodyPr/>
    <a:lstStyle/>
    <a:p>
      <a:pPr>
        <a:defRPr/>
      </a:pPr>
      <a:endParaRPr lang="en-US"/>
    </a:p>
  </c:txPr>
  <c:externalData r:id="rId3">
    <c:autoUpdate val="0"/>
  </c:externalData>
</c:chartSpace>
</file>

<file path=ppt/charts/chart7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title>
      <c:tx>
        <c:rich>
          <a:bodyPr rot="0" spcFirstLastPara="1" vertOverflow="ellipsis" vert="horz" wrap="square" anchor="ctr" anchorCtr="1"/>
          <a:lstStyle/>
          <a:p>
            <a:pPr>
              <a:defRPr sz="1000" b="1" i="0" u="none" strike="noStrike" kern="1200" spc="0" baseline="0">
                <a:solidFill>
                  <a:srgbClr val="C65911"/>
                </a:solidFill>
                <a:latin typeface="Mangal"/>
                <a:ea typeface="Mangal"/>
                <a:cs typeface="Mangal"/>
              </a:defRPr>
            </a:pPr>
            <a:r>
              <a:rPr lang="en-US"/>
              <a:t>Bottom 5 Underperforming Stores (Revenue &amp; Profit)</a:t>
            </a:r>
          </a:p>
        </c:rich>
      </c:tx>
      <c:layout>
        <c:manualLayout>
          <c:xMode val="edge"/>
          <c:yMode val="edge"/>
          <c:x val="1.053455818022747E-2"/>
          <c:y val="2.7777777777777776E-2"/>
        </c:manualLayout>
      </c:layout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1000" b="1" i="0" u="none" strike="noStrike" kern="1200" spc="0" baseline="0">
              <a:solidFill>
                <a:srgbClr val="C65911"/>
              </a:solidFill>
              <a:latin typeface="Mangal"/>
              <a:ea typeface="Mangal"/>
              <a:cs typeface="Mangal"/>
            </a:defRPr>
          </a:pPr>
          <a:endParaRPr lang="en-US"/>
        </a:p>
      </c:txPr>
    </c:title>
    <c:autoTitleDeleted val="0"/>
    <c:plotArea>
      <c:layout/>
      <c:barChart>
        <c:barDir val="bar"/>
        <c:grouping val="stacked"/>
        <c:varyColors val="0"/>
        <c:ser>
          <c:idx val="0"/>
          <c:order val="0"/>
          <c:tx>
            <c:strRef>
              <c:f>Sheet1!$F$11</c:f>
              <c:strCache>
                <c:ptCount val="1"/>
                <c:pt idx="0">
                  <c:v>Net Revenue (₹M)</c:v>
                </c:pt>
              </c:strCache>
            </c:strRef>
          </c:tx>
          <c:spPr>
            <a:solidFill>
              <a:srgbClr val="F0960A"/>
            </a:solidFill>
            <a:ln>
              <a:noFill/>
            </a:ln>
            <a:effectLst/>
          </c:spPr>
          <c:invertIfNegative val="0"/>
          <c:dLbls>
            <c:dLbl>
              <c:idx val="0"/>
              <c:tx>
                <c:rich>
                  <a:bodyPr/>
                  <a:lstStyle/>
                  <a:p>
                    <a:r>
                      <a:rPr lang="en-US"/>
                      <a:t> Revenue: ₹ 4.00 M</a:t>
                    </a:r>
                  </a:p>
                </c:rich>
              </c:tx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showDataLabelsRange val="0"/>
                </c:ext>
                <c:ext xmlns:c16="http://schemas.microsoft.com/office/drawing/2014/chart" uri="{C3380CC4-5D6E-409C-BE32-E72D297353CC}">
                  <c16:uniqueId val="{00000000-FA91-4CEE-9451-A5D2BC110074}"/>
                </c:ext>
              </c:extLst>
            </c:dLbl>
            <c:dLbl>
              <c:idx val="1"/>
              <c:tx>
                <c:rich>
                  <a:bodyPr/>
                  <a:lstStyle/>
                  <a:p>
                    <a:r>
                      <a:rPr lang="en-US"/>
                      <a:t> Revenue: ₹ 2.52 M</a:t>
                    </a:r>
                  </a:p>
                </c:rich>
              </c:tx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showDataLabelsRange val="0"/>
                </c:ext>
                <c:ext xmlns:c16="http://schemas.microsoft.com/office/drawing/2014/chart" uri="{C3380CC4-5D6E-409C-BE32-E72D297353CC}">
                  <c16:uniqueId val="{00000001-FA91-4CEE-9451-A5D2BC110074}"/>
                </c:ext>
              </c:extLst>
            </c:dLbl>
            <c:dLbl>
              <c:idx val="2"/>
              <c:tx>
                <c:rich>
                  <a:bodyPr/>
                  <a:lstStyle/>
                  <a:p>
                    <a:r>
                      <a:rPr lang="en-US"/>
                      <a:t> Revenue: ₹ 2.50 M</a:t>
                    </a:r>
                  </a:p>
                </c:rich>
              </c:tx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showDataLabelsRange val="0"/>
                </c:ext>
                <c:ext xmlns:c16="http://schemas.microsoft.com/office/drawing/2014/chart" uri="{C3380CC4-5D6E-409C-BE32-E72D297353CC}">
                  <c16:uniqueId val="{00000002-FA91-4CEE-9451-A5D2BC110074}"/>
                </c:ext>
              </c:extLst>
            </c:dLbl>
            <c:dLbl>
              <c:idx val="3"/>
              <c:tx>
                <c:rich>
                  <a:bodyPr/>
                  <a:lstStyle/>
                  <a:p>
                    <a:r>
                      <a:rPr lang="en-US"/>
                      <a:t>  Revenue: ₹ 2.40 M</a:t>
                    </a:r>
                  </a:p>
                </c:rich>
              </c:tx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showDataLabelsRange val="0"/>
                </c:ext>
                <c:ext xmlns:c16="http://schemas.microsoft.com/office/drawing/2014/chart" uri="{C3380CC4-5D6E-409C-BE32-E72D297353CC}">
                  <c16:uniqueId val="{00000003-FA91-4CEE-9451-A5D2BC110074}"/>
                </c:ext>
              </c:extLst>
            </c:dLbl>
            <c:dLbl>
              <c:idx val="4"/>
              <c:tx>
                <c:rich>
                  <a:bodyPr/>
                  <a:lstStyle/>
                  <a:p>
                    <a:r>
                      <a:rPr lang="en-US"/>
                      <a:t> Revenue: ₹ 2.26 M</a:t>
                    </a:r>
                  </a:p>
                </c:rich>
              </c:tx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showDataLabelsRange val="0"/>
                </c:ext>
                <c:ext xmlns:c16="http://schemas.microsoft.com/office/drawing/2014/chart" uri="{C3380CC4-5D6E-409C-BE32-E72D297353CC}">
                  <c16:uniqueId val="{00000004-FA91-4CEE-9451-A5D2BC110074}"/>
                </c:ext>
              </c:extLst>
            </c:dLbl>
            <c:spPr>
              <a:noFill/>
              <a:ln>
                <a:noFill/>
              </a:ln>
              <a:effectLst/>
            </c:spPr>
            <c:txPr>
              <a:bodyPr rot="0" spcFirstLastPara="1" vertOverflow="ellipsis" vert="horz" wrap="square" lIns="38100" tIns="19050" rIns="38100" bIns="19050" anchor="ctr" anchorCtr="1">
                <a:spAutoFit/>
              </a:bodyPr>
              <a:lstStyle/>
              <a:p>
                <a:pPr>
                  <a:defRPr sz="900" b="1" i="0" u="none" strike="noStrike" kern="1200" baseline="0">
                    <a:solidFill>
                      <a:srgbClr val="FFFFFF"/>
                    </a:solidFill>
                    <a:latin typeface="Aptos Display"/>
                    <a:ea typeface="Aptos Display"/>
                    <a:cs typeface="Aptos Display"/>
                  </a:defRPr>
                </a:pPr>
                <a:endParaRPr lang="en-US"/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1"/>
                <c15:leaderLines>
                  <c:spPr>
                    <a:ln w="9525" cap="flat" cmpd="sng" algn="ctr">
                      <a:solidFill>
                        <a:schemeClr val="tx1">
                          <a:lumMod val="35000"/>
                          <a:lumOff val="65000"/>
                        </a:schemeClr>
                      </a:solidFill>
                      <a:round/>
                    </a:ln>
                    <a:effectLst/>
                  </c:spPr>
                </c15:leaderLines>
              </c:ext>
            </c:extLst>
          </c:dLbls>
          <c:cat>
            <c:strRef>
              <c:f>Sheet1!$E$19:$E$23</c:f>
              <c:strCache>
                <c:ptCount val="5"/>
                <c:pt idx="0">
                  <c:v>STR001</c:v>
                </c:pt>
                <c:pt idx="1">
                  <c:v>STR015</c:v>
                </c:pt>
                <c:pt idx="2">
                  <c:v>STR042</c:v>
                </c:pt>
                <c:pt idx="3">
                  <c:v>STR023</c:v>
                </c:pt>
                <c:pt idx="4">
                  <c:v>STR037</c:v>
                </c:pt>
              </c:strCache>
            </c:strRef>
          </c:cat>
          <c:val>
            <c:numRef>
              <c:f>Sheet1!$F$19:$F$23</c:f>
              <c:numCache>
                <c:formatCode>_ [$₹-4009]\ * #,##0.00_ ;_ [$₹-4009]\ * \-#,##0.00_ ;_ [$₹-4009]\ * "-"??_ ;_ @_ </c:formatCode>
                <c:ptCount val="5"/>
                <c:pt idx="0">
                  <c:v>4</c:v>
                </c:pt>
                <c:pt idx="1">
                  <c:v>2.52</c:v>
                </c:pt>
                <c:pt idx="2">
                  <c:v>2.5</c:v>
                </c:pt>
                <c:pt idx="3">
                  <c:v>2.4</c:v>
                </c:pt>
                <c:pt idx="4">
                  <c:v>2.2599999999999998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5-FA91-4CEE-9451-A5D2BC110074}"/>
            </c:ext>
          </c:extLst>
        </c:ser>
        <c:ser>
          <c:idx val="1"/>
          <c:order val="1"/>
          <c:tx>
            <c:strRef>
              <c:f>Sheet1!$G$11</c:f>
              <c:strCache>
                <c:ptCount val="1"/>
                <c:pt idx="0">
                  <c:v>Net Profit (₹M)</c:v>
                </c:pt>
              </c:strCache>
            </c:strRef>
          </c:tx>
          <c:spPr>
            <a:solidFill>
              <a:srgbClr val="E03D3D"/>
            </a:solidFill>
            <a:ln>
              <a:noFill/>
            </a:ln>
            <a:effectLst/>
          </c:spPr>
          <c:invertIfNegative val="0"/>
          <c:dLbls>
            <c:dLbl>
              <c:idx val="0"/>
              <c:tx>
                <c:rich>
                  <a:bodyPr/>
                  <a:lstStyle/>
                  <a:p>
                    <a:r>
                      <a:rPr lang="en-US"/>
                      <a:t> Profit: ₹ 2.89 M</a:t>
                    </a:r>
                  </a:p>
                </c:rich>
              </c:tx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showDataLabelsRange val="0"/>
                </c:ext>
                <c:ext xmlns:c16="http://schemas.microsoft.com/office/drawing/2014/chart" uri="{C3380CC4-5D6E-409C-BE32-E72D297353CC}">
                  <c16:uniqueId val="{00000006-FA91-4CEE-9451-A5D2BC110074}"/>
                </c:ext>
              </c:extLst>
            </c:dLbl>
            <c:dLbl>
              <c:idx val="1"/>
              <c:tx>
                <c:rich>
                  <a:bodyPr/>
                  <a:lstStyle/>
                  <a:p>
                    <a:r>
                      <a:rPr lang="en-US"/>
                      <a:t>  Profit: ₹ 1.89 </a:t>
                    </a:r>
                  </a:p>
                </c:rich>
              </c:tx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showDataLabelsRange val="0"/>
                </c:ext>
                <c:ext xmlns:c16="http://schemas.microsoft.com/office/drawing/2014/chart" uri="{C3380CC4-5D6E-409C-BE32-E72D297353CC}">
                  <c16:uniqueId val="{00000007-FA91-4CEE-9451-A5D2BC110074}"/>
                </c:ext>
              </c:extLst>
            </c:dLbl>
            <c:dLbl>
              <c:idx val="2"/>
              <c:tx>
                <c:rich>
                  <a:bodyPr/>
                  <a:lstStyle/>
                  <a:p>
                    <a:r>
                      <a:rPr lang="en-US"/>
                      <a:t>  Profit: ₹ 1.86 </a:t>
                    </a:r>
                  </a:p>
                </c:rich>
              </c:tx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showDataLabelsRange val="0"/>
                </c:ext>
                <c:ext xmlns:c16="http://schemas.microsoft.com/office/drawing/2014/chart" uri="{C3380CC4-5D6E-409C-BE32-E72D297353CC}">
                  <c16:uniqueId val="{00000008-FA91-4CEE-9451-A5D2BC110074}"/>
                </c:ext>
              </c:extLst>
            </c:dLbl>
            <c:dLbl>
              <c:idx val="3"/>
              <c:layout>
                <c:manualLayout>
                  <c:x val="-5.0925337632079971E-17"/>
                  <c:y val="3.4725867599884196E-3"/>
                </c:manualLayout>
              </c:layout>
              <c:tx>
                <c:rich>
                  <a:bodyPr/>
                  <a:lstStyle/>
                  <a:p>
                    <a:r>
                      <a:rPr lang="en-US"/>
                      <a:t> Profit: ₹ 1.83 </a:t>
                    </a:r>
                  </a:p>
                </c:rich>
              </c:tx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showDataLabelsRange val="0"/>
                </c:ext>
                <c:ext xmlns:c16="http://schemas.microsoft.com/office/drawing/2014/chart" uri="{C3380CC4-5D6E-409C-BE32-E72D297353CC}">
                  <c16:uniqueId val="{00000009-FA91-4CEE-9451-A5D2BC110074}"/>
                </c:ext>
              </c:extLst>
            </c:dLbl>
            <c:dLbl>
              <c:idx val="4"/>
              <c:tx>
                <c:rich>
                  <a:bodyPr/>
                  <a:lstStyle/>
                  <a:p>
                    <a:r>
                      <a:rPr lang="en-US"/>
                      <a:t> Profit: ₹ 1.70 </a:t>
                    </a:r>
                  </a:p>
                </c:rich>
              </c:tx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showDataLabelsRange val="0"/>
                </c:ext>
                <c:ext xmlns:c16="http://schemas.microsoft.com/office/drawing/2014/chart" uri="{C3380CC4-5D6E-409C-BE32-E72D297353CC}">
                  <c16:uniqueId val="{0000000A-FA91-4CEE-9451-A5D2BC110074}"/>
                </c:ext>
              </c:extLst>
            </c:dLbl>
            <c:spPr>
              <a:noFill/>
              <a:ln>
                <a:noFill/>
              </a:ln>
              <a:effectLst/>
            </c:spPr>
            <c:txPr>
              <a:bodyPr rot="0" spcFirstLastPara="1" vertOverflow="ellipsis" vert="horz" wrap="square" lIns="38100" tIns="19050" rIns="38100" bIns="19050" anchor="ctr" anchorCtr="1">
                <a:spAutoFit/>
              </a:bodyPr>
              <a:lstStyle/>
              <a:p>
                <a:pPr>
                  <a:defRPr sz="900" b="1" i="0" u="none" strike="noStrike" kern="1200" baseline="0">
                    <a:solidFill>
                      <a:srgbClr val="FFFFFF"/>
                    </a:solidFill>
                    <a:latin typeface="Aptos Display"/>
                    <a:ea typeface="Aptos Display"/>
                    <a:cs typeface="Aptos Display"/>
                  </a:defRPr>
                </a:pPr>
                <a:endParaRPr lang="en-US"/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1"/>
                <c15:leaderLines>
                  <c:spPr>
                    <a:ln w="9525" cap="flat" cmpd="sng" algn="ctr">
                      <a:solidFill>
                        <a:schemeClr val="tx1">
                          <a:lumMod val="35000"/>
                          <a:lumOff val="65000"/>
                        </a:schemeClr>
                      </a:solidFill>
                      <a:round/>
                    </a:ln>
                    <a:effectLst/>
                  </c:spPr>
                </c15:leaderLines>
              </c:ext>
            </c:extLst>
          </c:dLbls>
          <c:cat>
            <c:strRef>
              <c:f>Sheet1!$E$19:$E$23</c:f>
              <c:strCache>
                <c:ptCount val="5"/>
                <c:pt idx="0">
                  <c:v>STR001</c:v>
                </c:pt>
                <c:pt idx="1">
                  <c:v>STR015</c:v>
                </c:pt>
                <c:pt idx="2">
                  <c:v>STR042</c:v>
                </c:pt>
                <c:pt idx="3">
                  <c:v>STR023</c:v>
                </c:pt>
                <c:pt idx="4">
                  <c:v>STR037</c:v>
                </c:pt>
              </c:strCache>
            </c:strRef>
          </c:cat>
          <c:val>
            <c:numRef>
              <c:f>Sheet1!$G$19:$G$23</c:f>
              <c:numCache>
                <c:formatCode>_ [$₹-4009]\ * #,##0.00_ ;_ [$₹-4009]\ * \-#,##0.00_ ;_ [$₹-4009]\ * "-"??_ ;_ @_ </c:formatCode>
                <c:ptCount val="5"/>
                <c:pt idx="0">
                  <c:v>2.89</c:v>
                </c:pt>
                <c:pt idx="1">
                  <c:v>1.89</c:v>
                </c:pt>
                <c:pt idx="2">
                  <c:v>1.86</c:v>
                </c:pt>
                <c:pt idx="3">
                  <c:v>1.83</c:v>
                </c:pt>
                <c:pt idx="4">
                  <c:v>1.7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B-FA91-4CEE-9451-A5D2BC110074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gapWidth val="36"/>
        <c:overlap val="100"/>
        <c:axId val="363669511"/>
        <c:axId val="363700231"/>
      </c:barChart>
      <c:catAx>
        <c:axId val="363669511"/>
        <c:scaling>
          <c:orientation val="maxMin"/>
        </c:scaling>
        <c:delete val="0"/>
        <c:axPos val="l"/>
        <c:numFmt formatCode="General" sourceLinked="1"/>
        <c:majorTickMark val="none"/>
        <c:minorTickMark val="none"/>
        <c:tickLblPos val="nextTo"/>
        <c:spPr>
          <a:noFill/>
          <a:ln w="9525" cap="flat" cmpd="sng" algn="ctr">
            <a:solidFill>
              <a:schemeClr val="tx1">
                <a:lumMod val="15000"/>
                <a:lumOff val="85000"/>
              </a:schemeClr>
            </a:solidFill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900" b="1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Aptos Display"/>
                <a:ea typeface="Aptos Display"/>
                <a:cs typeface="Aptos Display"/>
              </a:defRPr>
            </a:pPr>
            <a:endParaRPr lang="en-US"/>
          </a:p>
        </c:txPr>
        <c:crossAx val="363700231"/>
        <c:crosses val="autoZero"/>
        <c:auto val="1"/>
        <c:lblAlgn val="ctr"/>
        <c:lblOffset val="100"/>
        <c:noMultiLvlLbl val="0"/>
      </c:catAx>
      <c:valAx>
        <c:axId val="363700231"/>
        <c:scaling>
          <c:orientation val="minMax"/>
        </c:scaling>
        <c:delete val="1"/>
        <c:axPos val="t"/>
        <c:numFmt formatCode="_ [$₹-4009]\ * #,##0.00_ ;_ [$₹-4009]\ * \-#,##0.00_ ;_ [$₹-4009]\ * &quot;-&quot;??_ ;_ @_ " sourceLinked="1"/>
        <c:majorTickMark val="none"/>
        <c:minorTickMark val="none"/>
        <c:tickLblPos val="nextTo"/>
        <c:crossAx val="363669511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gap"/>
    <c:showDLblsOverMax val="0"/>
  </c:chart>
  <c:spPr>
    <a:noFill/>
    <a:ln>
      <a:noFill/>
    </a:ln>
    <a:effectLst/>
  </c:spPr>
  <c:txPr>
    <a:bodyPr/>
    <a:lstStyle/>
    <a:p>
      <a:pPr>
        <a:defRPr/>
      </a:pPr>
      <a:endParaRPr lang="en-US"/>
    </a:p>
  </c:txPr>
  <c:externalData r:id="rId3">
    <c:autoUpdate val="0"/>
  </c:externalData>
</c:chartSpace>
</file>

<file path=ppt/charts/chart8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title>
      <c:tx>
        <c:rich>
          <a:bodyPr rot="0" spcFirstLastPara="1" vertOverflow="ellipsis" vert="horz" wrap="square" anchor="ctr" anchorCtr="1"/>
          <a:lstStyle/>
          <a:p>
            <a:pPr>
              <a:defRPr sz="1200" b="1" i="0" u="none" strike="noStrike" kern="1200" spc="0" baseline="0">
                <a:solidFill>
                  <a:srgbClr val="000000"/>
                </a:solidFill>
                <a:latin typeface="Aptos Display"/>
                <a:ea typeface="Aptos Display"/>
                <a:cs typeface="Aptos Display"/>
              </a:defRPr>
            </a:pPr>
            <a:r>
              <a:rPr lang="en-US"/>
              <a:t>Payment Mode Revenue Share</a:t>
            </a:r>
          </a:p>
        </c:rich>
      </c:tx>
      <c:layout>
        <c:manualLayout>
          <c:xMode val="edge"/>
          <c:yMode val="edge"/>
          <c:x val="1.224999999999999E-2"/>
          <c:y val="3.125E-2"/>
        </c:manualLayout>
      </c:layout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1200" b="1" i="0" u="none" strike="noStrike" kern="1200" spc="0" baseline="0">
              <a:solidFill>
                <a:srgbClr val="000000"/>
              </a:solidFill>
              <a:latin typeface="Aptos Display"/>
              <a:ea typeface="Aptos Display"/>
              <a:cs typeface="Aptos Display"/>
            </a:defRPr>
          </a:pPr>
          <a:endParaRPr lang="en-US"/>
        </a:p>
      </c:txPr>
    </c:title>
    <c:autoTitleDeleted val="0"/>
    <c:plotArea>
      <c:layout/>
      <c:pieChart>
        <c:varyColors val="1"/>
        <c:ser>
          <c:idx val="0"/>
          <c:order val="0"/>
          <c:tx>
            <c:strRef>
              <c:f>Sheet1!$F$25</c:f>
              <c:strCache>
                <c:ptCount val="1"/>
                <c:pt idx="0">
                  <c:v>Net Revenue</c:v>
                </c:pt>
              </c:strCache>
            </c:strRef>
          </c:tx>
          <c:spPr>
            <a:ln w="25400">
              <a:noFill/>
            </a:ln>
          </c:spPr>
          <c:dPt>
            <c:idx val="0"/>
            <c:bubble3D val="0"/>
            <c:spPr>
              <a:solidFill>
                <a:srgbClr val="10B981"/>
              </a:solidFill>
              <a:ln w="25400">
                <a:noFill/>
              </a:ln>
              <a:effectLst/>
            </c:spPr>
            <c:extLst>
              <c:ext xmlns:c16="http://schemas.microsoft.com/office/drawing/2014/chart" uri="{C3380CC4-5D6E-409C-BE32-E72D297353CC}">
                <c16:uniqueId val="{00000001-20F4-4C16-92ED-B4522D3DBEE5}"/>
              </c:ext>
            </c:extLst>
          </c:dPt>
          <c:dPt>
            <c:idx val="1"/>
            <c:bubble3D val="0"/>
            <c:spPr>
              <a:solidFill>
                <a:srgbClr val="4472C4"/>
              </a:solidFill>
              <a:ln w="25400">
                <a:noFill/>
              </a:ln>
              <a:effectLst/>
            </c:spPr>
            <c:extLst>
              <c:ext xmlns:c16="http://schemas.microsoft.com/office/drawing/2014/chart" uri="{C3380CC4-5D6E-409C-BE32-E72D297353CC}">
                <c16:uniqueId val="{00000003-20F4-4C16-92ED-B4522D3DBEE5}"/>
              </c:ext>
            </c:extLst>
          </c:dPt>
          <c:dPt>
            <c:idx val="2"/>
            <c:bubble3D val="0"/>
            <c:spPr>
              <a:solidFill>
                <a:srgbClr val="F59E0B"/>
              </a:solidFill>
              <a:ln w="25400">
                <a:noFill/>
              </a:ln>
              <a:effectLst/>
            </c:spPr>
            <c:extLst>
              <c:ext xmlns:c16="http://schemas.microsoft.com/office/drawing/2014/chart" uri="{C3380CC4-5D6E-409C-BE32-E72D297353CC}">
                <c16:uniqueId val="{00000005-20F4-4C16-92ED-B4522D3DBEE5}"/>
              </c:ext>
            </c:extLst>
          </c:dPt>
          <c:dLbls>
            <c:dLbl>
              <c:idx val="0"/>
              <c:layout>
                <c:manualLayout>
                  <c:x val="3.1351268591425972E-2"/>
                  <c:y val="-7.4311388159813363E-2"/>
                </c:manualLayout>
              </c:layout>
              <c:tx>
                <c:rich>
                  <a:bodyPr/>
                  <a:lstStyle/>
                  <a:p>
                    <a:r>
                      <a:rPr lang="en-US"/>
                      <a:t>Card (39.7% Share)</a:t>
                    </a:r>
                  </a:p>
                </c:rich>
              </c:tx>
              <c:showLegendKey val="0"/>
              <c:showVal val="0"/>
              <c:showCatName val="1"/>
              <c:showSerName val="0"/>
              <c:showPercent val="1"/>
              <c:showBubbleSize val="0"/>
              <c:extLst>
                <c:ext xmlns:c15="http://schemas.microsoft.com/office/drawing/2012/chart" uri="{CE6537A1-D6FC-4f65-9D91-7224C49458BB}">
                  <c15:showDataLabelsRange val="0"/>
                </c:ext>
                <c:ext xmlns:c16="http://schemas.microsoft.com/office/drawing/2014/chart" uri="{C3380CC4-5D6E-409C-BE32-E72D297353CC}">
                  <c16:uniqueId val="{00000001-20F4-4C16-92ED-B4522D3DBEE5}"/>
                </c:ext>
              </c:extLst>
            </c:dLbl>
            <c:dLbl>
              <c:idx val="1"/>
              <c:layout>
                <c:manualLayout>
                  <c:x val="-0.12372856517935259"/>
                  <c:y val="-0.1123377806940799"/>
                </c:manualLayout>
              </c:layout>
              <c:tx>
                <c:rich>
                  <a:bodyPr/>
                  <a:lstStyle/>
                  <a:p>
                    <a:r>
                      <a:rPr lang="en-US"/>
                      <a:t>Cash (30.5% Share)</a:t>
                    </a:r>
                  </a:p>
                </c:rich>
              </c:tx>
              <c:showLegendKey val="0"/>
              <c:showVal val="0"/>
              <c:showCatName val="1"/>
              <c:showSerName val="0"/>
              <c:showPercent val="1"/>
              <c:showBubbleSize val="0"/>
              <c:extLst>
                <c:ext xmlns:c15="http://schemas.microsoft.com/office/drawing/2012/chart" uri="{CE6537A1-D6FC-4f65-9D91-7224C49458BB}">
                  <c15:showDataLabelsRange val="0"/>
                </c:ext>
                <c:ext xmlns:c16="http://schemas.microsoft.com/office/drawing/2014/chart" uri="{C3380CC4-5D6E-409C-BE32-E72D297353CC}">
                  <c16:uniqueId val="{00000003-20F4-4C16-92ED-B4522D3DBEE5}"/>
                </c:ext>
              </c:extLst>
            </c:dLbl>
            <c:dLbl>
              <c:idx val="2"/>
              <c:layout>
                <c:manualLayout>
                  <c:x val="-5.8835083114610685E-2"/>
                  <c:y val="0.15136847477398657"/>
                </c:manualLayout>
              </c:layout>
              <c:tx>
                <c:rich>
                  <a:bodyPr/>
                  <a:lstStyle/>
                  <a:p>
                    <a:r>
                      <a:rPr lang="en-US"/>
                      <a:t>Digital/UPI (29.8% Share)</a:t>
                    </a:r>
                  </a:p>
                </c:rich>
              </c:tx>
              <c:showLegendKey val="0"/>
              <c:showVal val="0"/>
              <c:showCatName val="1"/>
              <c:showSerName val="0"/>
              <c:showPercent val="1"/>
              <c:showBubbleSize val="0"/>
              <c:extLst>
                <c:ext xmlns:c15="http://schemas.microsoft.com/office/drawing/2012/chart" uri="{CE6537A1-D6FC-4f65-9D91-7224C49458BB}">
                  <c15:showDataLabelsRange val="0"/>
                </c:ext>
                <c:ext xmlns:c16="http://schemas.microsoft.com/office/drawing/2014/chart" uri="{C3380CC4-5D6E-409C-BE32-E72D297353CC}">
                  <c16:uniqueId val="{00000005-20F4-4C16-92ED-B4522D3DBEE5}"/>
                </c:ext>
              </c:extLst>
            </c:dLbl>
            <c:spPr>
              <a:noFill/>
              <a:ln>
                <a:noFill/>
              </a:ln>
              <a:effectLst/>
            </c:spPr>
            <c:txPr>
              <a:bodyPr rot="0" spcFirstLastPara="1" vertOverflow="ellipsis" vert="horz" wrap="square" lIns="38100" tIns="19050" rIns="38100" bIns="19050" anchor="ctr" anchorCtr="1">
                <a:spAutoFit/>
              </a:bodyPr>
              <a:lstStyle/>
              <a:p>
                <a:pPr>
                  <a:defRPr sz="900" b="1" i="0" u="none" strike="noStrike" kern="1200" baseline="0">
                    <a:solidFill>
                      <a:srgbClr val="262626"/>
                    </a:solidFill>
                    <a:latin typeface="Aptos Display"/>
                    <a:ea typeface="Aptos Display"/>
                    <a:cs typeface="Aptos Display"/>
                  </a:defRPr>
                </a:pPr>
                <a:endParaRPr lang="en-US"/>
              </a:p>
            </c:txPr>
            <c:showLegendKey val="0"/>
            <c:showVal val="0"/>
            <c:showCatName val="1"/>
            <c:showSerName val="0"/>
            <c:showPercent val="1"/>
            <c:showBubbleSize val="0"/>
            <c:showLeaderLines val="1"/>
            <c:leaderLines>
              <c:spPr>
                <a:ln w="9525" cap="flat" cmpd="sng" algn="ctr">
                  <a:solidFill>
                    <a:schemeClr val="tx1">
                      <a:lumMod val="35000"/>
                      <a:lumOff val="65000"/>
                    </a:schemeClr>
                  </a:solidFill>
                  <a:round/>
                </a:ln>
                <a:effectLst/>
              </c:spPr>
            </c:leaderLines>
            <c:extLst>
              <c:ext xmlns:c15="http://schemas.microsoft.com/office/drawing/2012/chart" uri="{CE6537A1-D6FC-4f65-9D91-7224C49458BB}"/>
            </c:extLst>
          </c:dLbls>
          <c:cat>
            <c:strRef>
              <c:f>Sheet1!$E$26:$E$28</c:f>
              <c:strCache>
                <c:ptCount val="3"/>
                <c:pt idx="0">
                  <c:v>Card</c:v>
                </c:pt>
                <c:pt idx="1">
                  <c:v>Cash</c:v>
                </c:pt>
                <c:pt idx="2">
                  <c:v>Digital</c:v>
                </c:pt>
              </c:strCache>
            </c:strRef>
          </c:cat>
          <c:val>
            <c:numRef>
              <c:f>Sheet1!$F$26:$F$28</c:f>
              <c:numCache>
                <c:formatCode>_ [$₹-4009]\ * #,##0.00_ ;_ [$₹-4009]\ * \-#,##0.00_ ;_ [$₹-4009]\ * "-"??_ ;_ @_ </c:formatCode>
                <c:ptCount val="3"/>
                <c:pt idx="0">
                  <c:v>76546456.519999996</c:v>
                </c:pt>
                <c:pt idx="1">
                  <c:v>58911161.030000001</c:v>
                </c:pt>
                <c:pt idx="2">
                  <c:v>57525666.469999999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6-20F4-4C16-92ED-B4522D3DBEE5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  <c:showLeaderLines val="1"/>
        </c:dLbls>
        <c:firstSliceAng val="0"/>
      </c:pieChart>
      <c:spPr>
        <a:noFill/>
        <a:ln>
          <a:noFill/>
        </a:ln>
        <a:effectLst/>
      </c:spPr>
    </c:plotArea>
    <c:plotVisOnly val="1"/>
    <c:dispBlanksAs val="gap"/>
    <c:showDLblsOverMax val="0"/>
  </c:chart>
  <c:spPr>
    <a:noFill/>
    <a:ln>
      <a:noFill/>
    </a:ln>
    <a:effectLst/>
  </c:spPr>
  <c:txPr>
    <a:bodyPr/>
    <a:lstStyle/>
    <a:p>
      <a:pPr>
        <a:defRPr/>
      </a:pPr>
      <a:endParaRPr lang="en-US"/>
    </a:p>
  </c:txPr>
  <c:externalData r:id="rId3">
    <c:autoUpdate val="0"/>
  </c:externalData>
</c:chartSpace>
</file>

<file path=ppt/charts/chart9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title>
      <c:tx>
        <c:rich>
          <a:bodyPr rot="0" spcFirstLastPara="1" vertOverflow="ellipsis" vert="horz" wrap="square" anchor="ctr" anchorCtr="1"/>
          <a:lstStyle/>
          <a:p>
            <a:pPr>
              <a:defRPr sz="1200" b="1" i="0" u="none" strike="noStrike" kern="1200" spc="0" baseline="0">
                <a:solidFill>
                  <a:srgbClr val="000000"/>
                </a:solidFill>
                <a:latin typeface="Aptos Display"/>
                <a:ea typeface="Aptos Display"/>
                <a:cs typeface="Aptos Display"/>
              </a:defRPr>
            </a:pPr>
            <a:r>
              <a:rPr lang="en-US"/>
              <a:t>Unit Sold by Category</a:t>
            </a:r>
          </a:p>
        </c:rich>
      </c:tx>
      <c:layout>
        <c:manualLayout>
          <c:xMode val="edge"/>
          <c:yMode val="edge"/>
          <c:x val="1.9506780402449703E-2"/>
          <c:y val="2.9268292682926831E-2"/>
        </c:manualLayout>
      </c:layout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1200" b="1" i="0" u="none" strike="noStrike" kern="1200" spc="0" baseline="0">
              <a:solidFill>
                <a:srgbClr val="000000"/>
              </a:solidFill>
              <a:latin typeface="Aptos Display"/>
              <a:ea typeface="Aptos Display"/>
              <a:cs typeface="Aptos Display"/>
            </a:defRPr>
          </a:pPr>
          <a:endParaRPr lang="en-US"/>
        </a:p>
      </c:txPr>
    </c:title>
    <c:autoTitleDeleted val="0"/>
    <c:plotArea>
      <c:layout/>
      <c:barChart>
        <c:barDir val="bar"/>
        <c:grouping val="stacked"/>
        <c:varyColors val="0"/>
        <c:ser>
          <c:idx val="0"/>
          <c:order val="0"/>
          <c:tx>
            <c:strRef>
              <c:f>Sheet1!$C$8</c:f>
              <c:strCache>
                <c:ptCount val="1"/>
                <c:pt idx="0">
                  <c:v>Unit Sold</c:v>
                </c:pt>
              </c:strCache>
            </c:strRef>
          </c:tx>
          <c:spPr>
            <a:solidFill>
              <a:schemeClr val="accent1"/>
            </a:solidFill>
            <a:ln>
              <a:noFill/>
            </a:ln>
            <a:effectLst/>
          </c:spPr>
          <c:invertIfNegative val="0"/>
          <c:dPt>
            <c:idx val="0"/>
            <c:invertIfNegative val="0"/>
            <c:bubble3D val="0"/>
            <c:spPr>
              <a:solidFill>
                <a:srgbClr val="F59E0B"/>
              </a:solidFill>
              <a:ln>
                <a:noFill/>
              </a:ln>
              <a:effectLst/>
            </c:spPr>
            <c:extLst>
              <c:ext xmlns:c16="http://schemas.microsoft.com/office/drawing/2014/chart" uri="{C3380CC4-5D6E-409C-BE32-E72D297353CC}">
                <c16:uniqueId val="{00000001-3ACD-464E-A746-08CEAD748631}"/>
              </c:ext>
            </c:extLst>
          </c:dPt>
          <c:dPt>
            <c:idx val="2"/>
            <c:invertIfNegative val="0"/>
            <c:bubble3D val="0"/>
            <c:spPr>
              <a:solidFill>
                <a:srgbClr val="10B981"/>
              </a:solidFill>
              <a:ln>
                <a:noFill/>
              </a:ln>
              <a:effectLst/>
            </c:spPr>
            <c:extLst>
              <c:ext xmlns:c16="http://schemas.microsoft.com/office/drawing/2014/chart" uri="{C3380CC4-5D6E-409C-BE32-E72D297353CC}">
                <c16:uniqueId val="{00000003-3ACD-464E-A746-08CEAD748631}"/>
              </c:ext>
            </c:extLst>
          </c:dPt>
          <c:dLbls>
            <c:dLbl>
              <c:idx val="0"/>
              <c:tx>
                <c:rich>
                  <a:bodyPr/>
                  <a:lstStyle/>
                  <a:p>
                    <a:r>
                      <a:rPr lang="en-US"/>
                      <a:t>18,249 Units Sold</a:t>
                    </a:r>
                  </a:p>
                </c:rich>
              </c:tx>
              <c:dLblPos val="inEnd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showDataLabelsRange val="0"/>
                </c:ext>
                <c:ext xmlns:c16="http://schemas.microsoft.com/office/drawing/2014/chart" uri="{C3380CC4-5D6E-409C-BE32-E72D297353CC}">
                  <c16:uniqueId val="{00000001-3ACD-464E-A746-08CEAD748631}"/>
                </c:ext>
              </c:extLst>
            </c:dLbl>
            <c:dLbl>
              <c:idx val="1"/>
              <c:tx>
                <c:rich>
                  <a:bodyPr/>
                  <a:lstStyle/>
                  <a:p>
                    <a:r>
                      <a:rPr lang="en-US"/>
                      <a:t>16,113 Units Sold</a:t>
                    </a:r>
                  </a:p>
                </c:rich>
              </c:tx>
              <c:dLblPos val="inEnd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showDataLabelsRange val="0"/>
                </c:ext>
                <c:ext xmlns:c16="http://schemas.microsoft.com/office/drawing/2014/chart" uri="{C3380CC4-5D6E-409C-BE32-E72D297353CC}">
                  <c16:uniqueId val="{00000004-3ACD-464E-A746-08CEAD748631}"/>
                </c:ext>
              </c:extLst>
            </c:dLbl>
            <c:dLbl>
              <c:idx val="2"/>
              <c:tx>
                <c:rich>
                  <a:bodyPr/>
                  <a:lstStyle/>
                  <a:p>
                    <a:r>
                      <a:rPr lang="en-US"/>
                      <a:t>17,613 Units Sold</a:t>
                    </a:r>
                  </a:p>
                </c:rich>
              </c:tx>
              <c:dLblPos val="inEnd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showDataLabelsRange val="0"/>
                </c:ext>
                <c:ext xmlns:c16="http://schemas.microsoft.com/office/drawing/2014/chart" uri="{C3380CC4-5D6E-409C-BE32-E72D297353CC}">
                  <c16:uniqueId val="{00000003-3ACD-464E-A746-08CEAD748631}"/>
                </c:ext>
              </c:extLst>
            </c:dLbl>
            <c:spPr>
              <a:noFill/>
              <a:ln>
                <a:noFill/>
              </a:ln>
              <a:effectLst/>
            </c:spPr>
            <c:txPr>
              <a:bodyPr rot="0" spcFirstLastPara="1" vertOverflow="ellipsis" vert="horz" wrap="square" lIns="38100" tIns="19050" rIns="38100" bIns="19050" anchor="ctr" anchorCtr="1">
                <a:spAutoFit/>
              </a:bodyPr>
              <a:lstStyle/>
              <a:p>
                <a:pPr>
                  <a:defRPr sz="900" b="1" i="0" u="none" strike="noStrike" kern="1200" baseline="0">
                    <a:solidFill>
                      <a:srgbClr val="FFFFFF"/>
                    </a:solidFill>
                    <a:latin typeface="Aptos Narrow"/>
                    <a:ea typeface="Aptos Narrow"/>
                    <a:cs typeface="Aptos Narrow"/>
                  </a:defRPr>
                </a:pPr>
                <a:endParaRPr lang="en-US"/>
              </a:p>
            </c:txPr>
            <c:dLblPos val="inEnd"/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1"/>
                <c15:leaderLines>
                  <c:spPr>
                    <a:ln w="9525" cap="flat" cmpd="sng" algn="ctr">
                      <a:solidFill>
                        <a:schemeClr val="tx1">
                          <a:lumMod val="35000"/>
                          <a:lumOff val="65000"/>
                        </a:schemeClr>
                      </a:solidFill>
                      <a:round/>
                    </a:ln>
                    <a:effectLst/>
                  </c:spPr>
                </c15:leaderLines>
              </c:ext>
            </c:extLst>
          </c:dLbls>
          <c:cat>
            <c:strRef>
              <c:f>Sheet1!$A$9:$A$11</c:f>
              <c:strCache>
                <c:ptCount val="3"/>
                <c:pt idx="0">
                  <c:v>Clothing</c:v>
                </c:pt>
                <c:pt idx="1">
                  <c:v>Shoes</c:v>
                </c:pt>
                <c:pt idx="2">
                  <c:v>Accessories</c:v>
                </c:pt>
              </c:strCache>
            </c:strRef>
          </c:cat>
          <c:val>
            <c:numRef>
              <c:f>Sheet1!$C$9:$C$11</c:f>
              <c:numCache>
                <c:formatCode>#,##0</c:formatCode>
                <c:ptCount val="3"/>
                <c:pt idx="0">
                  <c:v>18249</c:v>
                </c:pt>
                <c:pt idx="1">
                  <c:v>16113</c:v>
                </c:pt>
                <c:pt idx="2">
                  <c:v>17613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5-3ACD-464E-A746-08CEAD748631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gapWidth val="40"/>
        <c:overlap val="100"/>
        <c:axId val="802489864"/>
        <c:axId val="802496520"/>
      </c:barChart>
      <c:catAx>
        <c:axId val="802489864"/>
        <c:scaling>
          <c:orientation val="minMax"/>
        </c:scaling>
        <c:delete val="0"/>
        <c:axPos val="l"/>
        <c:numFmt formatCode="General" sourceLinked="1"/>
        <c:majorTickMark val="none"/>
        <c:minorTickMark val="none"/>
        <c:tickLblPos val="nextTo"/>
        <c:spPr>
          <a:noFill/>
          <a:ln w="9525" cap="flat" cmpd="sng" algn="ctr">
            <a:solidFill>
              <a:schemeClr val="tx1">
                <a:lumMod val="15000"/>
                <a:lumOff val="85000"/>
              </a:schemeClr>
            </a:solidFill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900" b="1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Aptos Narrow"/>
                <a:ea typeface="Aptos Narrow"/>
                <a:cs typeface="Aptos Narrow"/>
              </a:defRPr>
            </a:pPr>
            <a:endParaRPr lang="en-US"/>
          </a:p>
        </c:txPr>
        <c:crossAx val="802496520"/>
        <c:crosses val="autoZero"/>
        <c:auto val="1"/>
        <c:lblAlgn val="ctr"/>
        <c:lblOffset val="100"/>
        <c:noMultiLvlLbl val="0"/>
      </c:catAx>
      <c:valAx>
        <c:axId val="802496520"/>
        <c:scaling>
          <c:orientation val="minMax"/>
        </c:scaling>
        <c:delete val="1"/>
        <c:axPos val="b"/>
        <c:numFmt formatCode="#,##0" sourceLinked="1"/>
        <c:majorTickMark val="none"/>
        <c:minorTickMark val="none"/>
        <c:tickLblPos val="nextTo"/>
        <c:crossAx val="80248986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gap"/>
    <c:showDLblsOverMax val="0"/>
  </c:chart>
  <c:spPr>
    <a:noFill/>
    <a:ln>
      <a:noFill/>
    </a:ln>
    <a:effectLst/>
  </c:spPr>
  <c:txPr>
    <a:bodyPr/>
    <a:lstStyle/>
    <a:p>
      <a:pPr>
        <a:defRPr/>
      </a:pPr>
      <a:endParaRPr lang="en-US"/>
    </a:p>
  </c:txPr>
  <c:externalData r:id="rId3">
    <c:autoUpdate val="0"/>
  </c:externalData>
</c:chartSpace>
</file>

<file path=ppt/charts/chart10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title>
      <c:tx>
        <c:rich>
          <a:bodyPr rot="0" spcFirstLastPara="1" vertOverflow="ellipsis" vert="horz" wrap="square" anchor="ctr" anchorCtr="1"/>
          <a:lstStyle/>
          <a:p>
            <a:pPr>
              <a:defRPr sz="1200" b="1" i="0" u="none" strike="noStrike" kern="1200" spc="0" baseline="0">
                <a:solidFill>
                  <a:srgbClr val="000000"/>
                </a:solidFill>
                <a:latin typeface="Aptos Display"/>
                <a:ea typeface="Aptos Display"/>
                <a:cs typeface="Aptos Display"/>
              </a:defRPr>
            </a:pPr>
            <a:r>
              <a:rPr lang="en-US"/>
              <a:t>Monthly Revenue Trend (Nov 23 - Nov 25 in ₹ Millions)</a:t>
            </a:r>
          </a:p>
        </c:rich>
      </c:tx>
      <c:layout>
        <c:manualLayout>
          <c:xMode val="edge"/>
          <c:yMode val="edge"/>
          <c:x val="9.6474358974359131E-3"/>
          <c:y val="2.4822695035460994E-2"/>
        </c:manualLayout>
      </c:layout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1200" b="1" i="0" u="none" strike="noStrike" kern="1200" spc="0" baseline="0">
              <a:solidFill>
                <a:srgbClr val="000000"/>
              </a:solidFill>
              <a:latin typeface="Aptos Display"/>
              <a:ea typeface="Aptos Display"/>
              <a:cs typeface="Aptos Display"/>
            </a:defRPr>
          </a:pPr>
          <a:endParaRPr lang="en-US"/>
        </a:p>
      </c:txPr>
    </c:title>
    <c:autoTitleDeleted val="0"/>
    <c:plotArea>
      <c:layout/>
      <c:areaChart>
        <c:grouping val="stacked"/>
        <c:varyColors val="0"/>
        <c:ser>
          <c:idx val="0"/>
          <c:order val="1"/>
          <c:spPr>
            <a:solidFill>
              <a:srgbClr val="D9E1F2"/>
            </a:solidFill>
            <a:ln>
              <a:noFill/>
            </a:ln>
            <a:effectLst/>
          </c:spPr>
          <c:cat>
            <c:numRef>
              <c:f>'https://d.docs.live.net/5379BB5AC236F65F/[Book 6.xlsx]Sheet1'!A14:A38,'https://d.docs.live.net/5379BB5AC236F65F/[Book 6.xlsx]Sheet1'!A14:A38</c:f>
              <c:numCache>
                <c:formatCode>[$-409]mmm\-yy;@</c:formatCode>
                <c:ptCount val="50"/>
                <c:pt idx="0">
                  <c:v>45231</c:v>
                </c:pt>
                <c:pt idx="1">
                  <c:v>45261</c:v>
                </c:pt>
                <c:pt idx="2">
                  <c:v>45292</c:v>
                </c:pt>
                <c:pt idx="3">
                  <c:v>45323</c:v>
                </c:pt>
                <c:pt idx="4">
                  <c:v>45352</c:v>
                </c:pt>
                <c:pt idx="5">
                  <c:v>45383</c:v>
                </c:pt>
                <c:pt idx="6">
                  <c:v>45413</c:v>
                </c:pt>
                <c:pt idx="7">
                  <c:v>45444</c:v>
                </c:pt>
                <c:pt idx="8">
                  <c:v>45474</c:v>
                </c:pt>
                <c:pt idx="9">
                  <c:v>45505</c:v>
                </c:pt>
                <c:pt idx="10">
                  <c:v>45536</c:v>
                </c:pt>
                <c:pt idx="11">
                  <c:v>45566</c:v>
                </c:pt>
                <c:pt idx="12">
                  <c:v>45597</c:v>
                </c:pt>
                <c:pt idx="13">
                  <c:v>45627</c:v>
                </c:pt>
                <c:pt idx="14">
                  <c:v>45658</c:v>
                </c:pt>
                <c:pt idx="15">
                  <c:v>45689</c:v>
                </c:pt>
                <c:pt idx="16">
                  <c:v>45717</c:v>
                </c:pt>
                <c:pt idx="17">
                  <c:v>45748</c:v>
                </c:pt>
                <c:pt idx="18">
                  <c:v>45778</c:v>
                </c:pt>
                <c:pt idx="19">
                  <c:v>45809</c:v>
                </c:pt>
                <c:pt idx="20">
                  <c:v>45839</c:v>
                </c:pt>
                <c:pt idx="21">
                  <c:v>45870</c:v>
                </c:pt>
                <c:pt idx="22">
                  <c:v>45901</c:v>
                </c:pt>
                <c:pt idx="23">
                  <c:v>45931</c:v>
                </c:pt>
                <c:pt idx="24">
                  <c:v>45962</c:v>
                </c:pt>
                <c:pt idx="25">
                  <c:v>45231</c:v>
                </c:pt>
                <c:pt idx="26">
                  <c:v>45261</c:v>
                </c:pt>
                <c:pt idx="27">
                  <c:v>45292</c:v>
                </c:pt>
                <c:pt idx="28">
                  <c:v>45323</c:v>
                </c:pt>
                <c:pt idx="29">
                  <c:v>45352</c:v>
                </c:pt>
                <c:pt idx="30">
                  <c:v>45383</c:v>
                </c:pt>
                <c:pt idx="31">
                  <c:v>45413</c:v>
                </c:pt>
                <c:pt idx="32">
                  <c:v>45444</c:v>
                </c:pt>
                <c:pt idx="33">
                  <c:v>45474</c:v>
                </c:pt>
                <c:pt idx="34">
                  <c:v>45505</c:v>
                </c:pt>
                <c:pt idx="35">
                  <c:v>45536</c:v>
                </c:pt>
                <c:pt idx="36">
                  <c:v>45566</c:v>
                </c:pt>
                <c:pt idx="37">
                  <c:v>45597</c:v>
                </c:pt>
                <c:pt idx="38">
                  <c:v>45627</c:v>
                </c:pt>
                <c:pt idx="39">
                  <c:v>45658</c:v>
                </c:pt>
                <c:pt idx="40">
                  <c:v>45689</c:v>
                </c:pt>
                <c:pt idx="41">
                  <c:v>45717</c:v>
                </c:pt>
                <c:pt idx="42">
                  <c:v>45748</c:v>
                </c:pt>
                <c:pt idx="43">
                  <c:v>45778</c:v>
                </c:pt>
                <c:pt idx="44">
                  <c:v>45809</c:v>
                </c:pt>
                <c:pt idx="45">
                  <c:v>45839</c:v>
                </c:pt>
                <c:pt idx="46">
                  <c:v>45870</c:v>
                </c:pt>
                <c:pt idx="47">
                  <c:v>45901</c:v>
                </c:pt>
                <c:pt idx="48">
                  <c:v>45931</c:v>
                </c:pt>
                <c:pt idx="49">
                  <c:v>45962</c:v>
                </c:pt>
              </c:numCache>
            </c:numRef>
          </c:cat>
          <c:val>
            <c:numRef>
              <c:f>Sheet1!C14:C38</c:f>
              <c:numCache>
                <c:formatCode>[$₹-4009]\ #,##0.00</c:formatCode>
                <c:ptCount val="25"/>
                <c:pt idx="0">
                  <c:v>4.4000000000000004</c:v>
                </c:pt>
                <c:pt idx="1">
                  <c:v>13.37</c:v>
                </c:pt>
                <c:pt idx="2">
                  <c:v>8.5500000000000007</c:v>
                </c:pt>
                <c:pt idx="3">
                  <c:v>8.1199999999999992</c:v>
                </c:pt>
                <c:pt idx="4">
                  <c:v>7.93</c:v>
                </c:pt>
                <c:pt idx="5">
                  <c:v>7.49</c:v>
                </c:pt>
                <c:pt idx="6">
                  <c:v>7.6</c:v>
                </c:pt>
                <c:pt idx="7">
                  <c:v>7.4</c:v>
                </c:pt>
                <c:pt idx="8">
                  <c:v>7.16</c:v>
                </c:pt>
                <c:pt idx="9">
                  <c:v>7.4</c:v>
                </c:pt>
                <c:pt idx="10">
                  <c:v>6.91</c:v>
                </c:pt>
                <c:pt idx="11">
                  <c:v>9.64</c:v>
                </c:pt>
                <c:pt idx="12">
                  <c:v>11.37</c:v>
                </c:pt>
                <c:pt idx="13">
                  <c:v>12.58</c:v>
                </c:pt>
                <c:pt idx="14">
                  <c:v>9.0299999999999994</c:v>
                </c:pt>
                <c:pt idx="15">
                  <c:v>8.2899999999999991</c:v>
                </c:pt>
                <c:pt idx="16">
                  <c:v>8.7100000000000009</c:v>
                </c:pt>
                <c:pt idx="17">
                  <c:v>7.58</c:v>
                </c:pt>
                <c:pt idx="18">
                  <c:v>7.43</c:v>
                </c:pt>
                <c:pt idx="19">
                  <c:v>7.58</c:v>
                </c:pt>
                <c:pt idx="20">
                  <c:v>7.91</c:v>
                </c:pt>
                <c:pt idx="21">
                  <c:v>7.7</c:v>
                </c:pt>
                <c:pt idx="22">
                  <c:v>7.27</c:v>
                </c:pt>
                <c:pt idx="23">
                  <c:v>12.83</c:v>
                </c:pt>
                <c:pt idx="24">
                  <c:v>7.88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CA6F-40B8-B6B2-9D70B3365698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axId val="1810001415"/>
        <c:axId val="1810011655"/>
      </c:areaChart>
      <c:lineChart>
        <c:grouping val="standard"/>
        <c:varyColors val="0"/>
        <c:ser>
          <c:idx val="1"/>
          <c:order val="0"/>
          <c:tx>
            <c:strRef>
              <c:f>Sheet1!B13</c:f>
              <c:strCache>
                <c:ptCount val="1"/>
                <c:pt idx="0">
                  <c:v>Revenue</c:v>
                </c:pt>
              </c:strCache>
            </c:strRef>
          </c:tx>
          <c:spPr>
            <a:ln w="28575" cap="rnd">
              <a:solidFill>
                <a:srgbClr val="2F75B5"/>
              </a:solidFill>
              <a:prstDash val="solid"/>
              <a:round/>
            </a:ln>
            <a:effectLst/>
          </c:spPr>
          <c:marker>
            <c:symbol val="circle"/>
            <c:size val="5"/>
            <c:spPr>
              <a:solidFill>
                <a:schemeClr val="accent2"/>
              </a:solidFill>
              <a:ln w="9525">
                <a:solidFill>
                  <a:schemeClr val="accent2"/>
                </a:solidFill>
              </a:ln>
              <a:effectLst/>
            </c:spPr>
          </c:marker>
          <c:dPt>
            <c:idx val="1"/>
            <c:marker>
              <c:symbol val="circle"/>
              <c:size val="5"/>
              <c:spPr>
                <a:solidFill>
                  <a:srgbClr val="375623"/>
                </a:solidFill>
                <a:ln w="9525">
                  <a:solidFill>
                    <a:schemeClr val="accent2"/>
                  </a:solidFill>
                </a:ln>
                <a:effectLst/>
              </c:spPr>
            </c:marker>
            <c:bubble3D val="0"/>
            <c:spPr>
              <a:ln w="28575" cap="rnd">
                <a:solidFill>
                  <a:srgbClr val="375623"/>
                </a:solidFill>
                <a:prstDash val="solid"/>
                <a:round/>
              </a:ln>
              <a:effectLst/>
            </c:spPr>
            <c:extLst>
              <c:ext xmlns:c16="http://schemas.microsoft.com/office/drawing/2014/chart" uri="{C3380CC4-5D6E-409C-BE32-E72D297353CC}">
                <c16:uniqueId val="{00000002-CA6F-40B8-B6B2-9D70B3365698}"/>
              </c:ext>
            </c:extLst>
          </c:dPt>
          <c:dPt>
            <c:idx val="13"/>
            <c:marker>
              <c:symbol val="circle"/>
              <c:size val="5"/>
              <c:spPr>
                <a:solidFill>
                  <a:srgbClr val="375623"/>
                </a:solidFill>
                <a:ln w="9525">
                  <a:solidFill>
                    <a:schemeClr val="accent2"/>
                  </a:solidFill>
                </a:ln>
                <a:effectLst/>
              </c:spPr>
            </c:marker>
            <c:bubble3D val="0"/>
            <c:spPr>
              <a:ln w="28575" cap="rnd">
                <a:solidFill>
                  <a:srgbClr val="375623"/>
                </a:solidFill>
                <a:prstDash val="solid"/>
                <a:round/>
              </a:ln>
              <a:effectLst/>
            </c:spPr>
            <c:extLst>
              <c:ext xmlns:c16="http://schemas.microsoft.com/office/drawing/2014/chart" uri="{C3380CC4-5D6E-409C-BE32-E72D297353CC}">
                <c16:uniqueId val="{00000004-CA6F-40B8-B6B2-9D70B3365698}"/>
              </c:ext>
            </c:extLst>
          </c:dPt>
          <c:dPt>
            <c:idx val="23"/>
            <c:marker>
              <c:symbol val="circle"/>
              <c:size val="5"/>
              <c:spPr>
                <a:solidFill>
                  <a:srgbClr val="375623"/>
                </a:solidFill>
                <a:ln w="9525">
                  <a:solidFill>
                    <a:schemeClr val="accent2"/>
                  </a:solidFill>
                </a:ln>
                <a:effectLst/>
              </c:spPr>
            </c:marker>
            <c:bubble3D val="0"/>
            <c:spPr>
              <a:ln w="28575" cap="rnd">
                <a:solidFill>
                  <a:srgbClr val="375623"/>
                </a:solidFill>
                <a:prstDash val="solid"/>
                <a:round/>
              </a:ln>
              <a:effectLst/>
            </c:spPr>
            <c:extLst>
              <c:ext xmlns:c16="http://schemas.microsoft.com/office/drawing/2014/chart" uri="{C3380CC4-5D6E-409C-BE32-E72D297353CC}">
                <c16:uniqueId val="{00000006-CA6F-40B8-B6B2-9D70B3365698}"/>
              </c:ext>
            </c:extLst>
          </c:dPt>
          <c:dLbls>
            <c:dLbl>
              <c:idx val="0"/>
              <c:delete val="1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7-CA6F-40B8-B6B2-9D70B3365698}"/>
                </c:ext>
              </c:extLst>
            </c:dLbl>
            <c:dLbl>
              <c:idx val="1"/>
              <c:tx>
                <c:rich>
                  <a:bodyPr rot="0" spcFirstLastPara="1" vertOverflow="ellipsis" vert="horz" wrap="square" lIns="38100" tIns="19050" rIns="38100" bIns="19050" anchor="ctr" anchorCtr="1">
                    <a:spAutoFit/>
                  </a:bodyPr>
                  <a:lstStyle/>
                  <a:p>
                    <a:pPr>
                      <a:defRPr sz="900" b="1" i="0" u="none" strike="noStrike" kern="1200" baseline="0">
                        <a:solidFill>
                          <a:srgbClr val="375623"/>
                        </a:solidFill>
                        <a:latin typeface="Aptos Display"/>
                        <a:ea typeface="Aptos Display"/>
                        <a:cs typeface="Aptos Display"/>
                      </a:defRPr>
                    </a:pPr>
                    <a:r>
                      <a:rPr lang="en-US"/>
                      <a:t>#1 Dec'23 (₹ 13.37 M)</a:t>
                    </a:r>
                  </a:p>
                </c:rich>
              </c:tx>
              <c:spPr>
                <a:noFill/>
                <a:ln>
                  <a:noFill/>
                </a:ln>
                <a:effectLst/>
              </c:spPr>
              <c:txPr>
                <a:bodyPr rot="0" spcFirstLastPara="1" vertOverflow="ellipsis" vert="horz" wrap="square" lIns="38100" tIns="19050" rIns="38100" bIns="19050" anchor="ctr" anchorCtr="1">
                  <a:spAutoFit/>
                </a:bodyPr>
                <a:lstStyle/>
                <a:p>
                  <a:pPr>
                    <a:defRPr sz="900" b="1" i="0" u="none" strike="noStrike" kern="1200" baseline="0">
                      <a:solidFill>
                        <a:srgbClr val="375623"/>
                      </a:solidFill>
                      <a:latin typeface="Aptos Display"/>
                      <a:ea typeface="Aptos Display"/>
                      <a:cs typeface="Aptos Display"/>
                    </a:defRPr>
                  </a:pPr>
                  <a:endParaRPr lang="en-US"/>
                </a:p>
              </c:txPr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showDataLabelsRange val="0"/>
                </c:ext>
                <c:ext xmlns:c16="http://schemas.microsoft.com/office/drawing/2014/chart" uri="{C3380CC4-5D6E-409C-BE32-E72D297353CC}">
                  <c16:uniqueId val="{00000002-CA6F-40B8-B6B2-9D70B3365698}"/>
                </c:ext>
              </c:extLst>
            </c:dLbl>
            <c:dLbl>
              <c:idx val="2"/>
              <c:delete val="1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8-CA6F-40B8-B6B2-9D70B3365698}"/>
                </c:ext>
              </c:extLst>
            </c:dLbl>
            <c:dLbl>
              <c:idx val="3"/>
              <c:delete val="1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9-CA6F-40B8-B6B2-9D70B3365698}"/>
                </c:ext>
              </c:extLst>
            </c:dLbl>
            <c:dLbl>
              <c:idx val="4"/>
              <c:delete val="1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A-CA6F-40B8-B6B2-9D70B3365698}"/>
                </c:ext>
              </c:extLst>
            </c:dLbl>
            <c:dLbl>
              <c:idx val="5"/>
              <c:delete val="1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B-CA6F-40B8-B6B2-9D70B3365698}"/>
                </c:ext>
              </c:extLst>
            </c:dLbl>
            <c:dLbl>
              <c:idx val="6"/>
              <c:layout>
                <c:manualLayout>
                  <c:x val="4.807692307692308E-3"/>
                  <c:y val="-6.3829787234042548E-2"/>
                </c:manualLayout>
              </c:layout>
              <c:tx>
                <c:rich>
                  <a:bodyPr/>
                  <a:lstStyle/>
                  <a:p>
                    <a:r>
                      <a:rPr lang="en-US"/>
                      <a:t>₹ 7.60 M</a:t>
                    </a:r>
                  </a:p>
                </c:rich>
              </c:tx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showDataLabelsRange val="0"/>
                </c:ext>
                <c:ext xmlns:c16="http://schemas.microsoft.com/office/drawing/2014/chart" uri="{C3380CC4-5D6E-409C-BE32-E72D297353CC}">
                  <c16:uniqueId val="{0000000C-CA6F-40B8-B6B2-9D70B3365698}"/>
                </c:ext>
              </c:extLst>
            </c:dLbl>
            <c:dLbl>
              <c:idx val="7"/>
              <c:delete val="1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D-CA6F-40B8-B6B2-9D70B3365698}"/>
                </c:ext>
              </c:extLst>
            </c:dLbl>
            <c:dLbl>
              <c:idx val="8"/>
              <c:layout>
                <c:manualLayout>
                  <c:x val="-2.4038461538462125E-3"/>
                  <c:y val="6.7375886524822695E-2"/>
                </c:manualLayout>
              </c:layout>
              <c:tx>
                <c:rich>
                  <a:bodyPr/>
                  <a:lstStyle/>
                  <a:p>
                    <a:r>
                      <a:rPr lang="en-US"/>
                      <a:t>₹ 7.16 M</a:t>
                    </a:r>
                  </a:p>
                </c:rich>
              </c:tx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showDataLabelsRange val="0"/>
                </c:ext>
                <c:ext xmlns:c16="http://schemas.microsoft.com/office/drawing/2014/chart" uri="{C3380CC4-5D6E-409C-BE32-E72D297353CC}">
                  <c16:uniqueId val="{0000000E-CA6F-40B8-B6B2-9D70B3365698}"/>
                </c:ext>
              </c:extLst>
            </c:dLbl>
            <c:dLbl>
              <c:idx val="9"/>
              <c:layout>
                <c:manualLayout>
                  <c:x val="-1.2019230769231358E-3"/>
                  <c:y val="-5.6737588652482358E-2"/>
                </c:manualLayout>
              </c:layout>
              <c:tx>
                <c:rich>
                  <a:bodyPr/>
                  <a:lstStyle/>
                  <a:p>
                    <a:r>
                      <a:rPr lang="en-US"/>
                      <a:t>₹ 7.40 M</a:t>
                    </a:r>
                  </a:p>
                </c:rich>
              </c:tx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showDataLabelsRange val="0"/>
                </c:ext>
                <c:ext xmlns:c16="http://schemas.microsoft.com/office/drawing/2014/chart" uri="{C3380CC4-5D6E-409C-BE32-E72D297353CC}">
                  <c16:uniqueId val="{0000000F-CA6F-40B8-B6B2-9D70B3365698}"/>
                </c:ext>
              </c:extLst>
            </c:dLbl>
            <c:dLbl>
              <c:idx val="10"/>
              <c:delete val="1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10-CA6F-40B8-B6B2-9D70B3365698}"/>
                </c:ext>
              </c:extLst>
            </c:dLbl>
            <c:dLbl>
              <c:idx val="11"/>
              <c:delete val="1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11-CA6F-40B8-B6B2-9D70B3365698}"/>
                </c:ext>
              </c:extLst>
            </c:dLbl>
            <c:dLbl>
              <c:idx val="12"/>
              <c:delete val="1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12-CA6F-40B8-B6B2-9D70B3365698}"/>
                </c:ext>
              </c:extLst>
            </c:dLbl>
            <c:dLbl>
              <c:idx val="13"/>
              <c:tx>
                <c:rich>
                  <a:bodyPr rot="0" spcFirstLastPara="1" vertOverflow="ellipsis" vert="horz" wrap="square" lIns="38100" tIns="19050" rIns="38100" bIns="19050" anchor="ctr" anchorCtr="1">
                    <a:spAutoFit/>
                  </a:bodyPr>
                  <a:lstStyle/>
                  <a:p>
                    <a:pPr>
                      <a:defRPr sz="900" b="1" i="0" u="none" strike="noStrike" kern="1200" baseline="0">
                        <a:solidFill>
                          <a:srgbClr val="375623"/>
                        </a:solidFill>
                        <a:latin typeface="Aptos Display"/>
                        <a:ea typeface="Aptos Display"/>
                        <a:cs typeface="Aptos Display"/>
                      </a:defRPr>
                    </a:pPr>
                    <a:r>
                      <a:rPr lang="en-US"/>
                      <a:t>#3 Dec'24 (₹ 12.58 M)</a:t>
                    </a:r>
                  </a:p>
                </c:rich>
              </c:tx>
              <c:spPr>
                <a:noFill/>
                <a:ln>
                  <a:noFill/>
                </a:ln>
                <a:effectLst/>
              </c:spPr>
              <c:txPr>
                <a:bodyPr rot="0" spcFirstLastPara="1" vertOverflow="ellipsis" vert="horz" wrap="square" lIns="38100" tIns="19050" rIns="38100" bIns="19050" anchor="ctr" anchorCtr="1">
                  <a:spAutoFit/>
                </a:bodyPr>
                <a:lstStyle/>
                <a:p>
                  <a:pPr>
                    <a:defRPr sz="900" b="1" i="0" u="none" strike="noStrike" kern="1200" baseline="0">
                      <a:solidFill>
                        <a:srgbClr val="375623"/>
                      </a:solidFill>
                      <a:latin typeface="Aptos Display"/>
                      <a:ea typeface="Aptos Display"/>
                      <a:cs typeface="Aptos Display"/>
                    </a:defRPr>
                  </a:pPr>
                  <a:endParaRPr lang="en-US"/>
                </a:p>
              </c:txPr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showDataLabelsRange val="0"/>
                </c:ext>
                <c:ext xmlns:c16="http://schemas.microsoft.com/office/drawing/2014/chart" uri="{C3380CC4-5D6E-409C-BE32-E72D297353CC}">
                  <c16:uniqueId val="{00000004-CA6F-40B8-B6B2-9D70B3365698}"/>
                </c:ext>
              </c:extLst>
            </c:dLbl>
            <c:dLbl>
              <c:idx val="14"/>
              <c:delete val="1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13-CA6F-40B8-B6B2-9D70B3365698}"/>
                </c:ext>
              </c:extLst>
            </c:dLbl>
            <c:dLbl>
              <c:idx val="15"/>
              <c:delete val="1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14-CA6F-40B8-B6B2-9D70B3365698}"/>
                </c:ext>
              </c:extLst>
            </c:dLbl>
            <c:dLbl>
              <c:idx val="16"/>
              <c:tx>
                <c:rich>
                  <a:bodyPr/>
                  <a:lstStyle/>
                  <a:p>
                    <a:r>
                      <a:rPr lang="en-US"/>
                      <a:t>₹ 8.71 M</a:t>
                    </a:r>
                  </a:p>
                </c:rich>
              </c:tx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showDataLabelsRange val="0"/>
                </c:ext>
                <c:ext xmlns:c16="http://schemas.microsoft.com/office/drawing/2014/chart" uri="{C3380CC4-5D6E-409C-BE32-E72D297353CC}">
                  <c16:uniqueId val="{00000015-CA6F-40B8-B6B2-9D70B3365698}"/>
                </c:ext>
              </c:extLst>
            </c:dLbl>
            <c:dLbl>
              <c:idx val="17"/>
              <c:delete val="1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16-CA6F-40B8-B6B2-9D70B3365698}"/>
                </c:ext>
              </c:extLst>
            </c:dLbl>
            <c:dLbl>
              <c:idx val="18"/>
              <c:layout>
                <c:manualLayout>
                  <c:x val="-1.6826923076923076E-2"/>
                  <c:y val="-7.8014184397163164E-2"/>
                </c:manualLayout>
              </c:layout>
              <c:tx>
                <c:rich>
                  <a:bodyPr/>
                  <a:lstStyle/>
                  <a:p>
                    <a:r>
                      <a:rPr lang="en-US"/>
                      <a:t>₹ 7.43 M</a:t>
                    </a:r>
                  </a:p>
                </c:rich>
              </c:tx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showDataLabelsRange val="0"/>
                </c:ext>
                <c:ext xmlns:c16="http://schemas.microsoft.com/office/drawing/2014/chart" uri="{C3380CC4-5D6E-409C-BE32-E72D297353CC}">
                  <c16:uniqueId val="{00000017-CA6F-40B8-B6B2-9D70B3365698}"/>
                </c:ext>
              </c:extLst>
            </c:dLbl>
            <c:dLbl>
              <c:idx val="19"/>
              <c:layout>
                <c:manualLayout>
                  <c:x val="-1.201923076923077E-3"/>
                  <c:y val="8.8652482269503549E-2"/>
                </c:manualLayout>
              </c:layout>
              <c:tx>
                <c:rich>
                  <a:bodyPr/>
                  <a:lstStyle/>
                  <a:p>
                    <a:r>
                      <a:rPr lang="en-US"/>
                      <a:t>₹ 7.58 M</a:t>
                    </a:r>
                  </a:p>
                </c:rich>
              </c:tx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showDataLabelsRange val="0"/>
                </c:ext>
                <c:ext xmlns:c16="http://schemas.microsoft.com/office/drawing/2014/chart" uri="{C3380CC4-5D6E-409C-BE32-E72D297353CC}">
                  <c16:uniqueId val="{00000018-CA6F-40B8-B6B2-9D70B3365698}"/>
                </c:ext>
              </c:extLst>
            </c:dLbl>
            <c:dLbl>
              <c:idx val="20"/>
              <c:layout>
                <c:manualLayout>
                  <c:x val="-4.807692307692308E-3"/>
                  <c:y val="-7.0921985815602884E-2"/>
                </c:manualLayout>
              </c:layout>
              <c:tx>
                <c:rich>
                  <a:bodyPr/>
                  <a:lstStyle/>
                  <a:p>
                    <a:r>
                      <a:rPr lang="en-US"/>
                      <a:t>₹ 7.91 M</a:t>
                    </a:r>
                  </a:p>
                </c:rich>
              </c:tx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showDataLabelsRange val="0"/>
                </c:ext>
                <c:ext xmlns:c16="http://schemas.microsoft.com/office/drawing/2014/chart" uri="{C3380CC4-5D6E-409C-BE32-E72D297353CC}">
                  <c16:uniqueId val="{00000019-CA6F-40B8-B6B2-9D70B3365698}"/>
                </c:ext>
              </c:extLst>
            </c:dLbl>
            <c:dLbl>
              <c:idx val="21"/>
              <c:delete val="1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1A-CA6F-40B8-B6B2-9D70B3365698}"/>
                </c:ext>
              </c:extLst>
            </c:dLbl>
            <c:dLbl>
              <c:idx val="22"/>
              <c:delete val="1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1B-CA6F-40B8-B6B2-9D70B3365698}"/>
                </c:ext>
              </c:extLst>
            </c:dLbl>
            <c:dLbl>
              <c:idx val="23"/>
              <c:layout>
                <c:manualLayout>
                  <c:x val="0"/>
                  <c:y val="-6.7375886524822723E-2"/>
                </c:manualLayout>
              </c:layout>
              <c:tx>
                <c:rich>
                  <a:bodyPr rot="0" spcFirstLastPara="1" vertOverflow="ellipsis" vert="horz" wrap="square" lIns="38100" tIns="19050" rIns="38100" bIns="19050" anchor="ctr" anchorCtr="1">
                    <a:spAutoFit/>
                  </a:bodyPr>
                  <a:lstStyle/>
                  <a:p>
                    <a:pPr>
                      <a:defRPr sz="900" b="1" i="0" u="none" strike="noStrike" kern="1200" baseline="0">
                        <a:solidFill>
                          <a:srgbClr val="375623"/>
                        </a:solidFill>
                        <a:latin typeface="Aptos Display"/>
                        <a:ea typeface="Aptos Display"/>
                        <a:cs typeface="Aptos Display"/>
                      </a:defRPr>
                    </a:pPr>
                    <a:r>
                      <a:rPr lang="en-US"/>
                      <a:t>#2 Oct'25 (₹ 12.83 M)</a:t>
                    </a:r>
                  </a:p>
                </c:rich>
              </c:tx>
              <c:spPr>
                <a:noFill/>
                <a:ln>
                  <a:noFill/>
                </a:ln>
                <a:effectLst/>
              </c:spPr>
              <c:txPr>
                <a:bodyPr rot="0" spcFirstLastPara="1" vertOverflow="ellipsis" vert="horz" wrap="square" lIns="38100" tIns="19050" rIns="38100" bIns="19050" anchor="ctr" anchorCtr="1">
                  <a:spAutoFit/>
                </a:bodyPr>
                <a:lstStyle/>
                <a:p>
                  <a:pPr>
                    <a:defRPr sz="900" b="1" i="0" u="none" strike="noStrike" kern="1200" baseline="0">
                      <a:solidFill>
                        <a:srgbClr val="375623"/>
                      </a:solidFill>
                      <a:latin typeface="Aptos Display"/>
                      <a:ea typeface="Aptos Display"/>
                      <a:cs typeface="Aptos Display"/>
                    </a:defRPr>
                  </a:pPr>
                  <a:endParaRPr lang="en-US"/>
                </a:p>
              </c:txPr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showDataLabelsRange val="0"/>
                </c:ext>
                <c:ext xmlns:c16="http://schemas.microsoft.com/office/drawing/2014/chart" uri="{C3380CC4-5D6E-409C-BE32-E72D297353CC}">
                  <c16:uniqueId val="{00000006-CA6F-40B8-B6B2-9D70B3365698}"/>
                </c:ext>
              </c:extLst>
            </c:dLbl>
            <c:dLbl>
              <c:idx val="24"/>
              <c:tx>
                <c:rich>
                  <a:bodyPr/>
                  <a:lstStyle/>
                  <a:p>
                    <a:r>
                      <a:rPr lang="en-US"/>
                      <a:t>₹ 7.88 M </a:t>
                    </a:r>
                  </a:p>
                </c:rich>
              </c:tx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showDataLabelsRange val="0"/>
                </c:ext>
                <c:ext xmlns:c16="http://schemas.microsoft.com/office/drawing/2014/chart" uri="{C3380CC4-5D6E-409C-BE32-E72D297353CC}">
                  <c16:uniqueId val="{0000001C-CA6F-40B8-B6B2-9D70B3365698}"/>
                </c:ext>
              </c:extLst>
            </c:dLbl>
            <c:spPr>
              <a:noFill/>
              <a:ln>
                <a:noFill/>
              </a:ln>
              <a:effectLst/>
            </c:spPr>
            <c:txPr>
              <a:bodyPr rot="0" spcFirstLastPara="1" vertOverflow="ellipsis" vert="horz" wrap="square" lIns="38100" tIns="19050" rIns="38100" bIns="19050" anchor="ctr" anchorCtr="1">
                <a:spAutoFit/>
              </a:bodyPr>
              <a:lstStyle/>
              <a:p>
                <a:pPr>
                  <a:defRPr sz="900" b="1" i="0" u="none" strike="noStrike" kern="1200" baseline="0">
                    <a:solidFill>
                      <a:srgbClr val="1F4E78"/>
                    </a:solidFill>
                    <a:latin typeface="Aptos Display"/>
                    <a:ea typeface="Aptos Display"/>
                    <a:cs typeface="Aptos Display"/>
                  </a:defRPr>
                </a:pPr>
                <a:endParaRPr lang="en-US"/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1"/>
                <c15:leaderLines>
                  <c:spPr>
                    <a:ln w="9525" cap="flat" cmpd="sng" algn="ctr">
                      <a:solidFill>
                        <a:schemeClr val="tx1">
                          <a:lumMod val="35000"/>
                          <a:lumOff val="65000"/>
                        </a:schemeClr>
                      </a:solidFill>
                      <a:round/>
                    </a:ln>
                    <a:effectLst/>
                  </c:spPr>
                </c15:leaderLines>
              </c:ext>
            </c:extLst>
          </c:dLbls>
          <c:cat>
            <c:numRef>
              <c:f>'https://d.docs.live.net/5379BB5AC236F65F/[Book 6.xlsx]Sheet1'!A14:A38,'https://d.docs.live.net/5379BB5AC236F65F/[Book 6.xlsx]Sheet1'!A14:A38</c:f>
              <c:numCache>
                <c:formatCode>[$-409]mmm\-yy;@</c:formatCode>
                <c:ptCount val="50"/>
                <c:pt idx="0">
                  <c:v>45231</c:v>
                </c:pt>
                <c:pt idx="1">
                  <c:v>45261</c:v>
                </c:pt>
                <c:pt idx="2">
                  <c:v>45292</c:v>
                </c:pt>
                <c:pt idx="3">
                  <c:v>45323</c:v>
                </c:pt>
                <c:pt idx="4">
                  <c:v>45352</c:v>
                </c:pt>
                <c:pt idx="5">
                  <c:v>45383</c:v>
                </c:pt>
                <c:pt idx="6">
                  <c:v>45413</c:v>
                </c:pt>
                <c:pt idx="7">
                  <c:v>45444</c:v>
                </c:pt>
                <c:pt idx="8">
                  <c:v>45474</c:v>
                </c:pt>
                <c:pt idx="9">
                  <c:v>45505</c:v>
                </c:pt>
                <c:pt idx="10">
                  <c:v>45536</c:v>
                </c:pt>
                <c:pt idx="11">
                  <c:v>45566</c:v>
                </c:pt>
                <c:pt idx="12">
                  <c:v>45597</c:v>
                </c:pt>
                <c:pt idx="13">
                  <c:v>45627</c:v>
                </c:pt>
                <c:pt idx="14">
                  <c:v>45658</c:v>
                </c:pt>
                <c:pt idx="15">
                  <c:v>45689</c:v>
                </c:pt>
                <c:pt idx="16">
                  <c:v>45717</c:v>
                </c:pt>
                <c:pt idx="17">
                  <c:v>45748</c:v>
                </c:pt>
                <c:pt idx="18">
                  <c:v>45778</c:v>
                </c:pt>
                <c:pt idx="19">
                  <c:v>45809</c:v>
                </c:pt>
                <c:pt idx="20">
                  <c:v>45839</c:v>
                </c:pt>
                <c:pt idx="21">
                  <c:v>45870</c:v>
                </c:pt>
                <c:pt idx="22">
                  <c:v>45901</c:v>
                </c:pt>
                <c:pt idx="23">
                  <c:v>45931</c:v>
                </c:pt>
                <c:pt idx="24">
                  <c:v>45962</c:v>
                </c:pt>
                <c:pt idx="25">
                  <c:v>45231</c:v>
                </c:pt>
                <c:pt idx="26">
                  <c:v>45261</c:v>
                </c:pt>
                <c:pt idx="27">
                  <c:v>45292</c:v>
                </c:pt>
                <c:pt idx="28">
                  <c:v>45323</c:v>
                </c:pt>
                <c:pt idx="29">
                  <c:v>45352</c:v>
                </c:pt>
                <c:pt idx="30">
                  <c:v>45383</c:v>
                </c:pt>
                <c:pt idx="31">
                  <c:v>45413</c:v>
                </c:pt>
                <c:pt idx="32">
                  <c:v>45444</c:v>
                </c:pt>
                <c:pt idx="33">
                  <c:v>45474</c:v>
                </c:pt>
                <c:pt idx="34">
                  <c:v>45505</c:v>
                </c:pt>
                <c:pt idx="35">
                  <c:v>45536</c:v>
                </c:pt>
                <c:pt idx="36">
                  <c:v>45566</c:v>
                </c:pt>
                <c:pt idx="37">
                  <c:v>45597</c:v>
                </c:pt>
                <c:pt idx="38">
                  <c:v>45627</c:v>
                </c:pt>
                <c:pt idx="39">
                  <c:v>45658</c:v>
                </c:pt>
                <c:pt idx="40">
                  <c:v>45689</c:v>
                </c:pt>
                <c:pt idx="41">
                  <c:v>45717</c:v>
                </c:pt>
                <c:pt idx="42">
                  <c:v>45748</c:v>
                </c:pt>
                <c:pt idx="43">
                  <c:v>45778</c:v>
                </c:pt>
                <c:pt idx="44">
                  <c:v>45809</c:v>
                </c:pt>
                <c:pt idx="45">
                  <c:v>45839</c:v>
                </c:pt>
                <c:pt idx="46">
                  <c:v>45870</c:v>
                </c:pt>
                <c:pt idx="47">
                  <c:v>45901</c:v>
                </c:pt>
                <c:pt idx="48">
                  <c:v>45931</c:v>
                </c:pt>
                <c:pt idx="49">
                  <c:v>45962</c:v>
                </c:pt>
              </c:numCache>
            </c:numRef>
          </c:cat>
          <c:val>
            <c:numRef>
              <c:f>Sheet1!B14:B38</c:f>
              <c:numCache>
                <c:formatCode>[$₹-4009]\ #,##0.00</c:formatCode>
                <c:ptCount val="25"/>
                <c:pt idx="0">
                  <c:v>4.4000000000000004</c:v>
                </c:pt>
                <c:pt idx="1">
                  <c:v>13.37</c:v>
                </c:pt>
                <c:pt idx="2">
                  <c:v>8.5500000000000007</c:v>
                </c:pt>
                <c:pt idx="3">
                  <c:v>8.1199999999999992</c:v>
                </c:pt>
                <c:pt idx="4">
                  <c:v>7.93</c:v>
                </c:pt>
                <c:pt idx="5">
                  <c:v>7.49</c:v>
                </c:pt>
                <c:pt idx="6">
                  <c:v>7.6</c:v>
                </c:pt>
                <c:pt idx="7">
                  <c:v>7.4</c:v>
                </c:pt>
                <c:pt idx="8">
                  <c:v>7.16</c:v>
                </c:pt>
                <c:pt idx="9">
                  <c:v>7.4</c:v>
                </c:pt>
                <c:pt idx="10">
                  <c:v>6.91</c:v>
                </c:pt>
                <c:pt idx="11">
                  <c:v>9.64</c:v>
                </c:pt>
                <c:pt idx="12">
                  <c:v>11.37</c:v>
                </c:pt>
                <c:pt idx="13">
                  <c:v>12.58</c:v>
                </c:pt>
                <c:pt idx="14">
                  <c:v>9.0299999999999994</c:v>
                </c:pt>
                <c:pt idx="15">
                  <c:v>8.2899999999999991</c:v>
                </c:pt>
                <c:pt idx="16">
                  <c:v>8.7100000000000009</c:v>
                </c:pt>
                <c:pt idx="17">
                  <c:v>7.58</c:v>
                </c:pt>
                <c:pt idx="18">
                  <c:v>7.43</c:v>
                </c:pt>
                <c:pt idx="19">
                  <c:v>7.58</c:v>
                </c:pt>
                <c:pt idx="20">
                  <c:v>7.91</c:v>
                </c:pt>
                <c:pt idx="21">
                  <c:v>7.7</c:v>
                </c:pt>
                <c:pt idx="22">
                  <c:v>7.27</c:v>
                </c:pt>
                <c:pt idx="23">
                  <c:v>12.83</c:v>
                </c:pt>
                <c:pt idx="24">
                  <c:v>7.88</c:v>
                </c:pt>
              </c:numCache>
            </c:numRef>
          </c:val>
          <c:smooth val="1"/>
          <c:extLst>
            <c:ext xmlns:c16="http://schemas.microsoft.com/office/drawing/2014/chart" uri="{C3380CC4-5D6E-409C-BE32-E72D297353CC}">
              <c16:uniqueId val="{0000001D-CA6F-40B8-B6B2-9D70B3365698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marker val="1"/>
        <c:smooth val="0"/>
        <c:axId val="1810001415"/>
        <c:axId val="1810011655"/>
      </c:lineChart>
      <c:dateAx>
        <c:axId val="1810001415"/>
        <c:scaling>
          <c:orientation val="minMax"/>
        </c:scaling>
        <c:delete val="0"/>
        <c:axPos val="b"/>
        <c:numFmt formatCode="[$-409]mmm\-yy;@" sourceLinked="1"/>
        <c:majorTickMark val="out"/>
        <c:minorTickMark val="none"/>
        <c:tickLblPos val="nextTo"/>
        <c:spPr>
          <a:noFill/>
          <a:ln w="9525" cap="flat" cmpd="sng" algn="ctr">
            <a:solidFill>
              <a:schemeClr val="tx1">
                <a:lumMod val="15000"/>
                <a:lumOff val="85000"/>
              </a:schemeClr>
            </a:solidFill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900" b="1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Aptos Display"/>
                <a:ea typeface="Aptos Display"/>
                <a:cs typeface="Aptos Display"/>
              </a:defRPr>
            </a:pPr>
            <a:endParaRPr lang="en-US"/>
          </a:p>
        </c:txPr>
        <c:crossAx val="1810011655"/>
        <c:crosses val="autoZero"/>
        <c:auto val="1"/>
        <c:lblOffset val="100"/>
        <c:baseTimeUnit val="months"/>
        <c:majorUnit val="3"/>
        <c:minorUnit val="1"/>
      </c:dateAx>
      <c:valAx>
        <c:axId val="1810011655"/>
        <c:scaling>
          <c:orientation val="minMax"/>
        </c:scaling>
        <c:delete val="1"/>
        <c:axPos val="l"/>
        <c:numFmt formatCode="[$₹-4009]\ #,##0.00" sourceLinked="1"/>
        <c:majorTickMark val="none"/>
        <c:minorTickMark val="none"/>
        <c:tickLblPos val="nextTo"/>
        <c:crossAx val="1810001415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zero"/>
    <c:showDLblsOverMax val="0"/>
  </c:chart>
  <c:spPr>
    <a:noFill/>
    <a:ln>
      <a:noFill/>
    </a:ln>
    <a:effectLst/>
  </c:spPr>
  <c:txPr>
    <a:bodyPr/>
    <a:lstStyle/>
    <a:p>
      <a:pPr>
        <a:defRPr/>
      </a:pPr>
      <a:endParaRPr lang="en-US"/>
    </a:p>
  </c:txPr>
  <c:externalData r:id="rId3">
    <c:autoUpdate val="0"/>
  </c:externalData>
</c:chartSpace>
</file>

<file path=ppt/charts/colors1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colors2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colors3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colors4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colors5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colors6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colors7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colors8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colors9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colors10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style1.xml><?xml version="1.0" encoding="utf-8"?>
<cs:chartStyle xmlns:cs="http://schemas.microsoft.com/office/drawing/2012/chartStyle" xmlns:a="http://schemas.openxmlformats.org/drawingml/2006/main" id="297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00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000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900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900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</cs:dataPoint>
  <cs:dataPoint3D>
    <cs:lnRef idx="0"/>
    <cs:fillRef idx="1">
      <cs:styleClr val="auto"/>
    </cs:fillRef>
    <cs:effectRef idx="0"/>
    <cs:fontRef idx="minor">
      <a:schemeClr val="tx1"/>
    </cs:fontRef>
  </cs:dataPoint3D>
  <cs:dataPointLine>
    <cs:lnRef idx="0">
      <cs:styleClr val="auto"/>
    </cs:lnRef>
    <cs:fillRef idx="1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1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dataTable>
  <cs:downBar>
    <cs:lnRef idx="0"/>
    <cs:fillRef idx="0"/>
    <cs:effectRef idx="0"/>
    <cs:fontRef idx="minor">
      <a:schemeClr val="tx1"/>
    </cs:fontRef>
    <cs:spPr>
      <a:solidFill>
        <a:schemeClr val="dk1">
          <a:lumMod val="75000"/>
          <a:lumOff val="25000"/>
        </a:schemeClr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0"/>
            <a:lumOff val="50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400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trendlineLabel>
  <cs:upBar>
    <cs:lnRef idx="0"/>
    <cs:fillRef idx="0"/>
    <cs:effectRef idx="0"/>
    <cs:fontRef idx="minor">
      <a:schemeClr val="tx1"/>
    </cs:fontRef>
    <cs:spPr>
      <a:solidFill>
        <a:schemeClr val="lt1"/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charts/style2.xml><?xml version="1.0" encoding="utf-8"?>
<cs:chartStyle xmlns:cs="http://schemas.microsoft.com/office/drawing/2012/chartStyle" xmlns:a="http://schemas.openxmlformats.org/drawingml/2006/main" id="297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00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000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900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900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</cs:dataPoint>
  <cs:dataPoint3D>
    <cs:lnRef idx="0"/>
    <cs:fillRef idx="1">
      <cs:styleClr val="auto"/>
    </cs:fillRef>
    <cs:effectRef idx="0"/>
    <cs:fontRef idx="minor">
      <a:schemeClr val="tx1"/>
    </cs:fontRef>
  </cs:dataPoint3D>
  <cs:dataPointLine>
    <cs:lnRef idx="0">
      <cs:styleClr val="auto"/>
    </cs:lnRef>
    <cs:fillRef idx="1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1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dataTable>
  <cs:downBar>
    <cs:lnRef idx="0"/>
    <cs:fillRef idx="0"/>
    <cs:effectRef idx="0"/>
    <cs:fontRef idx="minor">
      <a:schemeClr val="tx1"/>
    </cs:fontRef>
    <cs:spPr>
      <a:solidFill>
        <a:schemeClr val="dk1">
          <a:lumMod val="75000"/>
          <a:lumOff val="25000"/>
        </a:schemeClr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0"/>
            <a:lumOff val="50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400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trendlineLabel>
  <cs:upBar>
    <cs:lnRef idx="0"/>
    <cs:fillRef idx="0"/>
    <cs:effectRef idx="0"/>
    <cs:fontRef idx="minor">
      <a:schemeClr val="tx1"/>
    </cs:fontRef>
    <cs:spPr>
      <a:solidFill>
        <a:schemeClr val="lt1"/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charts/style3.xml><?xml version="1.0" encoding="utf-8"?>
<cs:chartStyle xmlns:cs="http://schemas.microsoft.com/office/drawing/2012/chartStyle" xmlns:a="http://schemas.openxmlformats.org/drawingml/2006/main" id="297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00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000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900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900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</cs:dataPoint>
  <cs:dataPoint3D>
    <cs:lnRef idx="0"/>
    <cs:fillRef idx="1">
      <cs:styleClr val="auto"/>
    </cs:fillRef>
    <cs:effectRef idx="0"/>
    <cs:fontRef idx="minor">
      <a:schemeClr val="tx1"/>
    </cs:fontRef>
  </cs:dataPoint3D>
  <cs:dataPointLine>
    <cs:lnRef idx="0">
      <cs:styleClr val="auto"/>
    </cs:lnRef>
    <cs:fillRef idx="1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1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dataTable>
  <cs:downBar>
    <cs:lnRef idx="0"/>
    <cs:fillRef idx="0"/>
    <cs:effectRef idx="0"/>
    <cs:fontRef idx="minor">
      <a:schemeClr val="tx1"/>
    </cs:fontRef>
    <cs:spPr>
      <a:solidFill>
        <a:schemeClr val="dk1">
          <a:lumMod val="75000"/>
          <a:lumOff val="25000"/>
        </a:schemeClr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0"/>
            <a:lumOff val="50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400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trendlineLabel>
  <cs:upBar>
    <cs:lnRef idx="0"/>
    <cs:fillRef idx="0"/>
    <cs:effectRef idx="0"/>
    <cs:fontRef idx="minor">
      <a:schemeClr val="tx1"/>
    </cs:fontRef>
    <cs:spPr>
      <a:solidFill>
        <a:schemeClr val="lt1"/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charts/style4.xml><?xml version="1.0" encoding="utf-8"?>
<cs:chartStyle xmlns:cs="http://schemas.microsoft.com/office/drawing/2012/chartStyle" xmlns:a="http://schemas.openxmlformats.org/drawingml/2006/main" id="322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00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000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900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900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</cs:dataPoint>
  <cs:dataPoint3D>
    <cs:lnRef idx="0"/>
    <cs:fillRef idx="1">
      <cs:styleClr val="auto"/>
    </cs:fillRef>
    <cs:effectRef idx="0"/>
    <cs:fontRef idx="minor">
      <a:schemeClr val="tx1"/>
    </cs:fontRef>
  </cs:dataPoint3D>
  <cs:dataPointLine>
    <cs:lnRef idx="0">
      <cs:styleClr val="auto"/>
    </cs:lnRef>
    <cs:fillRef idx="1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1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dataTable>
  <cs:downBar>
    <cs:lnRef idx="0"/>
    <cs:fillRef idx="0"/>
    <cs:effectRef idx="0"/>
    <cs:fontRef idx="minor">
      <a:schemeClr val="tx1"/>
    </cs:fontRef>
    <cs:spPr>
      <a:solidFill>
        <a:schemeClr val="dk1">
          <a:lumMod val="75000"/>
          <a:lumOff val="25000"/>
        </a:schemeClr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75000"/>
            <a:lumOff val="25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400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trendlineLabel>
  <cs:upBar>
    <cs:lnRef idx="0"/>
    <cs:fillRef idx="0"/>
    <cs:effectRef idx="0"/>
    <cs:fontRef idx="minor">
      <a:schemeClr val="tx1"/>
    </cs:fontRef>
    <cs:spPr>
      <a:solidFill>
        <a:schemeClr val="lt1"/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charts/style5.xml><?xml version="1.0" encoding="utf-8"?>
<cs:chartStyle xmlns:cs="http://schemas.microsoft.com/office/drawing/2012/chartStyle" xmlns:a="http://schemas.openxmlformats.org/drawingml/2006/main" id="251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00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900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900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  <cs:spPr>
      <a:ln w="19050">
        <a:solidFill>
          <a:schemeClr val="lt1"/>
        </a:solidFill>
      </a:ln>
    </cs:spPr>
  </cs:dataPoint>
  <cs:dataPoint3D>
    <cs:lnRef idx="0"/>
    <cs:fillRef idx="1">
      <cs:styleClr val="auto"/>
    </cs:fillRef>
    <cs:effectRef idx="0"/>
    <cs:fontRef idx="minor">
      <a:schemeClr val="tx1"/>
    </cs:fontRef>
    <cs:spPr>
      <a:ln w="25400">
        <a:solidFill>
          <a:schemeClr val="lt1"/>
        </a:solidFill>
      </a:ln>
    </cs:spPr>
  </cs:dataPoint3D>
  <cs:dataPointLine>
    <cs:lnRef idx="0">
      <cs:styleClr val="auto"/>
    </cs:lnRef>
    <cs:fillRef idx="0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0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dataTable>
  <cs:downBar>
    <cs:lnRef idx="0"/>
    <cs:fillRef idx="0"/>
    <cs:effectRef idx="0"/>
    <cs:fontRef idx="minor">
      <a:schemeClr val="tx1"/>
    </cs:fontRef>
    <cs:spPr>
      <a:solidFill>
        <a:schemeClr val="dk1">
          <a:lumMod val="75000"/>
          <a:lumOff val="25000"/>
        </a:schemeClr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0"/>
            <a:lumOff val="50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400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trendlineLabel>
  <cs:upBar>
    <cs:lnRef idx="0"/>
    <cs:fillRef idx="0"/>
    <cs:effectRef idx="0"/>
    <cs:fontRef idx="minor">
      <a:schemeClr val="tx1"/>
    </cs:fontRef>
    <cs:spPr>
      <a:solidFill>
        <a:schemeClr val="lt1"/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charts/style6.xml><?xml version="1.0" encoding="utf-8"?>
<cs:chartStyle xmlns:cs="http://schemas.microsoft.com/office/drawing/2012/chartStyle" xmlns:a="http://schemas.openxmlformats.org/drawingml/2006/main" id="201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00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000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900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900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</cs:dataPoint>
  <cs:dataPoint3D>
    <cs:lnRef idx="0"/>
    <cs:fillRef idx="1">
      <cs:styleClr val="auto"/>
    </cs:fillRef>
    <cs:effectRef idx="0"/>
    <cs:fontRef idx="minor">
      <a:schemeClr val="tx1"/>
    </cs:fontRef>
  </cs:dataPoint3D>
  <cs:dataPointLine>
    <cs:lnRef idx="0">
      <cs:styleClr val="auto"/>
    </cs:lnRef>
    <cs:fillRef idx="1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1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dataTable>
  <cs:downBar>
    <cs:lnRef idx="0"/>
    <cs:fillRef idx="0"/>
    <cs:effectRef idx="0"/>
    <cs:fontRef idx="minor">
      <a:schemeClr val="dk1"/>
    </cs:fontRef>
    <cs:spPr>
      <a:solidFill>
        <a:schemeClr val="dk1">
          <a:lumMod val="65000"/>
          <a:lumOff val="35000"/>
        </a:schemeClr>
      </a:solidFill>
      <a:ln w="9525">
        <a:solidFill>
          <a:schemeClr val="tx1">
            <a:lumMod val="65000"/>
            <a:lumOff val="35000"/>
          </a:schemeClr>
        </a:solidFill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75000"/>
            <a:lumOff val="25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400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trendlineLabel>
  <cs:upBar>
    <cs:lnRef idx="0"/>
    <cs:fillRef idx="0"/>
    <cs:effectRef idx="0"/>
    <cs:fontRef idx="minor">
      <a:schemeClr val="dk1"/>
    </cs:fontRef>
    <cs:spPr>
      <a:solidFill>
        <a:schemeClr val="lt1"/>
      </a:solidFill>
      <a:ln w="9525">
        <a:solidFill>
          <a:schemeClr val="tx1">
            <a:lumMod val="15000"/>
            <a:lumOff val="85000"/>
          </a:schemeClr>
        </a:solidFill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charts/style7.xml><?xml version="1.0" encoding="utf-8"?>
<cs:chartStyle xmlns:cs="http://schemas.microsoft.com/office/drawing/2012/chartStyle" xmlns:a="http://schemas.openxmlformats.org/drawingml/2006/main" id="201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00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000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900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900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</cs:dataPoint>
  <cs:dataPoint3D>
    <cs:lnRef idx="0"/>
    <cs:fillRef idx="1">
      <cs:styleClr val="auto"/>
    </cs:fillRef>
    <cs:effectRef idx="0"/>
    <cs:fontRef idx="minor">
      <a:schemeClr val="tx1"/>
    </cs:fontRef>
  </cs:dataPoint3D>
  <cs:dataPointLine>
    <cs:lnRef idx="0">
      <cs:styleClr val="auto"/>
    </cs:lnRef>
    <cs:fillRef idx="1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1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dataTable>
  <cs:downBar>
    <cs:lnRef idx="0"/>
    <cs:fillRef idx="0"/>
    <cs:effectRef idx="0"/>
    <cs:fontRef idx="minor">
      <a:schemeClr val="dk1"/>
    </cs:fontRef>
    <cs:spPr>
      <a:solidFill>
        <a:schemeClr val="dk1">
          <a:lumMod val="65000"/>
          <a:lumOff val="35000"/>
        </a:schemeClr>
      </a:solidFill>
      <a:ln w="9525">
        <a:solidFill>
          <a:schemeClr val="tx1">
            <a:lumMod val="65000"/>
            <a:lumOff val="35000"/>
          </a:schemeClr>
        </a:solidFill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75000"/>
            <a:lumOff val="25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400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trendlineLabel>
  <cs:upBar>
    <cs:lnRef idx="0"/>
    <cs:fillRef idx="0"/>
    <cs:effectRef idx="0"/>
    <cs:fontRef idx="minor">
      <a:schemeClr val="dk1"/>
    </cs:fontRef>
    <cs:spPr>
      <a:solidFill>
        <a:schemeClr val="lt1"/>
      </a:solidFill>
      <a:ln w="9525">
        <a:solidFill>
          <a:schemeClr val="tx1">
            <a:lumMod val="15000"/>
            <a:lumOff val="85000"/>
          </a:schemeClr>
        </a:solidFill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charts/style8.xml><?xml version="1.0" encoding="utf-8"?>
<cs:chartStyle xmlns:cs="http://schemas.microsoft.com/office/drawing/2012/chartStyle" xmlns:a="http://schemas.openxmlformats.org/drawingml/2006/main" id="251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00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900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900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  <cs:spPr>
      <a:ln w="19050">
        <a:solidFill>
          <a:schemeClr val="lt1"/>
        </a:solidFill>
      </a:ln>
    </cs:spPr>
  </cs:dataPoint>
  <cs:dataPoint3D>
    <cs:lnRef idx="0"/>
    <cs:fillRef idx="1">
      <cs:styleClr val="auto"/>
    </cs:fillRef>
    <cs:effectRef idx="0"/>
    <cs:fontRef idx="minor">
      <a:schemeClr val="tx1"/>
    </cs:fontRef>
    <cs:spPr>
      <a:ln w="25400">
        <a:solidFill>
          <a:schemeClr val="lt1"/>
        </a:solidFill>
      </a:ln>
    </cs:spPr>
  </cs:dataPoint3D>
  <cs:dataPointLine>
    <cs:lnRef idx="0">
      <cs:styleClr val="auto"/>
    </cs:lnRef>
    <cs:fillRef idx="0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0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dataTable>
  <cs:downBar>
    <cs:lnRef idx="0"/>
    <cs:fillRef idx="0"/>
    <cs:effectRef idx="0"/>
    <cs:fontRef idx="minor">
      <a:schemeClr val="tx1"/>
    </cs:fontRef>
    <cs:spPr>
      <a:solidFill>
        <a:schemeClr val="dk1">
          <a:lumMod val="75000"/>
          <a:lumOff val="25000"/>
        </a:schemeClr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0"/>
            <a:lumOff val="50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400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trendlineLabel>
  <cs:upBar>
    <cs:lnRef idx="0"/>
    <cs:fillRef idx="0"/>
    <cs:effectRef idx="0"/>
    <cs:fontRef idx="minor">
      <a:schemeClr val="tx1"/>
    </cs:fontRef>
    <cs:spPr>
      <a:solidFill>
        <a:schemeClr val="lt1"/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charts/style9.xml><?xml version="1.0" encoding="utf-8"?>
<cs:chartStyle xmlns:cs="http://schemas.microsoft.com/office/drawing/2012/chartStyle" xmlns:a="http://schemas.openxmlformats.org/drawingml/2006/main" id="297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00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000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900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900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</cs:dataPoint>
  <cs:dataPoint3D>
    <cs:lnRef idx="0"/>
    <cs:fillRef idx="1">
      <cs:styleClr val="auto"/>
    </cs:fillRef>
    <cs:effectRef idx="0"/>
    <cs:fontRef idx="minor">
      <a:schemeClr val="tx1"/>
    </cs:fontRef>
  </cs:dataPoint3D>
  <cs:dataPointLine>
    <cs:lnRef idx="0">
      <cs:styleClr val="auto"/>
    </cs:lnRef>
    <cs:fillRef idx="1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1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dataTable>
  <cs:downBar>
    <cs:lnRef idx="0"/>
    <cs:fillRef idx="0"/>
    <cs:effectRef idx="0"/>
    <cs:fontRef idx="minor">
      <a:schemeClr val="tx1"/>
    </cs:fontRef>
    <cs:spPr>
      <a:solidFill>
        <a:schemeClr val="dk1">
          <a:lumMod val="75000"/>
          <a:lumOff val="25000"/>
        </a:schemeClr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0"/>
            <a:lumOff val="50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400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trendlineLabel>
  <cs:upBar>
    <cs:lnRef idx="0"/>
    <cs:fillRef idx="0"/>
    <cs:effectRef idx="0"/>
    <cs:fontRef idx="minor">
      <a:schemeClr val="tx1"/>
    </cs:fontRef>
    <cs:spPr>
      <a:solidFill>
        <a:schemeClr val="lt1"/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charts/style10.xml><?xml version="1.0" encoding="utf-8"?>
<cs:chartStyle xmlns:cs="http://schemas.microsoft.com/office/drawing/2012/chartStyle" xmlns:a="http://schemas.openxmlformats.org/drawingml/2006/main" id="276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00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000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900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900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</cs:dataPoint>
  <cs:dataPoint3D>
    <cs:lnRef idx="0"/>
    <cs:fillRef idx="1">
      <cs:styleClr val="auto"/>
    </cs:fillRef>
    <cs:effectRef idx="0"/>
    <cs:fontRef idx="minor">
      <a:schemeClr val="tx1"/>
    </cs:fontRef>
  </cs:dataPoint3D>
  <cs:dataPointLine>
    <cs:lnRef idx="0">
      <cs:styleClr val="auto"/>
    </cs:lnRef>
    <cs:fillRef idx="1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1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dataTable>
  <cs:downBar>
    <cs:lnRef idx="0"/>
    <cs:fillRef idx="0"/>
    <cs:effectRef idx="0"/>
    <cs:fontRef idx="minor">
      <a:schemeClr val="tx1"/>
    </cs:fontRef>
    <cs:spPr>
      <a:solidFill>
        <a:schemeClr val="dk1">
          <a:lumMod val="75000"/>
          <a:lumOff val="25000"/>
        </a:schemeClr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0"/>
            <a:lumOff val="50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400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trendlineLabel>
  <cs:upBar>
    <cs:lnRef idx="0"/>
    <cs:fillRef idx="0"/>
    <cs:effectRef idx="0"/>
    <cs:fontRef idx="minor">
      <a:schemeClr val="tx1"/>
    </cs:fontRef>
    <cs:spPr>
      <a:solidFill>
        <a:schemeClr val="lt1"/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>
            <a:spLocks noGrp="1" noRot="1" noChangeAspect="1"/>
          </p:cNvSpPr>
          <p:nvPr>
            <p:ph type="sldImg" idx="2"/>
          </p:nvPr>
        </p:nvSpPr>
        <p:spPr>
          <a:xfrm>
            <a:off x="1143225" y="685800"/>
            <a:ext cx="457222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4" name="Google Shape;4;n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marL="914400" lvl="1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marL="1371600" lvl="2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marL="1828800" lvl="3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marL="2286000" lvl="4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marL="2743200" lvl="5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marL="3200400" lvl="6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marL="3657600" lvl="7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marL="4114800" lvl="8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notes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" name="Google Shape;81;p1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82" name="Google Shape;82;p1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9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8" name="Google Shape;98;p2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99" name="Google Shape;99;p2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2" name="Google Shape;122;p3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23" name="Google Shape;123;p3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7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6" name="Google Shape;176;g3f958277b6c_0_381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77" name="Google Shape;177;g3f958277b6c_0_381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75">
          <a:extLst>
            <a:ext uri="{FF2B5EF4-FFF2-40B4-BE49-F238E27FC236}">
              <a16:creationId xmlns:a16="http://schemas.microsoft.com/office/drawing/2014/main" id="{44E7B5DA-A924-3072-01D9-489C973B372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6" name="Google Shape;176;g3f958277b6c_0_381:notes">
            <a:extLst>
              <a:ext uri="{FF2B5EF4-FFF2-40B4-BE49-F238E27FC236}">
                <a16:creationId xmlns:a16="http://schemas.microsoft.com/office/drawing/2014/main" id="{4181FF4F-655E-85E3-BA92-179121A10842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77" name="Google Shape;177;g3f958277b6c_0_381:notes">
            <a:extLst>
              <a:ext uri="{FF2B5EF4-FFF2-40B4-BE49-F238E27FC236}">
                <a16:creationId xmlns:a16="http://schemas.microsoft.com/office/drawing/2014/main" id="{55425B9C-31CA-277B-3963-05528DB476F1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196313605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9" name="Google Shape;259;p6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60" name="Google Shape;260;p6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8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7" name="Google Shape;287;p7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88" name="Google Shape;288;p7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0" name="Google Shape;330;p8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31" name="Google Shape;331;p8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6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0" name="Google Shape;370;p9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71" name="Google Shape;371;p9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2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7" name="Google Shape;227;p5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28" name="Google Shape;228;p5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9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4" name="Google Shape;394;p1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95" name="Google Shape;395;p10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4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3" name="Google Shape;433;p11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434" name="Google Shape;434;p11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spTree>
      <p:nvGrpSpPr>
        <p:cNvPr id="1" name="Shape 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Google Shape;12;p2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3" name="Google Shape;13;p2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4" name="Google Shape;14;p2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Slide" type="title">
  <p:cSld name="TITLE">
    <p:spTree>
      <p:nvGrpSpPr>
        <p:cNvPr id="1" name="Shape 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Google Shape;16;p3"/>
          <p:cNvSpPr txBox="1"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7" name="Google Shape;17;p3"/>
          <p:cNvSpPr txBox="1"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lvl="0" algn="ctr">
              <a:spcBef>
                <a:spcPts val="640"/>
              </a:spcBef>
              <a:spcAft>
                <a:spcPts val="0"/>
              </a:spcAft>
              <a:buClr>
                <a:srgbClr val="888888"/>
              </a:buClr>
              <a:buSzPts val="3200"/>
              <a:buNone/>
              <a:defRPr>
                <a:solidFill>
                  <a:srgbClr val="888888"/>
                </a:solidFill>
              </a:defRPr>
            </a:lvl1pPr>
            <a:lvl2pPr lvl="1" algn="ctr">
              <a:spcBef>
                <a:spcPts val="560"/>
              </a:spcBef>
              <a:spcAft>
                <a:spcPts val="0"/>
              </a:spcAft>
              <a:buClr>
                <a:srgbClr val="888888"/>
              </a:buClr>
              <a:buSzPts val="2800"/>
              <a:buNone/>
              <a:defRPr>
                <a:solidFill>
                  <a:srgbClr val="888888"/>
                </a:solidFill>
              </a:defRPr>
            </a:lvl2pPr>
            <a:lvl3pPr lvl="2" algn="ctr">
              <a:spcBef>
                <a:spcPts val="480"/>
              </a:spcBef>
              <a:spcAft>
                <a:spcPts val="0"/>
              </a:spcAft>
              <a:buClr>
                <a:srgbClr val="888888"/>
              </a:buClr>
              <a:buSzPts val="2400"/>
              <a:buNone/>
              <a:defRPr>
                <a:solidFill>
                  <a:srgbClr val="888888"/>
                </a:solidFill>
              </a:defRPr>
            </a:lvl3pPr>
            <a:lvl4pPr lvl="3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4pPr>
            <a:lvl5pPr lvl="4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5pPr>
            <a:lvl6pPr lvl="5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6pPr>
            <a:lvl7pPr lvl="6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7pPr>
            <a:lvl8pPr lvl="7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8pPr>
            <a:lvl9pPr lvl="8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9pPr>
          </a:lstStyle>
          <a:p>
            <a:endParaRPr/>
          </a:p>
        </p:txBody>
      </p:sp>
      <p:sp>
        <p:nvSpPr>
          <p:cNvPr id="18" name="Google Shape;18;p3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9" name="Google Shape;19;p3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0" name="Google Shape;20;p3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Content" type="obj">
  <p:cSld name="OBJECT">
    <p:spTree>
      <p:nvGrpSpPr>
        <p:cNvPr id="1" name="Shape 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Google Shape;22;p4"/>
          <p:cNvSpPr txBox="1"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3" name="Google Shape;23;p4"/>
          <p:cNvSpPr txBox="1"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marL="1371600" lvl="2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marL="2286000" lvl="4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marL="2743200" lvl="5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24" name="Google Shape;24;p4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5" name="Google Shape;25;p4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6" name="Google Shape;26;p4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Header" type="secHead">
  <p:cSld name="SECTION_HEADER">
    <p:spTree>
      <p:nvGrpSpPr>
        <p:cNvPr id="1" name="Shape 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" name="Google Shape;28;p5"/>
          <p:cNvSpPr txBox="1"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000"/>
              <a:buFont typeface="Calibri"/>
              <a:buNone/>
              <a:defRPr sz="4000" b="1" cap="none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9" name="Google Shape;29;p5"/>
          <p:cNvSpPr txBox="1"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marL="457200" lvl="0" indent="-228600" algn="l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 sz="2000">
                <a:solidFill>
                  <a:srgbClr val="888888"/>
                </a:solidFill>
              </a:defRPr>
            </a:lvl1pPr>
            <a:lvl2pPr marL="914400" lvl="1" indent="-228600" algn="l">
              <a:spcBef>
                <a:spcPts val="360"/>
              </a:spcBef>
              <a:spcAft>
                <a:spcPts val="0"/>
              </a:spcAft>
              <a:buClr>
                <a:srgbClr val="888888"/>
              </a:buClr>
              <a:buSzPts val="1800"/>
              <a:buNone/>
              <a:defRPr sz="1800">
                <a:solidFill>
                  <a:srgbClr val="888888"/>
                </a:solidFill>
              </a:defRPr>
            </a:lvl2pPr>
            <a:lvl3pPr marL="1371600" lvl="2" indent="-228600" algn="l">
              <a:spcBef>
                <a:spcPts val="32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3pPr>
            <a:lvl4pPr marL="1828800" lvl="3" indent="-2286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4pPr>
            <a:lvl5pPr marL="2286000" lvl="4" indent="-2286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5pPr>
            <a:lvl6pPr marL="2743200" lvl="5" indent="-2286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6pPr>
            <a:lvl7pPr marL="3200400" lvl="6" indent="-2286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7pPr>
            <a:lvl8pPr marL="3657600" lvl="7" indent="-2286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8pPr>
            <a:lvl9pPr marL="4114800" lvl="8" indent="-2286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9pPr>
          </a:lstStyle>
          <a:p>
            <a:endParaRPr/>
          </a:p>
        </p:txBody>
      </p:sp>
      <p:sp>
        <p:nvSpPr>
          <p:cNvPr id="30" name="Google Shape;30;p5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1" name="Google Shape;31;p5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2" name="Google Shape;32;p5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wo Content" type="twoObj">
  <p:cSld name="TWO_OBJECTS">
    <p:spTree>
      <p:nvGrpSpPr>
        <p:cNvPr id="1" name="Shape 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" name="Google Shape;34;p6"/>
          <p:cNvSpPr txBox="1"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5" name="Google Shape;35;p6"/>
          <p:cNvSpPr txBox="1">
            <a:spLocks noGrp="1"/>
          </p:cNvSpPr>
          <p:nvPr>
            <p:ph type="body" idx="1"/>
          </p:nvPr>
        </p:nvSpPr>
        <p:spPr>
          <a:xfrm>
            <a:off x="457200" y="1600200"/>
            <a:ext cx="4038600" cy="45259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40640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  <a:defRPr sz="2800"/>
            </a:lvl1pPr>
            <a:lvl2pPr marL="914400" lvl="1" indent="-3810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–"/>
              <a:defRPr sz="2400"/>
            </a:lvl2pPr>
            <a:lvl3pPr marL="1371600" lvl="2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3pPr>
            <a:lvl4pPr marL="1828800" lvl="3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 sz="1800"/>
            </a:lvl4pPr>
            <a:lvl5pPr marL="2286000" lvl="4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 sz="1800"/>
            </a:lvl5pPr>
            <a:lvl6pPr marL="2743200" lvl="5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6pPr>
            <a:lvl7pPr marL="3200400" lvl="6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7pPr>
            <a:lvl8pPr marL="3657600" lvl="7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8pPr>
            <a:lvl9pPr marL="4114800" lvl="8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9pPr>
          </a:lstStyle>
          <a:p>
            <a:endParaRPr/>
          </a:p>
        </p:txBody>
      </p:sp>
      <p:sp>
        <p:nvSpPr>
          <p:cNvPr id="36" name="Google Shape;36;p6"/>
          <p:cNvSpPr txBox="1">
            <a:spLocks noGrp="1"/>
          </p:cNvSpPr>
          <p:nvPr>
            <p:ph type="body" idx="2"/>
          </p:nvPr>
        </p:nvSpPr>
        <p:spPr>
          <a:xfrm>
            <a:off x="4648200" y="1600200"/>
            <a:ext cx="4038600" cy="45259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40640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  <a:defRPr sz="2800"/>
            </a:lvl1pPr>
            <a:lvl2pPr marL="914400" lvl="1" indent="-3810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–"/>
              <a:defRPr sz="2400"/>
            </a:lvl2pPr>
            <a:lvl3pPr marL="1371600" lvl="2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3pPr>
            <a:lvl4pPr marL="1828800" lvl="3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 sz="1800"/>
            </a:lvl4pPr>
            <a:lvl5pPr marL="2286000" lvl="4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 sz="1800"/>
            </a:lvl5pPr>
            <a:lvl6pPr marL="2743200" lvl="5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6pPr>
            <a:lvl7pPr marL="3200400" lvl="6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7pPr>
            <a:lvl8pPr marL="3657600" lvl="7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8pPr>
            <a:lvl9pPr marL="4114800" lvl="8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9pPr>
          </a:lstStyle>
          <a:p>
            <a:endParaRPr/>
          </a:p>
        </p:txBody>
      </p:sp>
      <p:sp>
        <p:nvSpPr>
          <p:cNvPr id="37" name="Google Shape;37;p6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8" name="Google Shape;38;p6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9" name="Google Shape;39;p6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omparison" type="twoTxTwoObj">
  <p:cSld name="TWO_OBJECTS_WITH_TEXT">
    <p:spTree>
      <p:nvGrpSpPr>
        <p:cNvPr id="1" name="Shape 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" name="Google Shape;41;p7"/>
          <p:cNvSpPr txBox="1"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2" name="Google Shape;42;p7"/>
          <p:cNvSpPr txBox="1"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marL="457200" lvl="0" indent="-2286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sz="2400" b="1"/>
            </a:lvl1pPr>
            <a:lvl2pPr marL="914400" lvl="1" indent="-228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 b="1"/>
            </a:lvl2pPr>
            <a:lvl3pPr marL="1371600" lvl="2" indent="-228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 b="1"/>
            </a:lvl3pPr>
            <a:lvl4pPr marL="1828800" lvl="3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4pPr>
            <a:lvl5pPr marL="2286000" lvl="4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5pPr>
            <a:lvl6pPr marL="2743200" lvl="5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6pPr>
            <a:lvl7pPr marL="3200400" lvl="6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7pPr>
            <a:lvl8pPr marL="3657600" lvl="7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8pPr>
            <a:lvl9pPr marL="4114800" lvl="8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9pPr>
          </a:lstStyle>
          <a:p>
            <a:endParaRPr/>
          </a:p>
        </p:txBody>
      </p:sp>
      <p:sp>
        <p:nvSpPr>
          <p:cNvPr id="43" name="Google Shape;43;p7"/>
          <p:cNvSpPr txBox="1">
            <a:spLocks noGrp="1"/>
          </p:cNvSpPr>
          <p:nvPr>
            <p:ph type="body" idx="2"/>
          </p:nvPr>
        </p:nvSpPr>
        <p:spPr>
          <a:xfrm>
            <a:off x="457200" y="2174875"/>
            <a:ext cx="4040188" cy="39512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810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1pPr>
            <a:lvl2pPr marL="914400" lvl="1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000"/>
            </a:lvl2pPr>
            <a:lvl3pPr marL="1371600" lvl="2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3pPr>
            <a:lvl4pPr marL="1828800" lvl="3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–"/>
              <a:defRPr sz="1600"/>
            </a:lvl4pPr>
            <a:lvl5pPr marL="2286000" lvl="4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»"/>
              <a:defRPr sz="1600"/>
            </a:lvl5pPr>
            <a:lvl6pPr marL="2743200" lvl="5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6pPr>
            <a:lvl7pPr marL="3200400" lvl="6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7pPr>
            <a:lvl8pPr marL="3657600" lvl="7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8pPr>
            <a:lvl9pPr marL="4114800" lvl="8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9pPr>
          </a:lstStyle>
          <a:p>
            <a:endParaRPr/>
          </a:p>
        </p:txBody>
      </p:sp>
      <p:sp>
        <p:nvSpPr>
          <p:cNvPr id="44" name="Google Shape;44;p7"/>
          <p:cNvSpPr txBox="1">
            <a:spLocks noGrp="1"/>
          </p:cNvSpPr>
          <p:nvPr>
            <p:ph type="body" idx="3"/>
          </p:nvPr>
        </p:nvSpPr>
        <p:spPr>
          <a:xfrm>
            <a:off x="4645025" y="1535113"/>
            <a:ext cx="4041775" cy="63976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marL="457200" lvl="0" indent="-2286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sz="2400" b="1"/>
            </a:lvl1pPr>
            <a:lvl2pPr marL="914400" lvl="1" indent="-228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 b="1"/>
            </a:lvl2pPr>
            <a:lvl3pPr marL="1371600" lvl="2" indent="-228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 b="1"/>
            </a:lvl3pPr>
            <a:lvl4pPr marL="1828800" lvl="3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4pPr>
            <a:lvl5pPr marL="2286000" lvl="4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5pPr>
            <a:lvl6pPr marL="2743200" lvl="5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6pPr>
            <a:lvl7pPr marL="3200400" lvl="6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7pPr>
            <a:lvl8pPr marL="3657600" lvl="7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8pPr>
            <a:lvl9pPr marL="4114800" lvl="8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9pPr>
          </a:lstStyle>
          <a:p>
            <a:endParaRPr/>
          </a:p>
        </p:txBody>
      </p:sp>
      <p:sp>
        <p:nvSpPr>
          <p:cNvPr id="45" name="Google Shape;45;p7"/>
          <p:cNvSpPr txBox="1">
            <a:spLocks noGrp="1"/>
          </p:cNvSpPr>
          <p:nvPr>
            <p:ph type="body" idx="4"/>
          </p:nvPr>
        </p:nvSpPr>
        <p:spPr>
          <a:xfrm>
            <a:off x="4645025" y="2174875"/>
            <a:ext cx="4041775" cy="39512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810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1pPr>
            <a:lvl2pPr marL="914400" lvl="1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000"/>
            </a:lvl2pPr>
            <a:lvl3pPr marL="1371600" lvl="2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3pPr>
            <a:lvl4pPr marL="1828800" lvl="3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–"/>
              <a:defRPr sz="1600"/>
            </a:lvl4pPr>
            <a:lvl5pPr marL="2286000" lvl="4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»"/>
              <a:defRPr sz="1600"/>
            </a:lvl5pPr>
            <a:lvl6pPr marL="2743200" lvl="5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6pPr>
            <a:lvl7pPr marL="3200400" lvl="6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7pPr>
            <a:lvl8pPr marL="3657600" lvl="7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8pPr>
            <a:lvl9pPr marL="4114800" lvl="8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9pPr>
          </a:lstStyle>
          <a:p>
            <a:endParaRPr/>
          </a:p>
        </p:txBody>
      </p:sp>
      <p:sp>
        <p:nvSpPr>
          <p:cNvPr id="46" name="Google Shape;46;p7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7" name="Google Shape;47;p7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8" name="Google Shape;48;p7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Only" type="titleOnly">
  <p:cSld name="TITLE_ONLY">
    <p:spTree>
      <p:nvGrpSpPr>
        <p:cNvPr id="1" name="Shape 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" name="Google Shape;50;p8"/>
          <p:cNvSpPr txBox="1"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1" name="Google Shape;51;p8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2" name="Google Shape;52;p8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3" name="Google Shape;53;p8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ontent with Caption" type="objTx">
  <p:cSld name="OBJECT_WITH_CAPTION_TEXT">
    <p:spTree>
      <p:nvGrpSpPr>
        <p:cNvPr id="1" name="Shape 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" name="Google Shape;55;p9"/>
          <p:cNvSpPr txBox="1"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Calibri"/>
              <a:buNone/>
              <a:defRPr sz="2000" b="1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6" name="Google Shape;56;p9"/>
          <p:cNvSpPr txBox="1">
            <a:spLocks noGrp="1"/>
          </p:cNvSpPr>
          <p:nvPr>
            <p:ph type="body" idx="1"/>
          </p:nvPr>
        </p:nvSpPr>
        <p:spPr>
          <a:xfrm>
            <a:off x="3575050" y="273050"/>
            <a:ext cx="5111750" cy="585311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431800" algn="l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Char char="•"/>
              <a:defRPr sz="3200"/>
            </a:lvl1pPr>
            <a:lvl2pPr marL="914400" lvl="1" indent="-40640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–"/>
              <a:defRPr sz="2800"/>
            </a:lvl2pPr>
            <a:lvl3pPr marL="1371600" lvl="2" indent="-3810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3pPr>
            <a:lvl4pPr marL="1828800" lvl="3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000"/>
            </a:lvl4pPr>
            <a:lvl5pPr marL="2286000" lvl="4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»"/>
              <a:defRPr sz="2000"/>
            </a:lvl5pPr>
            <a:lvl6pPr marL="2743200" lvl="5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6pPr>
            <a:lvl7pPr marL="3200400" lvl="6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7pPr>
            <a:lvl8pPr marL="3657600" lvl="7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8pPr>
            <a:lvl9pPr marL="4114800" lvl="8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9pPr>
          </a:lstStyle>
          <a:p>
            <a:endParaRPr/>
          </a:p>
        </p:txBody>
      </p:sp>
      <p:sp>
        <p:nvSpPr>
          <p:cNvPr id="57" name="Google Shape;57;p9"/>
          <p:cNvSpPr txBox="1">
            <a:spLocks noGrp="1"/>
          </p:cNvSpPr>
          <p:nvPr>
            <p:ph type="body" idx="2"/>
          </p:nvPr>
        </p:nvSpPr>
        <p:spPr>
          <a:xfrm>
            <a:off x="457200" y="1435100"/>
            <a:ext cx="3008313" cy="46910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228600" algn="l">
              <a:spcBef>
                <a:spcPts val="28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1pPr>
            <a:lvl2pPr marL="914400" lvl="1" indent="-228600" algn="l">
              <a:spcBef>
                <a:spcPts val="24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2pPr>
            <a:lvl3pPr marL="1371600" lvl="2" indent="-2286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3pPr>
            <a:lvl4pPr marL="1828800" lvl="3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4pPr>
            <a:lvl5pPr marL="2286000" lvl="4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5pPr>
            <a:lvl6pPr marL="2743200" lvl="5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6pPr>
            <a:lvl7pPr marL="3200400" lvl="6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7pPr>
            <a:lvl8pPr marL="3657600" lvl="7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8pPr>
            <a:lvl9pPr marL="4114800" lvl="8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9pPr>
          </a:lstStyle>
          <a:p>
            <a:endParaRPr/>
          </a:p>
        </p:txBody>
      </p:sp>
      <p:sp>
        <p:nvSpPr>
          <p:cNvPr id="58" name="Google Shape;58;p9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9" name="Google Shape;59;p9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0" name="Google Shape;60;p9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Picture with Caption" type="picTx">
  <p:cSld name="PICTURE_WITH_CAPTION_TEXT">
    <p:spTree>
      <p:nvGrpSpPr>
        <p:cNvPr id="1" name="Shape 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" name="Google Shape;62;p10"/>
          <p:cNvSpPr txBox="1"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Calibri"/>
              <a:buNone/>
              <a:defRPr sz="2000" b="1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3" name="Google Shape;63;p10"/>
          <p:cNvSpPr>
            <a:spLocks noGrp="1"/>
          </p:cNvSpPr>
          <p:nvPr>
            <p:ph type="pic" idx="2"/>
          </p:nvPr>
        </p:nvSpPr>
        <p:spPr>
          <a:xfrm>
            <a:off x="1792288" y="612775"/>
            <a:ext cx="5486400" cy="4114800"/>
          </a:xfrm>
          <a:prstGeom prst="rect">
            <a:avLst/>
          </a:prstGeom>
          <a:noFill/>
          <a:ln>
            <a:noFill/>
          </a:ln>
        </p:spPr>
      </p:sp>
      <p:sp>
        <p:nvSpPr>
          <p:cNvPr id="64" name="Google Shape;64;p10"/>
          <p:cNvSpPr txBox="1">
            <a:spLocks noGrp="1"/>
          </p:cNvSpPr>
          <p:nvPr>
            <p:ph type="body" idx="1"/>
          </p:nvPr>
        </p:nvSpPr>
        <p:spPr>
          <a:xfrm>
            <a:off x="1792288" y="5367338"/>
            <a:ext cx="5486400" cy="80486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228600" algn="l">
              <a:spcBef>
                <a:spcPts val="28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1pPr>
            <a:lvl2pPr marL="914400" lvl="1" indent="-228600" algn="l">
              <a:spcBef>
                <a:spcPts val="24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2pPr>
            <a:lvl3pPr marL="1371600" lvl="2" indent="-2286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3pPr>
            <a:lvl4pPr marL="1828800" lvl="3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4pPr>
            <a:lvl5pPr marL="2286000" lvl="4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5pPr>
            <a:lvl6pPr marL="2743200" lvl="5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6pPr>
            <a:lvl7pPr marL="3200400" lvl="6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7pPr>
            <a:lvl8pPr marL="3657600" lvl="7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8pPr>
            <a:lvl9pPr marL="4114800" lvl="8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9pPr>
          </a:lstStyle>
          <a:p>
            <a:endParaRPr/>
          </a:p>
        </p:txBody>
      </p:sp>
      <p:sp>
        <p:nvSpPr>
          <p:cNvPr id="65" name="Google Shape;65;p10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6" name="Google Shape;66;p10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7" name="Google Shape;67;p10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Vertical Text" type="vertTx">
  <p:cSld name="VERTICAL_TEXT">
    <p:spTree>
      <p:nvGrpSpPr>
        <p:cNvPr id="1" name="Shape 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" name="Google Shape;69;p11"/>
          <p:cNvSpPr txBox="1"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0" name="Google Shape;70;p11"/>
          <p:cNvSpPr txBox="1">
            <a:spLocks noGrp="1"/>
          </p:cNvSpPr>
          <p:nvPr>
            <p:ph type="body" idx="1"/>
          </p:nvPr>
        </p:nvSpPr>
        <p:spPr>
          <a:xfrm rot="5400000">
            <a:off x="2309019" y="-251618"/>
            <a:ext cx="4525963" cy="8229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marL="1371600" lvl="2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marL="2286000" lvl="4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marL="2743200" lvl="5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71" name="Google Shape;71;p11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2" name="Google Shape;72;p11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3" name="Google Shape;73;p11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Vertical Title and Text" type="vertTitleAndTx">
  <p:cSld name="VERTICAL_TITLE_AND_VERTICAL_TEXT">
    <p:spTree>
      <p:nvGrpSpPr>
        <p:cNvPr id="1" name="Shape 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" name="Google Shape;75;p12"/>
          <p:cNvSpPr txBox="1">
            <a:spLocks noGrp="1"/>
          </p:cNvSpPr>
          <p:nvPr>
            <p:ph type="title"/>
          </p:nvPr>
        </p:nvSpPr>
        <p:spPr>
          <a:xfrm rot="5400000">
            <a:off x="4732338" y="2171701"/>
            <a:ext cx="5851525" cy="2057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6" name="Google Shape;76;p12"/>
          <p:cNvSpPr txBox="1">
            <a:spLocks noGrp="1"/>
          </p:cNvSpPr>
          <p:nvPr>
            <p:ph type="body" idx="1"/>
          </p:nvPr>
        </p:nvSpPr>
        <p:spPr>
          <a:xfrm rot="5400000">
            <a:off x="541338" y="190500"/>
            <a:ext cx="5851525" cy="6019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marL="1371600" lvl="2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marL="2286000" lvl="4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marL="2743200" lvl="5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77" name="Google Shape;77;p12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8" name="Google Shape;78;p12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9" name="Google Shape;79;p12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marR="0" lvl="0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  <a:defRPr sz="4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9pPr>
          </a:lstStyle>
          <a:p>
            <a:endParaRPr/>
          </a:p>
        </p:txBody>
      </p:sp>
      <p:sp>
        <p:nvSpPr>
          <p:cNvPr id="7" name="Google Shape;7;p1"/>
          <p:cNvSpPr txBox="1"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marR="0" lvl="0" indent="-431800" algn="l" rtl="0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Arial"/>
              <a:buChar char="•"/>
              <a:defRPr sz="3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914400" marR="0" lvl="1" indent="-406400" algn="l" rtl="0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Char char="–"/>
              <a:defRPr sz="2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1371600" marR="0" lvl="2" indent="-381000" algn="l" rtl="0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sz="2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1828800" marR="0" lvl="3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–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2286000" marR="0" lvl="4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»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2743200" marR="0" lvl="5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3200400" marR="0" lvl="6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3657600" marR="0" lvl="7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4114800" marR="0" lvl="8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8" name="Google Shape;8;p1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R="0"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9" name="Google Shape;9;p1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R="0" lvl="0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10" name="Google Shape;10;p1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</p:sldLayoutIdLst>
  <p:hf sldNum="0"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8" Type="http://schemas.openxmlformats.org/officeDocument/2006/relationships/image" Target="../media/image6.png"/><Relationship Id="rId3" Type="http://schemas.openxmlformats.org/officeDocument/2006/relationships/image" Target="../media/image1.png"/><Relationship Id="rId7" Type="http://schemas.openxmlformats.org/officeDocument/2006/relationships/image" Target="../media/image5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4.png"/><Relationship Id="rId5" Type="http://schemas.openxmlformats.org/officeDocument/2006/relationships/image" Target="../media/image3.png"/><Relationship Id="rId4" Type="http://schemas.openxmlformats.org/officeDocument/2006/relationships/image" Target="../media/image2.png"/></Relationships>
</file>

<file path=ppt/slides/_rels/slide2.xml.rels><?xml version="1.0" encoding="UTF-8" standalone="yes"?>
<Relationships xmlns="http://schemas.openxmlformats.org/package/2006/relationships"><Relationship Id="rId8" Type="http://schemas.openxmlformats.org/officeDocument/2006/relationships/image" Target="../media/image11.png"/><Relationship Id="rId13" Type="http://schemas.openxmlformats.org/officeDocument/2006/relationships/image" Target="../media/image16.png"/><Relationship Id="rId3" Type="http://schemas.openxmlformats.org/officeDocument/2006/relationships/image" Target="../media/image1.png"/><Relationship Id="rId7" Type="http://schemas.openxmlformats.org/officeDocument/2006/relationships/image" Target="../media/image10.png"/><Relationship Id="rId12" Type="http://schemas.openxmlformats.org/officeDocument/2006/relationships/image" Target="../media/image15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9.png"/><Relationship Id="rId11" Type="http://schemas.openxmlformats.org/officeDocument/2006/relationships/image" Target="../media/image14.png"/><Relationship Id="rId5" Type="http://schemas.openxmlformats.org/officeDocument/2006/relationships/image" Target="../media/image8.png"/><Relationship Id="rId10" Type="http://schemas.openxmlformats.org/officeDocument/2006/relationships/image" Target="../media/image13.png"/><Relationship Id="rId4" Type="http://schemas.openxmlformats.org/officeDocument/2006/relationships/image" Target="../media/image7.png"/><Relationship Id="rId9" Type="http://schemas.openxmlformats.org/officeDocument/2006/relationships/image" Target="../media/image12.png"/><Relationship Id="rId14" Type="http://schemas.openxmlformats.org/officeDocument/2006/relationships/image" Target="../media/image17.svg"/></Relationships>
</file>

<file path=ppt/slides/_rels/slide3.xml.rels><?xml version="1.0" encoding="UTF-8" standalone="yes"?>
<Relationships xmlns="http://schemas.openxmlformats.org/package/2006/relationships"><Relationship Id="rId8" Type="http://schemas.openxmlformats.org/officeDocument/2006/relationships/image" Target="../media/image22.png"/><Relationship Id="rId13" Type="http://schemas.openxmlformats.org/officeDocument/2006/relationships/image" Target="../media/image27.png"/><Relationship Id="rId18" Type="http://schemas.openxmlformats.org/officeDocument/2006/relationships/image" Target="../media/image32.png"/><Relationship Id="rId3" Type="http://schemas.openxmlformats.org/officeDocument/2006/relationships/image" Target="../media/image18.png"/><Relationship Id="rId21" Type="http://schemas.openxmlformats.org/officeDocument/2006/relationships/image" Target="../media/image35.png"/><Relationship Id="rId7" Type="http://schemas.openxmlformats.org/officeDocument/2006/relationships/image" Target="../media/image21.png"/><Relationship Id="rId12" Type="http://schemas.openxmlformats.org/officeDocument/2006/relationships/image" Target="../media/image26.png"/><Relationship Id="rId17" Type="http://schemas.openxmlformats.org/officeDocument/2006/relationships/image" Target="../media/image31.png"/><Relationship Id="rId2" Type="http://schemas.openxmlformats.org/officeDocument/2006/relationships/notesSlide" Target="../notesSlides/notesSlide3.xml"/><Relationship Id="rId16" Type="http://schemas.openxmlformats.org/officeDocument/2006/relationships/image" Target="../media/image30.png"/><Relationship Id="rId20" Type="http://schemas.openxmlformats.org/officeDocument/2006/relationships/image" Target="../media/image34.png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20.png"/><Relationship Id="rId11" Type="http://schemas.openxmlformats.org/officeDocument/2006/relationships/image" Target="../media/image25.png"/><Relationship Id="rId24" Type="http://schemas.openxmlformats.org/officeDocument/2006/relationships/image" Target="../media/image38.png"/><Relationship Id="rId5" Type="http://schemas.openxmlformats.org/officeDocument/2006/relationships/image" Target="../media/image19.png"/><Relationship Id="rId15" Type="http://schemas.openxmlformats.org/officeDocument/2006/relationships/image" Target="../media/image29.png"/><Relationship Id="rId23" Type="http://schemas.openxmlformats.org/officeDocument/2006/relationships/image" Target="../media/image37.png"/><Relationship Id="rId10" Type="http://schemas.openxmlformats.org/officeDocument/2006/relationships/image" Target="../media/image24.png"/><Relationship Id="rId19" Type="http://schemas.openxmlformats.org/officeDocument/2006/relationships/image" Target="../media/image33.png"/><Relationship Id="rId4" Type="http://schemas.openxmlformats.org/officeDocument/2006/relationships/image" Target="../media/image16.png"/><Relationship Id="rId9" Type="http://schemas.openxmlformats.org/officeDocument/2006/relationships/image" Target="../media/image23.png"/><Relationship Id="rId14" Type="http://schemas.openxmlformats.org/officeDocument/2006/relationships/image" Target="../media/image28.png"/><Relationship Id="rId22" Type="http://schemas.openxmlformats.org/officeDocument/2006/relationships/image" Target="../media/image36.png"/></Relationships>
</file>

<file path=ppt/slides/_rels/slide4.xml.rels><?xml version="1.0" encoding="UTF-8" standalone="yes"?>
<Relationships xmlns="http://schemas.openxmlformats.org/package/2006/relationships"><Relationship Id="rId8" Type="http://schemas.openxmlformats.org/officeDocument/2006/relationships/image" Target="../media/image42.png"/><Relationship Id="rId3" Type="http://schemas.openxmlformats.org/officeDocument/2006/relationships/image" Target="../media/image18.png"/><Relationship Id="rId7" Type="http://schemas.openxmlformats.org/officeDocument/2006/relationships/image" Target="../media/image41.png"/><Relationship Id="rId12" Type="http://schemas.openxmlformats.org/officeDocument/2006/relationships/image" Target="../media/image44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3.png"/><Relationship Id="rId11" Type="http://schemas.openxmlformats.org/officeDocument/2006/relationships/chart" Target="../charts/chart2.xml"/><Relationship Id="rId5" Type="http://schemas.openxmlformats.org/officeDocument/2006/relationships/image" Target="../media/image40.png"/><Relationship Id="rId10" Type="http://schemas.openxmlformats.org/officeDocument/2006/relationships/chart" Target="../charts/chart1.xml"/><Relationship Id="rId4" Type="http://schemas.openxmlformats.org/officeDocument/2006/relationships/image" Target="../media/image39.png"/><Relationship Id="rId9" Type="http://schemas.openxmlformats.org/officeDocument/2006/relationships/image" Target="../media/image43.png"/></Relationships>
</file>

<file path=ppt/slides/_rels/slide5.xml.rels><?xml version="1.0" encoding="UTF-8" standalone="yes"?>
<Relationships xmlns="http://schemas.openxmlformats.org/package/2006/relationships"><Relationship Id="rId8" Type="http://schemas.openxmlformats.org/officeDocument/2006/relationships/image" Target="../media/image16.png"/><Relationship Id="rId3" Type="http://schemas.openxmlformats.org/officeDocument/2006/relationships/image" Target="../media/image18.png"/><Relationship Id="rId7" Type="http://schemas.openxmlformats.org/officeDocument/2006/relationships/image" Target="../media/image45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3.png"/><Relationship Id="rId5" Type="http://schemas.openxmlformats.org/officeDocument/2006/relationships/image" Target="../media/image40.png"/><Relationship Id="rId4" Type="http://schemas.openxmlformats.org/officeDocument/2006/relationships/image" Target="../media/image39.png"/></Relationships>
</file>

<file path=ppt/slides/_rels/slide6.xml.rels><?xml version="1.0" encoding="UTF-8" standalone="yes"?>
<Relationships xmlns="http://schemas.openxmlformats.org/package/2006/relationships"><Relationship Id="rId8" Type="http://schemas.openxmlformats.org/officeDocument/2006/relationships/image" Target="../media/image50.png"/><Relationship Id="rId13" Type="http://schemas.openxmlformats.org/officeDocument/2006/relationships/chart" Target="../charts/chart4.xml"/><Relationship Id="rId3" Type="http://schemas.openxmlformats.org/officeDocument/2006/relationships/image" Target="../media/image18.png"/><Relationship Id="rId7" Type="http://schemas.openxmlformats.org/officeDocument/2006/relationships/image" Target="../media/image49.png"/><Relationship Id="rId12" Type="http://schemas.openxmlformats.org/officeDocument/2006/relationships/chart" Target="../charts/chart3.xml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48.png"/><Relationship Id="rId11" Type="http://schemas.openxmlformats.org/officeDocument/2006/relationships/image" Target="../media/image53.png"/><Relationship Id="rId5" Type="http://schemas.openxmlformats.org/officeDocument/2006/relationships/image" Target="../media/image47.png"/><Relationship Id="rId10" Type="http://schemas.openxmlformats.org/officeDocument/2006/relationships/image" Target="../media/image52.png"/><Relationship Id="rId4" Type="http://schemas.openxmlformats.org/officeDocument/2006/relationships/image" Target="../media/image46.png"/><Relationship Id="rId9" Type="http://schemas.openxmlformats.org/officeDocument/2006/relationships/image" Target="../media/image51.png"/><Relationship Id="rId14" Type="http://schemas.openxmlformats.org/officeDocument/2006/relationships/chart" Target="../charts/chart5.xml"/></Relationships>
</file>

<file path=ppt/slides/_rels/slide7.xml.rels><?xml version="1.0" encoding="UTF-8" standalone="yes"?>
<Relationships xmlns="http://schemas.openxmlformats.org/package/2006/relationships"><Relationship Id="rId8" Type="http://schemas.openxmlformats.org/officeDocument/2006/relationships/image" Target="../media/image57.png"/><Relationship Id="rId13" Type="http://schemas.openxmlformats.org/officeDocument/2006/relationships/chart" Target="../charts/chart7.xml"/><Relationship Id="rId3" Type="http://schemas.openxmlformats.org/officeDocument/2006/relationships/image" Target="../media/image54.png"/><Relationship Id="rId7" Type="http://schemas.openxmlformats.org/officeDocument/2006/relationships/image" Target="../media/image56.png"/><Relationship Id="rId12" Type="http://schemas.openxmlformats.org/officeDocument/2006/relationships/chart" Target="../charts/chart6.xml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25.png"/><Relationship Id="rId11" Type="http://schemas.openxmlformats.org/officeDocument/2006/relationships/image" Target="../media/image60.png"/><Relationship Id="rId5" Type="http://schemas.openxmlformats.org/officeDocument/2006/relationships/image" Target="../media/image55.png"/><Relationship Id="rId10" Type="http://schemas.openxmlformats.org/officeDocument/2006/relationships/image" Target="../media/image59.png"/><Relationship Id="rId4" Type="http://schemas.openxmlformats.org/officeDocument/2006/relationships/image" Target="../media/image39.png"/><Relationship Id="rId9" Type="http://schemas.openxmlformats.org/officeDocument/2006/relationships/image" Target="../media/image58.png"/></Relationships>
</file>

<file path=ppt/slides/_rels/slide8.xml.rels><?xml version="1.0" encoding="UTF-8" standalone="yes"?>
<Relationships xmlns="http://schemas.openxmlformats.org/package/2006/relationships"><Relationship Id="rId8" Type="http://schemas.openxmlformats.org/officeDocument/2006/relationships/image" Target="../media/image25.png"/><Relationship Id="rId13" Type="http://schemas.openxmlformats.org/officeDocument/2006/relationships/image" Target="../media/image70.png"/><Relationship Id="rId3" Type="http://schemas.openxmlformats.org/officeDocument/2006/relationships/image" Target="../media/image61.png"/><Relationship Id="rId7" Type="http://schemas.openxmlformats.org/officeDocument/2006/relationships/image" Target="../media/image65.png"/><Relationship Id="rId12" Type="http://schemas.openxmlformats.org/officeDocument/2006/relationships/image" Target="../media/image69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64.png"/><Relationship Id="rId11" Type="http://schemas.openxmlformats.org/officeDocument/2006/relationships/image" Target="../media/image68.png"/><Relationship Id="rId5" Type="http://schemas.openxmlformats.org/officeDocument/2006/relationships/image" Target="../media/image63.png"/><Relationship Id="rId10" Type="http://schemas.openxmlformats.org/officeDocument/2006/relationships/image" Target="../media/image67.png"/><Relationship Id="rId4" Type="http://schemas.openxmlformats.org/officeDocument/2006/relationships/image" Target="../media/image62.png"/><Relationship Id="rId9" Type="http://schemas.openxmlformats.org/officeDocument/2006/relationships/image" Target="../media/image66.png"/></Relationships>
</file>

<file path=ppt/slides/_rels/slide9.xml.rels><?xml version="1.0" encoding="UTF-8" standalone="yes"?>
<Relationships xmlns="http://schemas.openxmlformats.org/package/2006/relationships"><Relationship Id="rId8" Type="http://schemas.openxmlformats.org/officeDocument/2006/relationships/chart" Target="../charts/chart8.xml"/><Relationship Id="rId3" Type="http://schemas.openxmlformats.org/officeDocument/2006/relationships/image" Target="../media/image71.png"/><Relationship Id="rId7" Type="http://schemas.openxmlformats.org/officeDocument/2006/relationships/image" Target="../media/image73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72.png"/><Relationship Id="rId5" Type="http://schemas.openxmlformats.org/officeDocument/2006/relationships/image" Target="../media/image25.png"/><Relationship Id="rId4" Type="http://schemas.openxmlformats.org/officeDocument/2006/relationships/image" Target="../media/image64.png"/><Relationship Id="rId9" Type="http://schemas.openxmlformats.org/officeDocument/2006/relationships/chart" Target="../charts/chart9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71.png"/><Relationship Id="rId7" Type="http://schemas.openxmlformats.org/officeDocument/2006/relationships/chart" Target="../charts/chart10.xml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45.png"/><Relationship Id="rId5" Type="http://schemas.openxmlformats.org/officeDocument/2006/relationships/image" Target="../media/image3.png"/><Relationship Id="rId4" Type="http://schemas.openxmlformats.org/officeDocument/2006/relationships/image" Target="../media/image64.png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74.png"/><Relationship Id="rId7" Type="http://schemas.openxmlformats.org/officeDocument/2006/relationships/image" Target="../media/image78.pn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77.png"/><Relationship Id="rId5" Type="http://schemas.openxmlformats.org/officeDocument/2006/relationships/image" Target="../media/image76.png"/><Relationship Id="rId4" Type="http://schemas.openxmlformats.org/officeDocument/2006/relationships/image" Target="../media/image75.png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79.pn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80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Shape 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4" name="Google Shape;84;p13" descr="image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pic>
        <p:nvPicPr>
          <p:cNvPr id="86" name="Google Shape;86;p13" descr="image.png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7381875" y="333375"/>
            <a:ext cx="4381500" cy="6191250"/>
          </a:xfrm>
          <a:prstGeom prst="rect">
            <a:avLst/>
          </a:prstGeom>
          <a:noFill/>
          <a:ln>
            <a:noFill/>
          </a:ln>
        </p:spPr>
      </p:pic>
      <p:pic>
        <p:nvPicPr>
          <p:cNvPr id="88" name="Google Shape;88;p13" descr="image.png"/>
          <p:cNvPicPr preferRelativeResize="0"/>
          <p:nvPr/>
        </p:nvPicPr>
        <p:blipFill rotWithShape="1">
          <a:blip r:embed="rId5">
            <a:alphaModFix/>
          </a:blip>
          <a:srcRect/>
          <a:stretch/>
        </p:blipFill>
        <p:spPr>
          <a:xfrm>
            <a:off x="428625" y="6505575"/>
            <a:ext cx="11334750" cy="219075"/>
          </a:xfrm>
          <a:prstGeom prst="rect">
            <a:avLst/>
          </a:prstGeom>
          <a:noFill/>
          <a:ln>
            <a:noFill/>
          </a:ln>
        </p:spPr>
      </p:pic>
      <p:sp>
        <p:nvSpPr>
          <p:cNvPr id="89" name="Google Shape;89;p13"/>
          <p:cNvSpPr txBox="1"/>
          <p:nvPr/>
        </p:nvSpPr>
        <p:spPr>
          <a:xfrm>
            <a:off x="414248" y="6620054"/>
            <a:ext cx="2090647" cy="12695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825" b="0" i="0" u="none" strike="noStrike" cap="none">
                <a:solidFill>
                  <a:srgbClr val="94A3B8"/>
                </a:solidFill>
                <a:latin typeface="Inter"/>
                <a:ea typeface="Inter"/>
                <a:cs typeface="Inter"/>
                <a:sym typeface="Inter"/>
              </a:rPr>
              <a:t>FashionWave HQ Analytics</a:t>
            </a:r>
            <a:endParaRPr/>
          </a:p>
        </p:txBody>
      </p:sp>
      <p:sp>
        <p:nvSpPr>
          <p:cNvPr id="90" name="Google Shape;90;p13"/>
          <p:cNvSpPr txBox="1"/>
          <p:nvPr/>
        </p:nvSpPr>
        <p:spPr>
          <a:xfrm>
            <a:off x="10563944" y="6620054"/>
            <a:ext cx="1213808" cy="12695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800" b="0" i="0" u="none" strike="noStrike" cap="none">
                <a:solidFill>
                  <a:srgbClr val="94A3B8"/>
                </a:solidFill>
                <a:latin typeface="Inter"/>
                <a:ea typeface="Inter"/>
                <a:cs typeface="Inter"/>
                <a:sym typeface="Inter"/>
              </a:rPr>
              <a:t>Slide 1 of </a:t>
            </a:r>
            <a:r>
              <a:rPr lang="en-US" sz="800">
                <a:solidFill>
                  <a:srgbClr val="94A3B8"/>
                </a:solidFill>
                <a:latin typeface="Inter"/>
                <a:ea typeface="Inter"/>
                <a:cs typeface="Inter"/>
                <a:sym typeface="Inter"/>
              </a:rPr>
              <a:t>12</a:t>
            </a:r>
            <a:endParaRPr/>
          </a:p>
        </p:txBody>
      </p:sp>
      <p:sp>
        <p:nvSpPr>
          <p:cNvPr id="91" name="Google Shape;91;p13"/>
          <p:cNvSpPr txBox="1"/>
          <p:nvPr/>
        </p:nvSpPr>
        <p:spPr>
          <a:xfrm>
            <a:off x="408225" y="1607605"/>
            <a:ext cx="6900900" cy="1141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14985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450" b="0" i="0" u="none" strike="noStrike" cap="none">
                <a:solidFill>
                  <a:srgbClr val="0F172A"/>
                </a:solidFill>
                <a:latin typeface="Poppins ExtraBold"/>
                <a:ea typeface="Poppins ExtraBold"/>
                <a:cs typeface="Poppins ExtraBold"/>
                <a:sym typeface="Poppins ExtraBold"/>
              </a:rPr>
              <a:t>FASHIONWAVE </a:t>
            </a:r>
            <a:r>
              <a:rPr lang="en-US" sz="3450" b="0" i="0" u="none" strike="noStrike" cap="none">
                <a:solidFill>
                  <a:srgbClr val="0284C7"/>
                </a:solidFill>
                <a:latin typeface="Poppins ExtraBold"/>
                <a:ea typeface="Poppins ExtraBold"/>
                <a:cs typeface="Poppins ExtraBold"/>
                <a:sym typeface="Poppins ExtraBold"/>
              </a:rPr>
              <a:t>Retail Sales</a:t>
            </a:r>
            <a:r>
              <a:rPr lang="en-US" sz="3450" b="0" i="0" u="none" strike="noStrike" cap="none">
                <a:solidFill>
                  <a:srgbClr val="0F172A"/>
                </a:solidFill>
                <a:latin typeface="Poppins ExtraBold"/>
                <a:ea typeface="Poppins ExtraBold"/>
                <a:cs typeface="Poppins ExtraBold"/>
                <a:sym typeface="Poppins ExtraBold"/>
              </a:rPr>
              <a:t> Performance</a:t>
            </a:r>
            <a:endParaRPr/>
          </a:p>
        </p:txBody>
      </p:sp>
      <p:sp>
        <p:nvSpPr>
          <p:cNvPr id="92" name="Google Shape;92;p13"/>
          <p:cNvSpPr txBox="1"/>
          <p:nvPr/>
        </p:nvSpPr>
        <p:spPr>
          <a:xfrm>
            <a:off x="428625" y="3277847"/>
            <a:ext cx="6572400" cy="61555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59921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50" b="0" i="0" u="none" strike="noStrike" cap="none">
                <a:solidFill>
                  <a:srgbClr val="475569"/>
                </a:solidFill>
                <a:latin typeface="Inter"/>
                <a:ea typeface="Inter"/>
                <a:cs typeface="Inter"/>
                <a:sym typeface="Inter"/>
              </a:rPr>
              <a:t>Strategic Performance Analysis, Margin Optimization &amp; Growth Strategy across 50 Retail Outlets</a:t>
            </a:r>
            <a:endParaRPr/>
          </a:p>
        </p:txBody>
      </p:sp>
      <p:pic>
        <p:nvPicPr>
          <p:cNvPr id="93" name="Google Shape;93;p13" descr="image.png"/>
          <p:cNvPicPr preferRelativeResize="0"/>
          <p:nvPr/>
        </p:nvPicPr>
        <p:blipFill rotWithShape="1">
          <a:blip r:embed="rId6">
            <a:alphaModFix/>
          </a:blip>
          <a:srcRect/>
          <a:stretch/>
        </p:blipFill>
        <p:spPr>
          <a:xfrm>
            <a:off x="7381875" y="333375"/>
            <a:ext cx="4381500" cy="6191250"/>
          </a:xfrm>
          <a:prstGeom prst="rect">
            <a:avLst/>
          </a:prstGeom>
          <a:noFill/>
          <a:ln>
            <a:noFill/>
          </a:ln>
        </p:spPr>
      </p:pic>
      <p:sp>
        <p:nvSpPr>
          <p:cNvPr id="95" name="Google Shape;95;p13"/>
          <p:cNvSpPr/>
          <p:nvPr/>
        </p:nvSpPr>
        <p:spPr>
          <a:xfrm>
            <a:off x="326575" y="591900"/>
            <a:ext cx="2775900" cy="381000"/>
          </a:xfrm>
          <a:prstGeom prst="roundRect">
            <a:avLst>
              <a:gd name="adj" fmla="val 16667"/>
            </a:avLst>
          </a:prstGeom>
          <a:solidFill>
            <a:srgbClr val="E2EFFF"/>
          </a:solidFill>
          <a:ln w="9525" cap="flat" cmpd="sng">
            <a:solidFill>
              <a:srgbClr val="1F497D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100">
                <a:solidFill>
                  <a:srgbClr val="4F46E5"/>
                </a:solidFill>
                <a:latin typeface="Inter Black"/>
                <a:ea typeface="Inter Black"/>
                <a:cs typeface="Inter Black"/>
                <a:sym typeface="Inter Black"/>
              </a:rPr>
              <a:t>EXECUTIVE BUSINESS REPORT</a:t>
            </a:r>
            <a:endParaRPr sz="1100">
              <a:solidFill>
                <a:srgbClr val="4F46E5"/>
              </a:solidFill>
              <a:latin typeface="Inter Black"/>
              <a:ea typeface="Inter Black"/>
              <a:cs typeface="Inter Black"/>
              <a:sym typeface="Inter Black"/>
            </a:endParaRPr>
          </a:p>
        </p:txBody>
      </p:sp>
      <p:pic>
        <p:nvPicPr>
          <p:cNvPr id="96" name="Google Shape;96;p13" descr="image.png"/>
          <p:cNvPicPr preferRelativeResize="0"/>
          <p:nvPr/>
        </p:nvPicPr>
        <p:blipFill rotWithShape="1">
          <a:blip r:embed="rId7">
            <a:alphaModFix/>
          </a:blip>
          <a:srcRect/>
          <a:stretch/>
        </p:blipFill>
        <p:spPr>
          <a:xfrm>
            <a:off x="408219" y="591902"/>
            <a:ext cx="381000" cy="381000"/>
          </a:xfrm>
          <a:prstGeom prst="rect">
            <a:avLst/>
          </a:prstGeom>
          <a:noFill/>
          <a:ln>
            <a:noFill/>
          </a:ln>
        </p:spPr>
      </p:pic>
      <p:pic>
        <p:nvPicPr>
          <p:cNvPr id="6" name="Google Shape;86;p13">
            <a:extLst>
              <a:ext uri="{FF2B5EF4-FFF2-40B4-BE49-F238E27FC236}">
                <a16:creationId xmlns:a16="http://schemas.microsoft.com/office/drawing/2014/main" id="{74E12285-4485-63FB-0556-68CBE0C8A616}"/>
              </a:ext>
            </a:extLst>
          </p:cNvPr>
          <p:cNvPicPr preferRelativeResize="0"/>
          <p:nvPr/>
        </p:nvPicPr>
        <p:blipFill rotWithShape="1">
          <a:blip r:embed="rId8">
            <a:alphaModFix/>
          </a:blip>
          <a:srcRect/>
          <a:stretch/>
        </p:blipFill>
        <p:spPr>
          <a:xfrm>
            <a:off x="476250" y="4147095"/>
            <a:ext cx="6515100" cy="981075"/>
          </a:xfrm>
          <a:prstGeom prst="rect">
            <a:avLst/>
          </a:prstGeom>
          <a:noFill/>
          <a:ln>
            <a:noFill/>
          </a:ln>
        </p:spPr>
      </p:pic>
      <p:sp>
        <p:nvSpPr>
          <p:cNvPr id="7" name="Google Shape;91;p13">
            <a:extLst>
              <a:ext uri="{FF2B5EF4-FFF2-40B4-BE49-F238E27FC236}">
                <a16:creationId xmlns:a16="http://schemas.microsoft.com/office/drawing/2014/main" id="{48B525C5-6490-DCF2-E0E3-74FCEB66F8AF}"/>
              </a:ext>
            </a:extLst>
          </p:cNvPr>
          <p:cNvSpPr txBox="1"/>
          <p:nvPr/>
        </p:nvSpPr>
        <p:spPr>
          <a:xfrm>
            <a:off x="519382" y="4371022"/>
            <a:ext cx="3574300" cy="14619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/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r>
              <a:rPr lang="en-US" sz="950" b="0" i="0" u="none" strike="noStrike" cap="none">
                <a:solidFill>
                  <a:srgbClr val="64748B"/>
                </a:solidFill>
                <a:latin typeface="Inter"/>
                <a:ea typeface="Inter"/>
                <a:cs typeface="Inter"/>
                <a:sym typeface="Inter"/>
              </a:rPr>
              <a:t>Prepared By: </a:t>
            </a:r>
            <a:r>
              <a:rPr lang="en-US" sz="950" b="1" i="0" u="none" strike="noStrike" cap="none">
                <a:solidFill>
                  <a:srgbClr val="0F172A"/>
                </a:solidFill>
                <a:latin typeface="Inter"/>
                <a:ea typeface="Inter"/>
                <a:cs typeface="Inter"/>
                <a:sym typeface="Inter"/>
              </a:rPr>
              <a:t>Business Intelligence &amp; Analytics</a:t>
            </a:r>
            <a:r>
              <a:rPr lang="en-US" sz="950" b="1">
                <a:solidFill>
                  <a:srgbClr val="0F172A"/>
                </a:solidFill>
                <a:latin typeface="Inter"/>
                <a:ea typeface="Inter"/>
                <a:cs typeface="Inter"/>
                <a:sym typeface="Inter"/>
              </a:rPr>
              <a:t> Division</a:t>
            </a:r>
            <a:endParaRPr lang="en-US" sz="950" b="1">
              <a:solidFill>
                <a:srgbClr val="0F172A"/>
              </a:solidFill>
              <a:latin typeface="Inter"/>
              <a:ea typeface="Inter"/>
            </a:endParaRPr>
          </a:p>
        </p:txBody>
      </p:sp>
      <p:sp>
        <p:nvSpPr>
          <p:cNvPr id="8" name="Google Shape;92;p13">
            <a:extLst>
              <a:ext uri="{FF2B5EF4-FFF2-40B4-BE49-F238E27FC236}">
                <a16:creationId xmlns:a16="http://schemas.microsoft.com/office/drawing/2014/main" id="{FE773ABB-CB79-8FAA-7193-CF3674C8C91C}"/>
              </a:ext>
            </a:extLst>
          </p:cNvPr>
          <p:cNvSpPr txBox="1"/>
          <p:nvPr/>
        </p:nvSpPr>
        <p:spPr>
          <a:xfrm>
            <a:off x="4279690" y="4371022"/>
            <a:ext cx="3186112" cy="14619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/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r>
              <a:rPr lang="en-US" sz="950" b="0" i="0" u="none" strike="noStrike" cap="none">
                <a:solidFill>
                  <a:srgbClr val="64748B"/>
                </a:solidFill>
                <a:latin typeface="Inter"/>
                <a:ea typeface="Inter"/>
                <a:cs typeface="Inter"/>
                <a:sym typeface="Inter"/>
              </a:rPr>
              <a:t>Analysis Period: </a:t>
            </a:r>
            <a:r>
              <a:rPr lang="en-US" sz="950" b="1">
                <a:solidFill>
                  <a:srgbClr val="0F172A"/>
                </a:solidFill>
                <a:latin typeface="Inter"/>
                <a:ea typeface="Inter"/>
                <a:cs typeface="Inter"/>
                <a:sym typeface="Inter"/>
              </a:rPr>
              <a:t>November 2023 – November 2025</a:t>
            </a:r>
            <a:endParaRPr/>
          </a:p>
        </p:txBody>
      </p:sp>
      <p:sp>
        <p:nvSpPr>
          <p:cNvPr id="9" name="Google Shape;93;p13">
            <a:extLst>
              <a:ext uri="{FF2B5EF4-FFF2-40B4-BE49-F238E27FC236}">
                <a16:creationId xmlns:a16="http://schemas.microsoft.com/office/drawing/2014/main" id="{101FBB61-702E-B444-A2B6-F012C9699390}"/>
              </a:ext>
            </a:extLst>
          </p:cNvPr>
          <p:cNvSpPr txBox="1"/>
          <p:nvPr/>
        </p:nvSpPr>
        <p:spPr>
          <a:xfrm>
            <a:off x="519382" y="4871354"/>
            <a:ext cx="3574300" cy="14619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/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r>
              <a:rPr lang="en-US" sz="950" b="0" i="0" u="none" strike="noStrike" cap="none">
                <a:solidFill>
                  <a:srgbClr val="64748B"/>
                </a:solidFill>
                <a:latin typeface="Inter"/>
                <a:ea typeface="Inter"/>
                <a:cs typeface="Inter"/>
                <a:sym typeface="Inter"/>
              </a:rPr>
              <a:t>Industry / Sector: </a:t>
            </a:r>
            <a:r>
              <a:rPr lang="en-US" sz="950" b="1">
                <a:solidFill>
                  <a:srgbClr val="0F172A"/>
                </a:solidFill>
                <a:latin typeface="Inter"/>
                <a:ea typeface="Inter"/>
                <a:cs typeface="Inter"/>
                <a:sym typeface="Inter"/>
              </a:rPr>
              <a:t>Fashion Industry Retail Chain</a:t>
            </a:r>
            <a:endParaRPr lang="en-US" sz="950" b="1">
              <a:latin typeface="Inter"/>
            </a:endParaRPr>
          </a:p>
        </p:txBody>
      </p:sp>
      <p:sp>
        <p:nvSpPr>
          <p:cNvPr id="10" name="Google Shape;94;p13">
            <a:extLst>
              <a:ext uri="{FF2B5EF4-FFF2-40B4-BE49-F238E27FC236}">
                <a16:creationId xmlns:a16="http://schemas.microsoft.com/office/drawing/2014/main" id="{18748D3A-F6A2-99BF-3A31-DD348ACC8953}"/>
              </a:ext>
            </a:extLst>
          </p:cNvPr>
          <p:cNvSpPr txBox="1"/>
          <p:nvPr/>
        </p:nvSpPr>
        <p:spPr>
          <a:xfrm>
            <a:off x="4279690" y="4871354"/>
            <a:ext cx="3186112" cy="14619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/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r>
              <a:rPr lang="en-US" sz="950" b="0" i="0" u="none" strike="noStrike" cap="none">
                <a:solidFill>
                  <a:srgbClr val="64748B"/>
                </a:solidFill>
                <a:latin typeface="Inter"/>
                <a:ea typeface="Inter"/>
                <a:cs typeface="Inter"/>
                <a:sym typeface="Inter"/>
              </a:rPr>
              <a:t>Dataset Scope: </a:t>
            </a:r>
            <a:r>
              <a:rPr lang="en-US" sz="950" b="1">
                <a:solidFill>
                  <a:srgbClr val="0F172A"/>
                </a:solidFill>
                <a:latin typeface="Inter"/>
                <a:ea typeface="Inter"/>
                <a:cs typeface="Inter"/>
                <a:sym typeface="Inter"/>
              </a:rPr>
              <a:t>15,000 Transactions </a:t>
            </a:r>
            <a:endParaRPr lang="en-US" sz="950" b="1">
              <a:solidFill>
                <a:srgbClr val="0F172A"/>
              </a:solidFill>
              <a:latin typeface="Inter"/>
              <a:ea typeface="Inter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Shape 10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Google Shape;84;p13" descr="image.png">
            <a:extLst>
              <a:ext uri="{FF2B5EF4-FFF2-40B4-BE49-F238E27FC236}">
                <a16:creationId xmlns:a16="http://schemas.microsoft.com/office/drawing/2014/main" id="{83B6D47A-F72C-901F-AAD1-6FD81B0574D9}"/>
              </a:ext>
            </a:extLst>
          </p:cNvPr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01" name="Google Shape;101;p14" descr="image.png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428625" y="1528709"/>
            <a:ext cx="3676650" cy="2927163"/>
          </a:xfrm>
          <a:prstGeom prst="rect">
            <a:avLst/>
          </a:prstGeom>
          <a:noFill/>
          <a:ln>
            <a:noFill/>
          </a:ln>
        </p:spPr>
      </p:pic>
      <p:pic>
        <p:nvPicPr>
          <p:cNvPr id="102" name="Google Shape;102;p14" descr="image.png"/>
          <p:cNvPicPr preferRelativeResize="0"/>
          <p:nvPr/>
        </p:nvPicPr>
        <p:blipFill rotWithShape="1">
          <a:blip r:embed="rId5">
            <a:alphaModFix/>
          </a:blip>
          <a:srcRect/>
          <a:stretch/>
        </p:blipFill>
        <p:spPr>
          <a:xfrm>
            <a:off x="4257675" y="1520595"/>
            <a:ext cx="3676650" cy="2949641"/>
          </a:xfrm>
          <a:prstGeom prst="rect">
            <a:avLst/>
          </a:prstGeom>
          <a:noFill/>
          <a:ln>
            <a:noFill/>
          </a:ln>
        </p:spPr>
      </p:pic>
      <p:pic>
        <p:nvPicPr>
          <p:cNvPr id="103" name="Google Shape;103;p14" descr="image.png"/>
          <p:cNvPicPr preferRelativeResize="0"/>
          <p:nvPr/>
        </p:nvPicPr>
        <p:blipFill rotWithShape="1">
          <a:blip r:embed="rId6">
            <a:alphaModFix/>
          </a:blip>
          <a:srcRect/>
          <a:stretch/>
        </p:blipFill>
        <p:spPr>
          <a:xfrm>
            <a:off x="8086725" y="1520596"/>
            <a:ext cx="3676650" cy="2949641"/>
          </a:xfrm>
          <a:prstGeom prst="rect">
            <a:avLst/>
          </a:prstGeom>
          <a:noFill/>
          <a:ln>
            <a:noFill/>
          </a:ln>
        </p:spPr>
      </p:pic>
      <p:sp>
        <p:nvSpPr>
          <p:cNvPr id="104" name="Google Shape;104;p14"/>
          <p:cNvSpPr txBox="1"/>
          <p:nvPr/>
        </p:nvSpPr>
        <p:spPr>
          <a:xfrm>
            <a:off x="766762" y="271766"/>
            <a:ext cx="11425237" cy="44319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spAutoFit/>
          </a:bodyPr>
          <a:lstStyle/>
          <a:p>
            <a:pPr marL="0" marR="0" lvl="0" indent="0" algn="l" rtl="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400" b="1" i="0" u="none" strike="noStrike" cap="none">
                <a:solidFill>
                  <a:srgbClr val="0F172A"/>
                </a:solidFill>
                <a:latin typeface="Poppins"/>
                <a:ea typeface="Poppins"/>
                <a:cs typeface="Poppins"/>
                <a:sym typeface="Poppins"/>
              </a:rPr>
              <a:t>Strategic Project Objectives</a:t>
            </a:r>
            <a:endParaRPr lang="en-US" sz="2400"/>
          </a:p>
        </p:txBody>
      </p:sp>
      <p:sp>
        <p:nvSpPr>
          <p:cNvPr id="105" name="Google Shape;105;p14"/>
          <p:cNvSpPr txBox="1"/>
          <p:nvPr/>
        </p:nvSpPr>
        <p:spPr>
          <a:xfrm>
            <a:off x="428625" y="937281"/>
            <a:ext cx="11334900" cy="2154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b="0" i="0" u="none" strike="noStrike" cap="none">
                <a:solidFill>
                  <a:srgbClr val="64748B"/>
                </a:solidFill>
                <a:latin typeface="Inter"/>
                <a:ea typeface="Inter"/>
                <a:cs typeface="Inter"/>
                <a:sym typeface="Inter"/>
              </a:rPr>
              <a:t>Data-driven roadmap to capture weekend demand, optimize discounting, and expand high-margin categories</a:t>
            </a:r>
            <a:r>
              <a:rPr lang="en-US">
                <a:solidFill>
                  <a:srgbClr val="64748B"/>
                </a:solidFill>
                <a:latin typeface="Inter"/>
                <a:ea typeface="Inter"/>
                <a:cs typeface="Inter"/>
                <a:sym typeface="Inter"/>
              </a:rPr>
              <a:t>.</a:t>
            </a:r>
            <a:endParaRPr sz="2000"/>
          </a:p>
        </p:txBody>
      </p:sp>
      <p:sp>
        <p:nvSpPr>
          <p:cNvPr id="106" name="Google Shape;106;p14"/>
          <p:cNvSpPr txBox="1"/>
          <p:nvPr/>
        </p:nvSpPr>
        <p:spPr>
          <a:xfrm>
            <a:off x="428625" y="6648809"/>
            <a:ext cx="2414138" cy="12695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825" b="0" i="0" u="none" strike="noStrike" cap="none">
                <a:solidFill>
                  <a:srgbClr val="94A3B8"/>
                </a:solidFill>
                <a:latin typeface="Inter"/>
                <a:ea typeface="Inter"/>
                <a:cs typeface="Inter"/>
                <a:sym typeface="Inter"/>
              </a:rPr>
              <a:t>FashionWave Retail Sales Analysis</a:t>
            </a:r>
            <a:endParaRPr/>
          </a:p>
        </p:txBody>
      </p:sp>
      <p:sp>
        <p:nvSpPr>
          <p:cNvPr id="107" name="Google Shape;107;p14"/>
          <p:cNvSpPr txBox="1"/>
          <p:nvPr/>
        </p:nvSpPr>
        <p:spPr>
          <a:xfrm>
            <a:off x="10359950" y="6591300"/>
            <a:ext cx="1403400" cy="126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800" b="0" i="0" u="none" strike="noStrike" cap="none">
                <a:solidFill>
                  <a:srgbClr val="94A3B8"/>
                </a:solidFill>
                <a:latin typeface="Inter"/>
                <a:ea typeface="Inter"/>
                <a:cs typeface="Inter"/>
                <a:sym typeface="Inter"/>
              </a:rPr>
              <a:t>Slide 2 of </a:t>
            </a:r>
            <a:r>
              <a:rPr lang="en-US" sz="800">
                <a:solidFill>
                  <a:srgbClr val="94A3B8"/>
                </a:solidFill>
                <a:latin typeface="Inter"/>
                <a:ea typeface="Inter"/>
                <a:cs typeface="Inter"/>
                <a:sym typeface="Inter"/>
              </a:rPr>
              <a:t>12</a:t>
            </a:r>
            <a:endParaRPr/>
          </a:p>
        </p:txBody>
      </p:sp>
      <p:pic>
        <p:nvPicPr>
          <p:cNvPr id="108" name="Google Shape;108;p14" descr="image.png"/>
          <p:cNvPicPr preferRelativeResize="0"/>
          <p:nvPr/>
        </p:nvPicPr>
        <p:blipFill rotWithShape="1">
          <a:blip r:embed="rId7">
            <a:alphaModFix/>
          </a:blip>
          <a:srcRect/>
          <a:stretch/>
        </p:blipFill>
        <p:spPr>
          <a:xfrm>
            <a:off x="428625" y="379065"/>
            <a:ext cx="223837" cy="2286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09" name="Google Shape;109;p14" descr="image.png"/>
          <p:cNvPicPr preferRelativeResize="0"/>
          <p:nvPr/>
        </p:nvPicPr>
        <p:blipFill rotWithShape="1">
          <a:blip r:embed="rId8">
            <a:alphaModFix/>
          </a:blip>
          <a:srcRect/>
          <a:stretch/>
        </p:blipFill>
        <p:spPr>
          <a:xfrm>
            <a:off x="590550" y="1768793"/>
            <a:ext cx="381000" cy="381000"/>
          </a:xfrm>
          <a:prstGeom prst="rect">
            <a:avLst/>
          </a:prstGeom>
          <a:noFill/>
          <a:ln>
            <a:noFill/>
          </a:ln>
        </p:spPr>
      </p:pic>
      <p:sp>
        <p:nvSpPr>
          <p:cNvPr id="110" name="Google Shape;110;p14"/>
          <p:cNvSpPr txBox="1"/>
          <p:nvPr/>
        </p:nvSpPr>
        <p:spPr>
          <a:xfrm>
            <a:off x="1068675" y="1854765"/>
            <a:ext cx="3520500" cy="24622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00" b="0" i="0" u="none" strike="noStrike" cap="none">
                <a:solidFill>
                  <a:srgbClr val="0F172A"/>
                </a:solidFill>
                <a:latin typeface="Poppins SemiBold"/>
                <a:ea typeface="Poppins SemiBold"/>
                <a:cs typeface="Poppins SemiBold"/>
                <a:sym typeface="Poppins SemiBold"/>
              </a:rPr>
              <a:t>Capture Weekend Sales Gap</a:t>
            </a:r>
            <a:endParaRPr lang="en-US" sz="1600"/>
          </a:p>
        </p:txBody>
      </p:sp>
      <p:sp>
        <p:nvSpPr>
          <p:cNvPr id="111" name="Google Shape;111;p14"/>
          <p:cNvSpPr txBox="1"/>
          <p:nvPr/>
        </p:nvSpPr>
        <p:spPr>
          <a:xfrm>
            <a:off x="590550" y="2540318"/>
            <a:ext cx="3352800" cy="124957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>
              <a:lnSpc>
                <a:spcPct val="145000"/>
              </a:lnSpc>
            </a:pPr>
            <a:r>
              <a:rPr lang="en-US">
                <a:solidFill>
                  <a:srgbClr val="475569"/>
                </a:solidFill>
                <a:latin typeface="Inter"/>
                <a:ea typeface="Inter"/>
                <a:sym typeface="Inter"/>
              </a:rPr>
              <a:t>Identify </a:t>
            </a:r>
            <a:r>
              <a:rPr lang="en-US" i="0" u="none" strike="noStrike" cap="none">
                <a:solidFill>
                  <a:srgbClr val="475569"/>
                </a:solidFill>
                <a:latin typeface="Inter"/>
                <a:ea typeface="Inter"/>
                <a:sym typeface="Inter"/>
              </a:rPr>
              <a:t>the gap </a:t>
            </a:r>
            <a:r>
              <a:rPr lang="en-US">
                <a:solidFill>
                  <a:srgbClr val="475569"/>
                </a:solidFill>
                <a:latin typeface="Inter"/>
                <a:ea typeface="Inter"/>
                <a:sym typeface="Inter"/>
              </a:rPr>
              <a:t>between weekday and weekend performance and determine opportunities to improve </a:t>
            </a:r>
            <a:r>
              <a:rPr lang="en-US" i="0" u="none" strike="noStrike" cap="none">
                <a:solidFill>
                  <a:srgbClr val="475569"/>
                </a:solidFill>
                <a:latin typeface="Inter"/>
                <a:ea typeface="Inter"/>
                <a:sym typeface="Inter"/>
              </a:rPr>
              <a:t>weekend </a:t>
            </a:r>
            <a:r>
              <a:rPr lang="en-US">
                <a:solidFill>
                  <a:srgbClr val="475569"/>
                </a:solidFill>
                <a:latin typeface="Inter"/>
                <a:ea typeface="Inter"/>
                <a:sym typeface="Inter"/>
              </a:rPr>
              <a:t>revenue.</a:t>
            </a:r>
            <a:endParaRPr lang="en-US"/>
          </a:p>
        </p:txBody>
      </p:sp>
      <p:pic>
        <p:nvPicPr>
          <p:cNvPr id="112" name="Google Shape;112;p14" descr="image.png"/>
          <p:cNvPicPr preferRelativeResize="0"/>
          <p:nvPr/>
        </p:nvPicPr>
        <p:blipFill rotWithShape="1">
          <a:blip r:embed="rId9">
            <a:alphaModFix/>
          </a:blip>
          <a:srcRect/>
          <a:stretch/>
        </p:blipFill>
        <p:spPr>
          <a:xfrm>
            <a:off x="4347713" y="1768793"/>
            <a:ext cx="381000" cy="381000"/>
          </a:xfrm>
          <a:prstGeom prst="rect">
            <a:avLst/>
          </a:prstGeom>
          <a:noFill/>
          <a:ln>
            <a:noFill/>
          </a:ln>
        </p:spPr>
      </p:pic>
      <p:sp>
        <p:nvSpPr>
          <p:cNvPr id="113" name="Google Shape;113;p14"/>
          <p:cNvSpPr txBox="1"/>
          <p:nvPr/>
        </p:nvSpPr>
        <p:spPr>
          <a:xfrm>
            <a:off x="4759613" y="1840384"/>
            <a:ext cx="3520500" cy="24622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00" b="0" i="0" u="none" strike="noStrike" cap="none">
                <a:solidFill>
                  <a:srgbClr val="0F172A"/>
                </a:solidFill>
                <a:latin typeface="Poppins SemiBold"/>
                <a:ea typeface="Poppins SemiBold"/>
                <a:cs typeface="Poppins SemiBold"/>
                <a:sym typeface="Poppins SemiBold"/>
              </a:rPr>
              <a:t>Optimize Discounting Strategy</a:t>
            </a:r>
            <a:endParaRPr lang="en-US" sz="1600"/>
          </a:p>
        </p:txBody>
      </p:sp>
      <p:sp>
        <p:nvSpPr>
          <p:cNvPr id="114" name="Google Shape;114;p14"/>
          <p:cNvSpPr txBox="1"/>
          <p:nvPr/>
        </p:nvSpPr>
        <p:spPr>
          <a:xfrm>
            <a:off x="4419600" y="2540318"/>
            <a:ext cx="3352800" cy="124957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>
              <a:lnSpc>
                <a:spcPct val="145000"/>
              </a:lnSpc>
            </a:pPr>
            <a:r>
              <a:rPr lang="en-US">
                <a:solidFill>
                  <a:srgbClr val="475569"/>
                </a:solidFill>
                <a:latin typeface="Inter"/>
                <a:ea typeface="Inter"/>
                <a:sym typeface="Inter"/>
              </a:rPr>
              <a:t>Evaluate the relationship between </a:t>
            </a:r>
            <a:r>
              <a:rPr lang="en-US" i="0" u="none" strike="noStrike" cap="none">
                <a:solidFill>
                  <a:srgbClr val="475569"/>
                </a:solidFill>
                <a:latin typeface="Inter"/>
                <a:ea typeface="Inter"/>
                <a:sym typeface="Inter"/>
              </a:rPr>
              <a:t>discount </a:t>
            </a:r>
            <a:r>
              <a:rPr lang="en-US">
                <a:solidFill>
                  <a:srgbClr val="475569"/>
                </a:solidFill>
                <a:latin typeface="Inter"/>
                <a:ea typeface="Inter"/>
                <a:sym typeface="Inter"/>
              </a:rPr>
              <a:t>levels, transaction behavior and profitability </a:t>
            </a:r>
            <a:r>
              <a:rPr lang="en-US" i="0" u="none" strike="noStrike" cap="none">
                <a:solidFill>
                  <a:srgbClr val="475569"/>
                </a:solidFill>
                <a:latin typeface="Inter"/>
                <a:ea typeface="Inter"/>
                <a:sym typeface="Inter"/>
              </a:rPr>
              <a:t>to </a:t>
            </a:r>
            <a:r>
              <a:rPr lang="en-US">
                <a:solidFill>
                  <a:srgbClr val="475569"/>
                </a:solidFill>
                <a:latin typeface="Inter"/>
                <a:ea typeface="Inter"/>
                <a:sym typeface="Inter"/>
              </a:rPr>
              <a:t>develop a more effective promotional strategy</a:t>
            </a:r>
            <a:r>
              <a:rPr lang="en-US" b="0" i="0" u="none" strike="noStrike" cap="none">
                <a:solidFill>
                  <a:srgbClr val="475569"/>
                </a:solidFill>
                <a:latin typeface="Inter"/>
                <a:ea typeface="Inter"/>
                <a:sym typeface="Inter"/>
              </a:rPr>
              <a:t>.</a:t>
            </a:r>
            <a:endParaRPr lang="en-US"/>
          </a:p>
        </p:txBody>
      </p:sp>
      <p:pic>
        <p:nvPicPr>
          <p:cNvPr id="115" name="Google Shape;115;p14" descr="image.png"/>
          <p:cNvPicPr preferRelativeResize="0"/>
          <p:nvPr/>
        </p:nvPicPr>
        <p:blipFill rotWithShape="1">
          <a:blip r:embed="rId9">
            <a:alphaModFix/>
          </a:blip>
          <a:srcRect/>
          <a:stretch/>
        </p:blipFill>
        <p:spPr>
          <a:xfrm>
            <a:off x="8248650" y="1732315"/>
            <a:ext cx="381000" cy="381000"/>
          </a:xfrm>
          <a:prstGeom prst="rect">
            <a:avLst/>
          </a:prstGeom>
          <a:noFill/>
          <a:ln>
            <a:noFill/>
          </a:ln>
        </p:spPr>
      </p:pic>
      <p:sp>
        <p:nvSpPr>
          <p:cNvPr id="116" name="Google Shape;116;p14"/>
          <p:cNvSpPr txBox="1"/>
          <p:nvPr/>
        </p:nvSpPr>
        <p:spPr>
          <a:xfrm>
            <a:off x="8671123" y="1848399"/>
            <a:ext cx="3520500" cy="24622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00" b="0" i="0" u="none" strike="noStrike" cap="none">
                <a:solidFill>
                  <a:srgbClr val="0F172A"/>
                </a:solidFill>
                <a:latin typeface="Poppins SemiBold"/>
                <a:ea typeface="Poppins SemiBold"/>
                <a:cs typeface="Poppins SemiBold"/>
                <a:sym typeface="Poppins SemiBold"/>
              </a:rPr>
              <a:t>Category Cost Restructuring</a:t>
            </a:r>
            <a:endParaRPr lang="en-US" sz="1600"/>
          </a:p>
        </p:txBody>
      </p:sp>
      <p:sp>
        <p:nvSpPr>
          <p:cNvPr id="117" name="Google Shape;117;p14"/>
          <p:cNvSpPr txBox="1"/>
          <p:nvPr/>
        </p:nvSpPr>
        <p:spPr>
          <a:xfrm>
            <a:off x="8248650" y="2540318"/>
            <a:ext cx="3352800" cy="124957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>
              <a:lnSpc>
                <a:spcPct val="145000"/>
              </a:lnSpc>
            </a:pPr>
            <a:r>
              <a:rPr lang="en-US">
                <a:solidFill>
                  <a:srgbClr val="475569"/>
                </a:solidFill>
                <a:latin typeface="Inter"/>
                <a:ea typeface="Inter"/>
                <a:sym typeface="Inter"/>
              </a:rPr>
              <a:t>Assess category-level revenue, volume and </a:t>
            </a:r>
            <a:r>
              <a:rPr lang="en-US" b="0" i="0" u="none" strike="noStrike" cap="none">
                <a:solidFill>
                  <a:srgbClr val="475569"/>
                </a:solidFill>
                <a:latin typeface="Inter"/>
                <a:ea typeface="Inter"/>
                <a:sym typeface="Inter"/>
              </a:rPr>
              <a:t>margin</a:t>
            </a:r>
            <a:r>
              <a:rPr lang="en-US">
                <a:solidFill>
                  <a:srgbClr val="475569"/>
                </a:solidFill>
                <a:latin typeface="Inter"/>
                <a:ea typeface="Inter"/>
                <a:sym typeface="Inter"/>
              </a:rPr>
              <a:t> performance </a:t>
            </a:r>
            <a:r>
              <a:rPr lang="en-US" b="0" i="0" u="none" strike="noStrike" cap="none">
                <a:solidFill>
                  <a:srgbClr val="475569"/>
                </a:solidFill>
                <a:latin typeface="Inter"/>
                <a:ea typeface="Inter"/>
                <a:sym typeface="Inter"/>
              </a:rPr>
              <a:t>to </a:t>
            </a:r>
            <a:r>
              <a:rPr lang="en-US">
                <a:solidFill>
                  <a:srgbClr val="475569"/>
                </a:solidFill>
                <a:latin typeface="Inter"/>
                <a:ea typeface="Inter"/>
                <a:sym typeface="Inter"/>
              </a:rPr>
              <a:t>identify opportunities for portfolio and cost optimization</a:t>
            </a:r>
            <a:r>
              <a:rPr lang="en-US" b="0" i="0" u="none" strike="noStrike" cap="none">
                <a:solidFill>
                  <a:srgbClr val="475569"/>
                </a:solidFill>
                <a:latin typeface="Inter"/>
                <a:ea typeface="Inter"/>
                <a:sym typeface="Inter"/>
              </a:rPr>
              <a:t>.</a:t>
            </a:r>
            <a:endParaRPr lang="en-US" sz="1600"/>
          </a:p>
        </p:txBody>
      </p:sp>
      <p:pic>
        <p:nvPicPr>
          <p:cNvPr id="118" name="Google Shape;118;p14" descr="image.png"/>
          <p:cNvPicPr preferRelativeResize="0"/>
          <p:nvPr/>
        </p:nvPicPr>
        <p:blipFill rotWithShape="1">
          <a:blip r:embed="rId10">
            <a:alphaModFix/>
          </a:blip>
          <a:srcRect/>
          <a:stretch/>
        </p:blipFill>
        <p:spPr>
          <a:xfrm>
            <a:off x="704850" y="1873568"/>
            <a:ext cx="152400" cy="171450"/>
          </a:xfrm>
          <a:prstGeom prst="rect">
            <a:avLst/>
          </a:prstGeom>
          <a:noFill/>
          <a:ln>
            <a:noFill/>
          </a:ln>
        </p:spPr>
      </p:pic>
      <p:pic>
        <p:nvPicPr>
          <p:cNvPr id="119" name="Google Shape;119;p14" descr="image.png"/>
          <p:cNvPicPr preferRelativeResize="0"/>
          <p:nvPr/>
        </p:nvPicPr>
        <p:blipFill rotWithShape="1">
          <a:blip r:embed="rId11">
            <a:alphaModFix/>
          </a:blip>
          <a:srcRect/>
          <a:stretch/>
        </p:blipFill>
        <p:spPr>
          <a:xfrm>
            <a:off x="4438110" y="1859190"/>
            <a:ext cx="171450" cy="171450"/>
          </a:xfrm>
          <a:prstGeom prst="rect">
            <a:avLst/>
          </a:prstGeom>
          <a:noFill/>
          <a:ln>
            <a:noFill/>
          </a:ln>
        </p:spPr>
      </p:pic>
      <p:pic>
        <p:nvPicPr>
          <p:cNvPr id="120" name="Google Shape;120;p14" descr="image.png"/>
          <p:cNvPicPr preferRelativeResize="0"/>
          <p:nvPr/>
        </p:nvPicPr>
        <p:blipFill rotWithShape="1">
          <a:blip r:embed="rId12">
            <a:alphaModFix/>
          </a:blip>
          <a:srcRect/>
          <a:stretch/>
        </p:blipFill>
        <p:spPr>
          <a:xfrm>
            <a:off x="8343900" y="1818850"/>
            <a:ext cx="190500" cy="171450"/>
          </a:xfrm>
          <a:prstGeom prst="rect">
            <a:avLst/>
          </a:prstGeom>
          <a:noFill/>
          <a:ln>
            <a:noFill/>
          </a:ln>
        </p:spPr>
      </p:pic>
      <p:pic>
        <p:nvPicPr>
          <p:cNvPr id="3" name="Picture 2" descr="image.png">
            <a:extLst>
              <a:ext uri="{FF2B5EF4-FFF2-40B4-BE49-F238E27FC236}">
                <a16:creationId xmlns:a16="http://schemas.microsoft.com/office/drawing/2014/main" id="{B8DAE6A2-0A47-A9DA-9BDD-054F4225C4A7}"/>
              </a:ext>
            </a:extLst>
          </p:cNvPr>
          <p:cNvPicPr>
            <a:picLocks noChangeAspect="1"/>
          </p:cNvPicPr>
          <p:nvPr/>
        </p:nvPicPr>
        <p:blipFill>
          <a:blip r:embed="rId13"/>
          <a:srcRect l="3509" t="65114" r="3372" b="19156"/>
          <a:stretch>
            <a:fillRect/>
          </a:stretch>
        </p:blipFill>
        <p:spPr>
          <a:xfrm>
            <a:off x="427303" y="4705305"/>
            <a:ext cx="11353028" cy="1077336"/>
          </a:xfrm>
          <a:prstGeom prst="rect">
            <a:avLst/>
          </a:prstGeom>
        </p:spPr>
      </p:pic>
      <p:sp>
        <p:nvSpPr>
          <p:cNvPr id="5" name="Google Shape;225;p27">
            <a:extLst>
              <a:ext uri="{FF2B5EF4-FFF2-40B4-BE49-F238E27FC236}">
                <a16:creationId xmlns:a16="http://schemas.microsoft.com/office/drawing/2014/main" id="{78C76460-3BA7-CD29-4DFD-366DD5C361AE}"/>
              </a:ext>
            </a:extLst>
          </p:cNvPr>
          <p:cNvSpPr txBox="1"/>
          <p:nvPr/>
        </p:nvSpPr>
        <p:spPr>
          <a:xfrm>
            <a:off x="1185593" y="4905501"/>
            <a:ext cx="3317395" cy="18466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r>
              <a:rPr lang="en-US" sz="1200" b="1">
                <a:solidFill>
                  <a:srgbClr val="F59E0B"/>
                </a:solidFill>
                <a:latin typeface="Inter Black"/>
                <a:ea typeface="Inter Black"/>
                <a:sym typeface="Lato"/>
              </a:rPr>
              <a:t>KEY KPIs TRACKED:</a:t>
            </a:r>
            <a:endParaRPr lang="en-US" sz="1200" b="1">
              <a:solidFill>
                <a:srgbClr val="F59E0B"/>
              </a:solidFill>
              <a:latin typeface="Inter Black"/>
              <a:ea typeface="Inter Black"/>
              <a:cs typeface="Lato"/>
            </a:endParaRPr>
          </a:p>
        </p:txBody>
      </p:sp>
      <p:sp>
        <p:nvSpPr>
          <p:cNvPr id="8" name="Google Shape;226;p27">
            <a:extLst>
              <a:ext uri="{FF2B5EF4-FFF2-40B4-BE49-F238E27FC236}">
                <a16:creationId xmlns:a16="http://schemas.microsoft.com/office/drawing/2014/main" id="{EC1D1197-F6B5-1035-CFF0-4BC9DCB05111}"/>
              </a:ext>
            </a:extLst>
          </p:cNvPr>
          <p:cNvSpPr txBox="1"/>
          <p:nvPr/>
        </p:nvSpPr>
        <p:spPr>
          <a:xfrm>
            <a:off x="1199970" y="5187117"/>
            <a:ext cx="10172700" cy="32316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>
              <a:lnSpc>
                <a:spcPct val="149955"/>
              </a:lnSpc>
            </a:pPr>
            <a:r>
              <a:rPr lang="en-US">
                <a:solidFill>
                  <a:srgbClr val="E2E8F0"/>
                </a:solidFill>
                <a:latin typeface="Poppins"/>
                <a:ea typeface="Lato"/>
                <a:cs typeface="Poppins"/>
                <a:sym typeface="Lato"/>
              </a:rPr>
              <a:t>Net Revenue • Net Profit • Profit Margin % • Total Transactions • Units Sold •  Average Order Value (AOV) </a:t>
            </a:r>
            <a:endParaRPr lang="en-US">
              <a:solidFill>
                <a:srgbClr val="E2E8F0"/>
              </a:solidFill>
              <a:latin typeface="Poppins"/>
              <a:ea typeface="Lato"/>
              <a:cs typeface="Poppins"/>
            </a:endParaRPr>
          </a:p>
        </p:txBody>
      </p:sp>
      <p:pic>
        <p:nvPicPr>
          <p:cNvPr id="9" name="Graphic 8">
            <a:extLst>
              <a:ext uri="{FF2B5EF4-FFF2-40B4-BE49-F238E27FC236}">
                <a16:creationId xmlns:a16="http://schemas.microsoft.com/office/drawing/2014/main" id="{108AFD88-C187-7809-02CA-B359F5D807CF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14"/>
              </a:ext>
            </a:extLst>
          </a:blip>
          <a:stretch>
            <a:fillRect/>
          </a:stretch>
        </p:blipFill>
        <p:spPr>
          <a:xfrm>
            <a:off x="649856" y="4898368"/>
            <a:ext cx="411195" cy="612475"/>
          </a:xfrm>
          <a:prstGeom prst="rect">
            <a:avLst/>
          </a:prstGeom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>
          <a:blip r:embed="rId3"/>
          <a:stretch>
            <a:fillRect/>
          </a:stretch>
        </a:blipFill>
        <a:effectLst/>
      </p:bgPr>
    </p:bg>
    <p:spTree>
      <p:nvGrpSpPr>
        <p:cNvPr id="1" name="Shape 12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 descr="image.png">
            <a:extLst>
              <a:ext uri="{FF2B5EF4-FFF2-40B4-BE49-F238E27FC236}">
                <a16:creationId xmlns:a16="http://schemas.microsoft.com/office/drawing/2014/main" id="{83F19579-02CA-D974-253F-EF7312AB41C6}"/>
              </a:ext>
            </a:extLst>
          </p:cNvPr>
          <p:cNvPicPr>
            <a:picLocks noChangeAspect="1"/>
          </p:cNvPicPr>
          <p:nvPr/>
        </p:nvPicPr>
        <p:blipFill>
          <a:blip r:embed="rId4"/>
          <a:srcRect l="3509" t="65114" r="3372" b="19156"/>
          <a:stretch>
            <a:fillRect/>
          </a:stretch>
        </p:blipFill>
        <p:spPr>
          <a:xfrm>
            <a:off x="297907" y="4446513"/>
            <a:ext cx="11468047" cy="1163600"/>
          </a:xfrm>
          <a:prstGeom prst="rect">
            <a:avLst/>
          </a:prstGeom>
        </p:spPr>
      </p:pic>
      <p:pic>
        <p:nvPicPr>
          <p:cNvPr id="127" name="Google Shape;127;p15" descr="image.png"/>
          <p:cNvPicPr preferRelativeResize="0"/>
          <p:nvPr/>
        </p:nvPicPr>
        <p:blipFill rotWithShape="1">
          <a:blip r:embed="rId5">
            <a:alphaModFix/>
          </a:blip>
          <a:srcRect/>
          <a:stretch/>
        </p:blipFill>
        <p:spPr>
          <a:xfrm>
            <a:off x="428625" y="1389296"/>
            <a:ext cx="3689300" cy="1188552"/>
          </a:xfrm>
          <a:prstGeom prst="rect">
            <a:avLst/>
          </a:prstGeom>
          <a:noFill/>
          <a:ln>
            <a:noFill/>
          </a:ln>
        </p:spPr>
      </p:pic>
      <p:pic>
        <p:nvPicPr>
          <p:cNvPr id="128" name="Google Shape;128;p15" descr="image.png"/>
          <p:cNvPicPr preferRelativeResize="0"/>
          <p:nvPr/>
        </p:nvPicPr>
        <p:blipFill rotWithShape="1">
          <a:blip r:embed="rId6">
            <a:alphaModFix/>
          </a:blip>
          <a:srcRect/>
          <a:stretch/>
        </p:blipFill>
        <p:spPr>
          <a:xfrm>
            <a:off x="4251275" y="1389296"/>
            <a:ext cx="3689300" cy="1188552"/>
          </a:xfrm>
          <a:prstGeom prst="rect">
            <a:avLst/>
          </a:prstGeom>
          <a:noFill/>
          <a:ln>
            <a:noFill/>
          </a:ln>
        </p:spPr>
      </p:pic>
      <p:pic>
        <p:nvPicPr>
          <p:cNvPr id="129" name="Google Shape;129;p15" descr="image.png"/>
          <p:cNvPicPr preferRelativeResize="0"/>
          <p:nvPr/>
        </p:nvPicPr>
        <p:blipFill rotWithShape="1">
          <a:blip r:embed="rId7">
            <a:alphaModFix/>
          </a:blip>
          <a:srcRect/>
          <a:stretch/>
        </p:blipFill>
        <p:spPr>
          <a:xfrm>
            <a:off x="8073925" y="1389296"/>
            <a:ext cx="3689449" cy="1188552"/>
          </a:xfrm>
          <a:prstGeom prst="rect">
            <a:avLst/>
          </a:prstGeom>
          <a:noFill/>
          <a:ln>
            <a:noFill/>
          </a:ln>
        </p:spPr>
      </p:pic>
      <p:pic>
        <p:nvPicPr>
          <p:cNvPr id="130" name="Google Shape;130;p15" descr="image.png"/>
          <p:cNvPicPr preferRelativeResize="0"/>
          <p:nvPr/>
        </p:nvPicPr>
        <p:blipFill rotWithShape="1">
          <a:blip r:embed="rId8">
            <a:alphaModFix/>
          </a:blip>
          <a:srcRect/>
          <a:stretch/>
        </p:blipFill>
        <p:spPr>
          <a:xfrm>
            <a:off x="428625" y="2711198"/>
            <a:ext cx="3689300" cy="1174174"/>
          </a:xfrm>
          <a:prstGeom prst="rect">
            <a:avLst/>
          </a:prstGeom>
          <a:noFill/>
          <a:ln>
            <a:noFill/>
          </a:ln>
        </p:spPr>
      </p:pic>
      <p:pic>
        <p:nvPicPr>
          <p:cNvPr id="131" name="Google Shape;131;p15" descr="image.png"/>
          <p:cNvPicPr preferRelativeResize="0"/>
          <p:nvPr/>
        </p:nvPicPr>
        <p:blipFill rotWithShape="1">
          <a:blip r:embed="rId9">
            <a:alphaModFix/>
          </a:blip>
          <a:srcRect/>
          <a:stretch/>
        </p:blipFill>
        <p:spPr>
          <a:xfrm>
            <a:off x="4251275" y="2711198"/>
            <a:ext cx="3689300" cy="1174174"/>
          </a:xfrm>
          <a:prstGeom prst="rect">
            <a:avLst/>
          </a:prstGeom>
          <a:noFill/>
          <a:ln>
            <a:noFill/>
          </a:ln>
        </p:spPr>
      </p:pic>
      <p:pic>
        <p:nvPicPr>
          <p:cNvPr id="132" name="Google Shape;132;p15" descr="image.png"/>
          <p:cNvPicPr preferRelativeResize="0"/>
          <p:nvPr/>
        </p:nvPicPr>
        <p:blipFill rotWithShape="1">
          <a:blip r:embed="rId10">
            <a:alphaModFix/>
          </a:blip>
          <a:srcRect/>
          <a:stretch/>
        </p:blipFill>
        <p:spPr>
          <a:xfrm>
            <a:off x="8059548" y="2711198"/>
            <a:ext cx="3689449" cy="1174174"/>
          </a:xfrm>
          <a:prstGeom prst="rect">
            <a:avLst/>
          </a:prstGeom>
          <a:noFill/>
          <a:ln>
            <a:noFill/>
          </a:ln>
        </p:spPr>
      </p:pic>
      <p:pic>
        <p:nvPicPr>
          <p:cNvPr id="135" name="Google Shape;135;p15" descr="image.png"/>
          <p:cNvPicPr preferRelativeResize="0"/>
          <p:nvPr/>
        </p:nvPicPr>
        <p:blipFill rotWithShape="1">
          <a:blip r:embed="rId11">
            <a:alphaModFix/>
          </a:blip>
          <a:srcRect/>
          <a:stretch/>
        </p:blipFill>
        <p:spPr>
          <a:xfrm>
            <a:off x="1233757" y="6563084"/>
            <a:ext cx="11334750" cy="219075"/>
          </a:xfrm>
          <a:prstGeom prst="rect">
            <a:avLst/>
          </a:prstGeom>
          <a:noFill/>
          <a:ln>
            <a:noFill/>
          </a:ln>
        </p:spPr>
      </p:pic>
      <p:sp>
        <p:nvSpPr>
          <p:cNvPr id="136" name="Google Shape;136;p15"/>
          <p:cNvSpPr txBox="1"/>
          <p:nvPr/>
        </p:nvSpPr>
        <p:spPr>
          <a:xfrm>
            <a:off x="766762" y="271766"/>
            <a:ext cx="11425237" cy="44319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spAutoFit/>
          </a:bodyPr>
          <a:lstStyle/>
          <a:p>
            <a:pPr marL="0" marR="0" lvl="0" indent="0" algn="l" rtl="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400" b="1" i="0" u="none" strike="noStrike" cap="none">
                <a:solidFill>
                  <a:srgbClr val="0F172A"/>
                </a:solidFill>
                <a:latin typeface="Poppins"/>
                <a:ea typeface="Poppins"/>
                <a:cs typeface="Poppins"/>
                <a:sym typeface="Poppins"/>
              </a:rPr>
              <a:t>Executive Performance Dashboard</a:t>
            </a:r>
            <a:endParaRPr lang="en-US" sz="2400"/>
          </a:p>
        </p:txBody>
      </p:sp>
      <p:sp>
        <p:nvSpPr>
          <p:cNvPr id="137" name="Google Shape;137;p15"/>
          <p:cNvSpPr txBox="1"/>
          <p:nvPr/>
        </p:nvSpPr>
        <p:spPr>
          <a:xfrm>
            <a:off x="428625" y="739439"/>
            <a:ext cx="11334750" cy="16158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r>
              <a:rPr lang="en-US" sz="1050" b="0" i="0" u="none" strike="noStrike" cap="none">
                <a:solidFill>
                  <a:srgbClr val="64748B"/>
                </a:solidFill>
                <a:latin typeface="Inter"/>
                <a:ea typeface="Inter"/>
                <a:cs typeface="Inter"/>
                <a:sym typeface="Inter"/>
              </a:rPr>
              <a:t>2-Year consolidated sales performance summary</a:t>
            </a:r>
            <a:r>
              <a:rPr lang="en-US" sz="1050">
                <a:solidFill>
                  <a:srgbClr val="64748B"/>
                </a:solidFill>
                <a:latin typeface="Inter"/>
                <a:ea typeface="Inter"/>
                <a:cs typeface="Inter"/>
                <a:sym typeface="Inter"/>
              </a:rPr>
              <a:t>.</a:t>
            </a:r>
            <a:endParaRPr sz="1800"/>
          </a:p>
        </p:txBody>
      </p:sp>
      <p:sp>
        <p:nvSpPr>
          <p:cNvPr id="138" name="Google Shape;138;p15"/>
          <p:cNvSpPr txBox="1"/>
          <p:nvPr/>
        </p:nvSpPr>
        <p:spPr>
          <a:xfrm>
            <a:off x="529266" y="6620054"/>
            <a:ext cx="2212855" cy="12695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825" b="0" i="0" u="none" strike="noStrike" cap="none">
                <a:solidFill>
                  <a:srgbClr val="94A3B8"/>
                </a:solidFill>
                <a:latin typeface="Inter"/>
                <a:ea typeface="Inter"/>
                <a:cs typeface="Inter"/>
                <a:sym typeface="Inter"/>
              </a:rPr>
              <a:t>FashionWave Retail Sales Analysis</a:t>
            </a:r>
            <a:endParaRPr/>
          </a:p>
        </p:txBody>
      </p:sp>
      <p:sp>
        <p:nvSpPr>
          <p:cNvPr id="139" name="Google Shape;139;p15"/>
          <p:cNvSpPr txBox="1"/>
          <p:nvPr/>
        </p:nvSpPr>
        <p:spPr>
          <a:xfrm>
            <a:off x="10578501" y="6620054"/>
            <a:ext cx="1184874" cy="12695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800" b="0" i="0" u="none" strike="noStrike" cap="none">
                <a:solidFill>
                  <a:srgbClr val="94A3B8"/>
                </a:solidFill>
                <a:latin typeface="Inter"/>
                <a:ea typeface="Inter"/>
                <a:cs typeface="Inter"/>
                <a:sym typeface="Inter"/>
              </a:rPr>
              <a:t>Slide 3 of </a:t>
            </a:r>
            <a:r>
              <a:rPr lang="en-US" sz="800">
                <a:solidFill>
                  <a:srgbClr val="94A3B8"/>
                </a:solidFill>
                <a:latin typeface="Inter"/>
                <a:ea typeface="Inter"/>
                <a:cs typeface="Inter"/>
                <a:sym typeface="Inter"/>
              </a:rPr>
              <a:t>12</a:t>
            </a:r>
            <a:endParaRPr/>
          </a:p>
        </p:txBody>
      </p:sp>
      <p:pic>
        <p:nvPicPr>
          <p:cNvPr id="140" name="Google Shape;140;p15" descr="image.png"/>
          <p:cNvPicPr preferRelativeResize="0"/>
          <p:nvPr/>
        </p:nvPicPr>
        <p:blipFill rotWithShape="1">
          <a:blip r:embed="rId12">
            <a:alphaModFix/>
          </a:blip>
          <a:srcRect/>
          <a:stretch/>
        </p:blipFill>
        <p:spPr>
          <a:xfrm>
            <a:off x="428625" y="379065"/>
            <a:ext cx="223837" cy="228600"/>
          </a:xfrm>
          <a:prstGeom prst="rect">
            <a:avLst/>
          </a:prstGeom>
          <a:noFill/>
          <a:ln>
            <a:noFill/>
          </a:ln>
        </p:spPr>
      </p:pic>
      <p:sp>
        <p:nvSpPr>
          <p:cNvPr id="143" name="Google Shape;143;p15"/>
          <p:cNvSpPr txBox="1"/>
          <p:nvPr/>
        </p:nvSpPr>
        <p:spPr>
          <a:xfrm>
            <a:off x="609150" y="1518056"/>
            <a:ext cx="3255912" cy="16158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spAutoFit/>
          </a:bodyPr>
          <a:lstStyle/>
          <a:p>
            <a:r>
              <a:rPr lang="en-US" sz="1050">
                <a:solidFill>
                  <a:srgbClr val="64748B"/>
                </a:solidFill>
                <a:latin typeface="Inter SemiBold"/>
                <a:ea typeface="Inter SemiBold"/>
                <a:sym typeface="Inter SemiBold"/>
              </a:rPr>
              <a:t>NET REVENUE</a:t>
            </a:r>
            <a:endParaRPr sz="2000" dirty="0"/>
          </a:p>
        </p:txBody>
      </p:sp>
      <p:sp>
        <p:nvSpPr>
          <p:cNvPr id="144" name="Google Shape;144;p15"/>
          <p:cNvSpPr txBox="1"/>
          <p:nvPr/>
        </p:nvSpPr>
        <p:spPr>
          <a:xfrm>
            <a:off x="609600" y="1732376"/>
            <a:ext cx="3327350" cy="47397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800" b="0" i="0" u="none" strike="noStrike" cap="none">
                <a:solidFill>
                  <a:srgbClr val="0F172A"/>
                </a:solidFill>
                <a:latin typeface="Poppins ExtraBold"/>
                <a:ea typeface="Poppins ExtraBold"/>
                <a:cs typeface="Poppins ExtraBold"/>
                <a:sym typeface="Poppins ExtraBold"/>
              </a:rPr>
              <a:t>₹192.98M</a:t>
            </a:r>
            <a:endParaRPr sz="2000"/>
          </a:p>
        </p:txBody>
      </p:sp>
      <p:sp>
        <p:nvSpPr>
          <p:cNvPr id="145" name="Google Shape;145;p15"/>
          <p:cNvSpPr txBox="1"/>
          <p:nvPr/>
        </p:nvSpPr>
        <p:spPr>
          <a:xfrm>
            <a:off x="609600" y="2287246"/>
            <a:ext cx="3327350" cy="16158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525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050" b="0" i="0" u="none" strike="noStrike" cap="none">
                <a:solidFill>
                  <a:srgbClr val="0284C7"/>
                </a:solidFill>
                <a:latin typeface="Inter Medium"/>
                <a:ea typeface="Inter Medium"/>
                <a:cs typeface="Inter Medium"/>
                <a:sym typeface="Inter Medium"/>
              </a:rPr>
              <a:t>₹</a:t>
            </a:r>
            <a:r>
              <a:rPr lang="en-US" sz="1050">
                <a:solidFill>
                  <a:srgbClr val="0284C7"/>
                </a:solidFill>
                <a:latin typeface="Inter Medium"/>
                <a:ea typeface="Inter Medium"/>
                <a:cs typeface="Inter Medium"/>
                <a:sym typeface="Inter Medium"/>
              </a:rPr>
              <a:t>19,29,83,284</a:t>
            </a:r>
            <a:r>
              <a:rPr lang="en-US" sz="1050" b="0" i="0" u="none" strike="noStrike" cap="none">
                <a:solidFill>
                  <a:srgbClr val="0284C7"/>
                </a:solidFill>
                <a:latin typeface="Inter Medium"/>
                <a:ea typeface="Inter Medium"/>
                <a:cs typeface="Inter Medium"/>
                <a:sym typeface="Inter Medium"/>
              </a:rPr>
              <a:t> Total Sales Volume</a:t>
            </a:r>
            <a:endParaRPr sz="2000"/>
          </a:p>
        </p:txBody>
      </p:sp>
      <p:sp>
        <p:nvSpPr>
          <p:cNvPr id="146" name="Google Shape;146;p15"/>
          <p:cNvSpPr txBox="1"/>
          <p:nvPr/>
        </p:nvSpPr>
        <p:spPr>
          <a:xfrm>
            <a:off x="4469900" y="1518056"/>
            <a:ext cx="3217812" cy="16158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050">
                <a:solidFill>
                  <a:srgbClr val="64748B"/>
                </a:solidFill>
                <a:latin typeface="Inter SemiBold"/>
                <a:ea typeface="Inter SemiBold"/>
                <a:cs typeface="Inter SemiBold"/>
                <a:sym typeface="Inter SemiBold"/>
              </a:rPr>
              <a:t>NET</a:t>
            </a:r>
            <a:r>
              <a:rPr lang="en-US" sz="1050" b="0" i="0" u="none" strike="noStrike" cap="none">
                <a:solidFill>
                  <a:srgbClr val="64748B"/>
                </a:solidFill>
                <a:latin typeface="Inter SemiBold"/>
                <a:ea typeface="Inter SemiBold"/>
                <a:cs typeface="Inter SemiBold"/>
                <a:sym typeface="Inter SemiBold"/>
              </a:rPr>
              <a:t> PROFIT</a:t>
            </a:r>
            <a:endParaRPr sz="2000"/>
          </a:p>
        </p:txBody>
      </p:sp>
      <p:sp>
        <p:nvSpPr>
          <p:cNvPr id="147" name="Google Shape;147;p15"/>
          <p:cNvSpPr txBox="1"/>
          <p:nvPr/>
        </p:nvSpPr>
        <p:spPr>
          <a:xfrm>
            <a:off x="4432250" y="1732376"/>
            <a:ext cx="3327350" cy="47397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800" b="0" i="0" u="none" strike="noStrike" cap="none">
                <a:solidFill>
                  <a:srgbClr val="0F172A"/>
                </a:solidFill>
                <a:latin typeface="Poppins ExtraBold"/>
                <a:ea typeface="Poppins ExtraBold"/>
                <a:cs typeface="Poppins ExtraBold"/>
                <a:sym typeface="Poppins ExtraBold"/>
              </a:rPr>
              <a:t>₹139.96M</a:t>
            </a:r>
            <a:endParaRPr sz="2000"/>
          </a:p>
        </p:txBody>
      </p:sp>
      <p:sp>
        <p:nvSpPr>
          <p:cNvPr id="148" name="Google Shape;148;p15"/>
          <p:cNvSpPr txBox="1"/>
          <p:nvPr/>
        </p:nvSpPr>
        <p:spPr>
          <a:xfrm>
            <a:off x="4432250" y="2287246"/>
            <a:ext cx="3327350" cy="16158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1430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050" b="0" i="0" u="none" strike="noStrike" cap="none">
                <a:solidFill>
                  <a:srgbClr val="0284C7"/>
                </a:solidFill>
                <a:latin typeface="Inter Medium"/>
                <a:ea typeface="Inter Medium"/>
                <a:cs typeface="Inter Medium"/>
                <a:sym typeface="Inter Medium"/>
              </a:rPr>
              <a:t>₹</a:t>
            </a:r>
            <a:r>
              <a:rPr lang="en-US" sz="1050">
                <a:solidFill>
                  <a:srgbClr val="0284C7"/>
                </a:solidFill>
                <a:latin typeface="Inter Medium"/>
                <a:ea typeface="Inter Medium"/>
                <a:cs typeface="Inter Medium"/>
                <a:sym typeface="Inter Medium"/>
              </a:rPr>
              <a:t>13,99,59,812</a:t>
            </a:r>
            <a:r>
              <a:rPr lang="en-US" sz="1050" b="0" i="0" u="none" strike="noStrike" cap="none">
                <a:solidFill>
                  <a:srgbClr val="0284C7"/>
                </a:solidFill>
                <a:latin typeface="Inter Medium"/>
                <a:ea typeface="Inter Medium"/>
                <a:cs typeface="Inter Medium"/>
                <a:sym typeface="Inter Medium"/>
              </a:rPr>
              <a:t> Net Profit</a:t>
            </a:r>
            <a:endParaRPr sz="2000"/>
          </a:p>
        </p:txBody>
      </p:sp>
      <p:sp>
        <p:nvSpPr>
          <p:cNvPr id="149" name="Google Shape;149;p15"/>
          <p:cNvSpPr txBox="1"/>
          <p:nvPr/>
        </p:nvSpPr>
        <p:spPr>
          <a:xfrm>
            <a:off x="8273501" y="1518056"/>
            <a:ext cx="3237011" cy="16158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050" b="0" i="0" u="none" strike="noStrike" cap="none">
                <a:solidFill>
                  <a:srgbClr val="64748B"/>
                </a:solidFill>
                <a:latin typeface="Inter SemiBold"/>
                <a:ea typeface="Inter SemiBold"/>
                <a:cs typeface="Inter SemiBold"/>
                <a:sym typeface="Inter SemiBold"/>
              </a:rPr>
              <a:t>OVERALL PROFIT MARGIN</a:t>
            </a:r>
            <a:endParaRPr sz="2000"/>
          </a:p>
        </p:txBody>
      </p:sp>
      <p:sp>
        <p:nvSpPr>
          <p:cNvPr id="150" name="Google Shape;150;p15"/>
          <p:cNvSpPr txBox="1"/>
          <p:nvPr/>
        </p:nvSpPr>
        <p:spPr>
          <a:xfrm>
            <a:off x="8254900" y="1732376"/>
            <a:ext cx="3327499" cy="47397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800" b="0" i="0" u="none" strike="noStrike" cap="none">
                <a:solidFill>
                  <a:srgbClr val="0F172A"/>
                </a:solidFill>
                <a:latin typeface="Poppins ExtraBold"/>
                <a:ea typeface="Poppins ExtraBold"/>
                <a:cs typeface="Poppins ExtraBold"/>
                <a:sym typeface="Poppins ExtraBold"/>
              </a:rPr>
              <a:t>72.52%</a:t>
            </a:r>
            <a:endParaRPr sz="2000"/>
          </a:p>
        </p:txBody>
      </p:sp>
      <p:sp>
        <p:nvSpPr>
          <p:cNvPr id="151" name="Google Shape;151;p15"/>
          <p:cNvSpPr txBox="1"/>
          <p:nvPr/>
        </p:nvSpPr>
        <p:spPr>
          <a:xfrm>
            <a:off x="8254900" y="2287246"/>
            <a:ext cx="3327499" cy="16158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04775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050" b="0" i="0" u="none" strike="noStrike" cap="none">
                <a:solidFill>
                  <a:srgbClr val="0284C7"/>
                </a:solidFill>
                <a:latin typeface="Inter Medium"/>
                <a:ea typeface="Inter Medium"/>
                <a:cs typeface="Inter Medium"/>
                <a:sym typeface="Inter Medium"/>
              </a:rPr>
              <a:t>Exceptional Retail Profitability</a:t>
            </a:r>
            <a:endParaRPr sz="2000"/>
          </a:p>
        </p:txBody>
      </p:sp>
      <p:sp>
        <p:nvSpPr>
          <p:cNvPr id="152" name="Google Shape;152;p15"/>
          <p:cNvSpPr txBox="1"/>
          <p:nvPr/>
        </p:nvSpPr>
        <p:spPr>
          <a:xfrm>
            <a:off x="618675" y="2811203"/>
            <a:ext cx="3246387" cy="16158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050" b="0" i="0" u="none" strike="noStrike" cap="none">
                <a:solidFill>
                  <a:srgbClr val="64748B"/>
                </a:solidFill>
                <a:latin typeface="Inter SemiBold"/>
                <a:ea typeface="Inter SemiBold"/>
                <a:cs typeface="Inter SemiBold"/>
                <a:sym typeface="Inter SemiBold"/>
              </a:rPr>
              <a:t>TOTAL TRANSACTIONS</a:t>
            </a:r>
            <a:endParaRPr sz="2000"/>
          </a:p>
        </p:txBody>
      </p:sp>
      <p:sp>
        <p:nvSpPr>
          <p:cNvPr id="153" name="Google Shape;153;p15"/>
          <p:cNvSpPr txBox="1"/>
          <p:nvPr/>
        </p:nvSpPr>
        <p:spPr>
          <a:xfrm>
            <a:off x="609600" y="3025523"/>
            <a:ext cx="3327350" cy="47397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800" b="0" i="0" u="none" strike="noStrike" cap="none">
                <a:solidFill>
                  <a:srgbClr val="0F172A"/>
                </a:solidFill>
                <a:latin typeface="Poppins ExtraBold"/>
                <a:ea typeface="Poppins ExtraBold"/>
                <a:cs typeface="Poppins ExtraBold"/>
                <a:sym typeface="Poppins ExtraBold"/>
              </a:rPr>
              <a:t>15,000</a:t>
            </a:r>
            <a:endParaRPr sz="2000"/>
          </a:p>
        </p:txBody>
      </p:sp>
      <p:sp>
        <p:nvSpPr>
          <p:cNvPr id="154" name="Google Shape;154;p15"/>
          <p:cNvSpPr txBox="1"/>
          <p:nvPr/>
        </p:nvSpPr>
        <p:spPr>
          <a:xfrm>
            <a:off x="609600" y="3580394"/>
            <a:ext cx="3327350" cy="16158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1430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050" b="0" i="0" u="none" strike="noStrike" cap="none">
                <a:solidFill>
                  <a:srgbClr val="0284C7"/>
                </a:solidFill>
                <a:latin typeface="Inter Medium"/>
                <a:ea typeface="Inter Medium"/>
                <a:cs typeface="Inter Medium"/>
                <a:sym typeface="Inter Medium"/>
              </a:rPr>
              <a:t>Across 50 Retail Outlets </a:t>
            </a:r>
            <a:endParaRPr sz="2000"/>
          </a:p>
        </p:txBody>
      </p:sp>
      <p:sp>
        <p:nvSpPr>
          <p:cNvPr id="155" name="Google Shape;155;p15"/>
          <p:cNvSpPr txBox="1"/>
          <p:nvPr/>
        </p:nvSpPr>
        <p:spPr>
          <a:xfrm>
            <a:off x="4479425" y="2811203"/>
            <a:ext cx="3208287" cy="16158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050" b="0" i="0" u="none" strike="noStrike" cap="none">
                <a:solidFill>
                  <a:srgbClr val="64748B"/>
                </a:solidFill>
                <a:latin typeface="Inter SemiBold"/>
                <a:ea typeface="Inter SemiBold"/>
                <a:cs typeface="Inter SemiBold"/>
                <a:sym typeface="Inter SemiBold"/>
              </a:rPr>
              <a:t>TOTAL UNITS SOLD</a:t>
            </a:r>
            <a:endParaRPr sz="2000"/>
          </a:p>
        </p:txBody>
      </p:sp>
      <p:sp>
        <p:nvSpPr>
          <p:cNvPr id="156" name="Google Shape;156;p15"/>
          <p:cNvSpPr txBox="1"/>
          <p:nvPr/>
        </p:nvSpPr>
        <p:spPr>
          <a:xfrm>
            <a:off x="4432250" y="3025523"/>
            <a:ext cx="3327350" cy="47397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800" b="0" i="0" u="none" strike="noStrike" cap="none">
                <a:solidFill>
                  <a:srgbClr val="0F172A"/>
                </a:solidFill>
                <a:latin typeface="Poppins ExtraBold"/>
                <a:ea typeface="Poppins ExtraBold"/>
                <a:cs typeface="Poppins ExtraBold"/>
                <a:sym typeface="Poppins ExtraBold"/>
              </a:rPr>
              <a:t>40,283</a:t>
            </a:r>
            <a:endParaRPr sz="2000"/>
          </a:p>
        </p:txBody>
      </p:sp>
      <p:sp>
        <p:nvSpPr>
          <p:cNvPr id="157" name="Google Shape;157;p15"/>
          <p:cNvSpPr txBox="1"/>
          <p:nvPr/>
        </p:nvSpPr>
        <p:spPr>
          <a:xfrm>
            <a:off x="4432250" y="3580394"/>
            <a:ext cx="3327350" cy="16158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04775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050" b="0" i="0" u="none" strike="noStrike" cap="none">
                <a:solidFill>
                  <a:srgbClr val="0284C7"/>
                </a:solidFill>
                <a:latin typeface="Inter Medium"/>
                <a:ea typeface="Inter Medium"/>
                <a:cs typeface="Inter Medium"/>
                <a:sym typeface="Inter Medium"/>
              </a:rPr>
              <a:t>Clothing, Shoes &amp; Accessories SKUs</a:t>
            </a:r>
            <a:endParaRPr sz="2000"/>
          </a:p>
        </p:txBody>
      </p:sp>
      <p:sp>
        <p:nvSpPr>
          <p:cNvPr id="158" name="Google Shape;158;p15"/>
          <p:cNvSpPr txBox="1"/>
          <p:nvPr/>
        </p:nvSpPr>
        <p:spPr>
          <a:xfrm>
            <a:off x="8302076" y="2811203"/>
            <a:ext cx="3208436" cy="16158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spAutoFit/>
          </a:bodyPr>
          <a:lstStyle/>
          <a:p>
            <a:r>
              <a:rPr lang="en-US" sz="1050" b="0" i="0" u="none" strike="noStrike" cap="none">
                <a:solidFill>
                  <a:srgbClr val="64748B"/>
                </a:solidFill>
                <a:latin typeface="Inter SemiBold"/>
                <a:ea typeface="Inter SemiBold"/>
                <a:cs typeface="Inter SemiBold"/>
                <a:sym typeface="Inter SemiBold"/>
              </a:rPr>
              <a:t>AVERAGE ORDER </a:t>
            </a:r>
            <a:r>
              <a:rPr lang="en-US" sz="1050">
                <a:solidFill>
                  <a:srgbClr val="64748B"/>
                </a:solidFill>
                <a:latin typeface="Inter SemiBold"/>
                <a:ea typeface="Inter SemiBold"/>
                <a:cs typeface="Inter SemiBold"/>
                <a:sym typeface="Inter SemiBold"/>
              </a:rPr>
              <a:t>VALUE </a:t>
            </a:r>
            <a:r>
              <a:rPr lang="en-US" sz="1050">
                <a:solidFill>
                  <a:srgbClr val="64748B"/>
                </a:solidFill>
                <a:latin typeface="Inter SemiBold"/>
                <a:ea typeface="Inter SemiBold"/>
                <a:sym typeface="Inter SemiBold"/>
              </a:rPr>
              <a:t>(AOV)</a:t>
            </a:r>
            <a:endParaRPr sz="1050">
              <a:solidFill>
                <a:srgbClr val="64748B"/>
              </a:solidFill>
              <a:latin typeface="Inter SemiBold"/>
              <a:ea typeface="Inter SemiBold"/>
            </a:endParaRPr>
          </a:p>
        </p:txBody>
      </p:sp>
      <p:sp>
        <p:nvSpPr>
          <p:cNvPr id="159" name="Google Shape;159;p15"/>
          <p:cNvSpPr txBox="1"/>
          <p:nvPr/>
        </p:nvSpPr>
        <p:spPr>
          <a:xfrm>
            <a:off x="8254900" y="3025523"/>
            <a:ext cx="3327499" cy="47397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800" b="0" i="0" u="none" strike="noStrike" cap="none">
                <a:solidFill>
                  <a:srgbClr val="0F172A"/>
                </a:solidFill>
                <a:latin typeface="Poppins ExtraBold"/>
                <a:ea typeface="Poppins ExtraBold"/>
                <a:cs typeface="Poppins ExtraBold"/>
                <a:sym typeface="Poppins ExtraBold"/>
              </a:rPr>
              <a:t>₹12,866</a:t>
            </a:r>
            <a:endParaRPr sz="2000"/>
          </a:p>
        </p:txBody>
      </p:sp>
      <p:sp>
        <p:nvSpPr>
          <p:cNvPr id="160" name="Google Shape;160;p15"/>
          <p:cNvSpPr txBox="1"/>
          <p:nvPr/>
        </p:nvSpPr>
        <p:spPr>
          <a:xfrm>
            <a:off x="8254900" y="3580394"/>
            <a:ext cx="3327499" cy="16158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1430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050" b="0" i="0" u="none" strike="noStrike" cap="none">
                <a:solidFill>
                  <a:srgbClr val="0284C7"/>
                </a:solidFill>
                <a:latin typeface="Inter Medium"/>
                <a:ea typeface="Inter Medium"/>
                <a:cs typeface="Inter Medium"/>
                <a:sym typeface="Inter Medium"/>
              </a:rPr>
              <a:t>Weekend AOV Peak: ₹15,162</a:t>
            </a:r>
            <a:endParaRPr sz="2000"/>
          </a:p>
        </p:txBody>
      </p:sp>
      <p:pic>
        <p:nvPicPr>
          <p:cNvPr id="163" name="Google Shape;163;p15" descr="image.png"/>
          <p:cNvPicPr preferRelativeResize="0"/>
          <p:nvPr/>
        </p:nvPicPr>
        <p:blipFill rotWithShape="1">
          <a:blip r:embed="rId13">
            <a:alphaModFix/>
          </a:blip>
          <a:srcRect/>
          <a:stretch/>
        </p:blipFill>
        <p:spPr>
          <a:xfrm>
            <a:off x="3865512" y="1546458"/>
            <a:ext cx="71437" cy="104775"/>
          </a:xfrm>
          <a:prstGeom prst="rect">
            <a:avLst/>
          </a:prstGeom>
          <a:noFill/>
          <a:ln>
            <a:noFill/>
          </a:ln>
        </p:spPr>
      </p:pic>
      <p:pic>
        <p:nvPicPr>
          <p:cNvPr id="164" name="Google Shape;164;p15" descr="image.png"/>
          <p:cNvPicPr preferRelativeResize="0"/>
          <p:nvPr/>
        </p:nvPicPr>
        <p:blipFill rotWithShape="1">
          <a:blip r:embed="rId14">
            <a:alphaModFix/>
          </a:blip>
          <a:srcRect/>
          <a:stretch/>
        </p:blipFill>
        <p:spPr>
          <a:xfrm>
            <a:off x="566468" y="2320673"/>
            <a:ext cx="95250" cy="104775"/>
          </a:xfrm>
          <a:prstGeom prst="rect">
            <a:avLst/>
          </a:prstGeom>
          <a:noFill/>
          <a:ln>
            <a:noFill/>
          </a:ln>
        </p:spPr>
      </p:pic>
      <p:pic>
        <p:nvPicPr>
          <p:cNvPr id="165" name="Google Shape;165;p15" descr="image.png"/>
          <p:cNvPicPr preferRelativeResize="0"/>
          <p:nvPr/>
        </p:nvPicPr>
        <p:blipFill rotWithShape="1">
          <a:blip r:embed="rId15">
            <a:alphaModFix/>
          </a:blip>
          <a:srcRect/>
          <a:stretch/>
        </p:blipFill>
        <p:spPr>
          <a:xfrm>
            <a:off x="7650063" y="1546458"/>
            <a:ext cx="109537" cy="104775"/>
          </a:xfrm>
          <a:prstGeom prst="rect">
            <a:avLst/>
          </a:prstGeom>
          <a:noFill/>
          <a:ln>
            <a:noFill/>
          </a:ln>
        </p:spPr>
      </p:pic>
      <p:pic>
        <p:nvPicPr>
          <p:cNvPr id="166" name="Google Shape;166;p15" descr="image.png"/>
          <p:cNvPicPr preferRelativeResize="0"/>
          <p:nvPr/>
        </p:nvPicPr>
        <p:blipFill rotWithShape="1">
          <a:blip r:embed="rId16">
            <a:alphaModFix/>
          </a:blip>
          <a:srcRect/>
          <a:stretch/>
        </p:blipFill>
        <p:spPr>
          <a:xfrm>
            <a:off x="4389118" y="2320673"/>
            <a:ext cx="114300" cy="104775"/>
          </a:xfrm>
          <a:prstGeom prst="rect">
            <a:avLst/>
          </a:prstGeom>
          <a:noFill/>
          <a:ln>
            <a:noFill/>
          </a:ln>
        </p:spPr>
      </p:pic>
      <p:pic>
        <p:nvPicPr>
          <p:cNvPr id="167" name="Google Shape;167;p15" descr="image.png"/>
          <p:cNvPicPr preferRelativeResize="0"/>
          <p:nvPr/>
        </p:nvPicPr>
        <p:blipFill rotWithShape="1">
          <a:blip r:embed="rId17">
            <a:alphaModFix/>
          </a:blip>
          <a:srcRect/>
          <a:stretch/>
        </p:blipFill>
        <p:spPr>
          <a:xfrm>
            <a:off x="11491912" y="1546458"/>
            <a:ext cx="90487" cy="104775"/>
          </a:xfrm>
          <a:prstGeom prst="rect">
            <a:avLst/>
          </a:prstGeom>
          <a:noFill/>
          <a:ln>
            <a:noFill/>
          </a:ln>
        </p:spPr>
      </p:pic>
      <p:pic>
        <p:nvPicPr>
          <p:cNvPr id="168" name="Google Shape;168;p15" descr="image.png"/>
          <p:cNvPicPr preferRelativeResize="0"/>
          <p:nvPr/>
        </p:nvPicPr>
        <p:blipFill rotWithShape="1">
          <a:blip r:embed="rId18">
            <a:alphaModFix/>
          </a:blip>
          <a:srcRect/>
          <a:stretch/>
        </p:blipFill>
        <p:spPr>
          <a:xfrm>
            <a:off x="8211768" y="2320673"/>
            <a:ext cx="104775" cy="104775"/>
          </a:xfrm>
          <a:prstGeom prst="rect">
            <a:avLst/>
          </a:prstGeom>
          <a:noFill/>
          <a:ln>
            <a:noFill/>
          </a:ln>
        </p:spPr>
      </p:pic>
      <p:pic>
        <p:nvPicPr>
          <p:cNvPr id="169" name="Google Shape;169;p15" descr="image.png"/>
          <p:cNvPicPr preferRelativeResize="0"/>
          <p:nvPr/>
        </p:nvPicPr>
        <p:blipFill rotWithShape="1">
          <a:blip r:embed="rId19">
            <a:alphaModFix/>
          </a:blip>
          <a:srcRect/>
          <a:stretch/>
        </p:blipFill>
        <p:spPr>
          <a:xfrm>
            <a:off x="3855987" y="2868361"/>
            <a:ext cx="80962" cy="104775"/>
          </a:xfrm>
          <a:prstGeom prst="rect">
            <a:avLst/>
          </a:prstGeom>
          <a:noFill/>
          <a:ln>
            <a:noFill/>
          </a:ln>
        </p:spPr>
      </p:pic>
      <p:pic>
        <p:nvPicPr>
          <p:cNvPr id="170" name="Google Shape;170;p15" descr="image.png"/>
          <p:cNvPicPr preferRelativeResize="0"/>
          <p:nvPr/>
        </p:nvPicPr>
        <p:blipFill rotWithShape="1">
          <a:blip r:embed="rId20">
            <a:alphaModFix/>
          </a:blip>
          <a:srcRect/>
          <a:stretch/>
        </p:blipFill>
        <p:spPr>
          <a:xfrm>
            <a:off x="552091" y="3599444"/>
            <a:ext cx="114300" cy="104775"/>
          </a:xfrm>
          <a:prstGeom prst="rect">
            <a:avLst/>
          </a:prstGeom>
          <a:noFill/>
          <a:ln>
            <a:noFill/>
          </a:ln>
        </p:spPr>
      </p:pic>
      <p:pic>
        <p:nvPicPr>
          <p:cNvPr id="171" name="Google Shape;171;p15" descr="image.png"/>
          <p:cNvPicPr preferRelativeResize="0"/>
          <p:nvPr/>
        </p:nvPicPr>
        <p:blipFill rotWithShape="1">
          <a:blip r:embed="rId21">
            <a:alphaModFix/>
          </a:blip>
          <a:srcRect/>
          <a:stretch/>
        </p:blipFill>
        <p:spPr>
          <a:xfrm>
            <a:off x="7640538" y="2868361"/>
            <a:ext cx="119062" cy="104775"/>
          </a:xfrm>
          <a:prstGeom prst="rect">
            <a:avLst/>
          </a:prstGeom>
          <a:noFill/>
          <a:ln>
            <a:noFill/>
          </a:ln>
        </p:spPr>
      </p:pic>
      <p:pic>
        <p:nvPicPr>
          <p:cNvPr id="172" name="Google Shape;172;p15" descr="image.png"/>
          <p:cNvPicPr preferRelativeResize="0"/>
          <p:nvPr/>
        </p:nvPicPr>
        <p:blipFill rotWithShape="1">
          <a:blip r:embed="rId22">
            <a:alphaModFix/>
          </a:blip>
          <a:srcRect/>
          <a:stretch/>
        </p:blipFill>
        <p:spPr>
          <a:xfrm>
            <a:off x="4374741" y="3599444"/>
            <a:ext cx="104775" cy="104775"/>
          </a:xfrm>
          <a:prstGeom prst="rect">
            <a:avLst/>
          </a:prstGeom>
          <a:noFill/>
          <a:ln>
            <a:noFill/>
          </a:ln>
        </p:spPr>
      </p:pic>
      <p:pic>
        <p:nvPicPr>
          <p:cNvPr id="173" name="Google Shape;173;p15" descr="image.png"/>
          <p:cNvPicPr preferRelativeResize="0"/>
          <p:nvPr/>
        </p:nvPicPr>
        <p:blipFill rotWithShape="1">
          <a:blip r:embed="rId23">
            <a:alphaModFix/>
          </a:blip>
          <a:srcRect/>
          <a:stretch/>
        </p:blipFill>
        <p:spPr>
          <a:xfrm>
            <a:off x="11463337" y="2868361"/>
            <a:ext cx="119062" cy="104775"/>
          </a:xfrm>
          <a:prstGeom prst="rect">
            <a:avLst/>
          </a:prstGeom>
          <a:noFill/>
          <a:ln>
            <a:noFill/>
          </a:ln>
        </p:spPr>
      </p:pic>
      <p:pic>
        <p:nvPicPr>
          <p:cNvPr id="174" name="Google Shape;174;p15" descr="image.png"/>
          <p:cNvPicPr preferRelativeResize="0"/>
          <p:nvPr/>
        </p:nvPicPr>
        <p:blipFill rotWithShape="1">
          <a:blip r:embed="rId24">
            <a:alphaModFix/>
          </a:blip>
          <a:srcRect/>
          <a:stretch/>
        </p:blipFill>
        <p:spPr>
          <a:xfrm>
            <a:off x="8197391" y="3599444"/>
            <a:ext cx="114300" cy="104775"/>
          </a:xfrm>
          <a:prstGeom prst="rect">
            <a:avLst/>
          </a:prstGeom>
          <a:noFill/>
          <a:ln>
            <a:noFill/>
          </a:ln>
        </p:spPr>
      </p:pic>
      <p:sp>
        <p:nvSpPr>
          <p:cNvPr id="6" name="Google Shape;225;p27">
            <a:extLst>
              <a:ext uri="{FF2B5EF4-FFF2-40B4-BE49-F238E27FC236}">
                <a16:creationId xmlns:a16="http://schemas.microsoft.com/office/drawing/2014/main" id="{42D13E19-D81E-32F3-2848-6D258249B68D}"/>
              </a:ext>
            </a:extLst>
          </p:cNvPr>
          <p:cNvSpPr txBox="1"/>
          <p:nvPr/>
        </p:nvSpPr>
        <p:spPr>
          <a:xfrm>
            <a:off x="587686" y="4703450"/>
            <a:ext cx="3317395" cy="24622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r>
              <a:rPr lang="en-US" sz="1600" b="1">
                <a:solidFill>
                  <a:srgbClr val="F59E0B"/>
                </a:solidFill>
                <a:latin typeface="Poppins SemiBold"/>
                <a:ea typeface="Lato"/>
                <a:cs typeface="Poppins SemiBold"/>
                <a:sym typeface="Lato"/>
              </a:rPr>
              <a:t>ANALYSIS FLOW</a:t>
            </a:r>
            <a:r>
              <a:rPr lang="en-US" sz="1600" b="1" i="0" u="none" strike="noStrike" cap="none">
                <a:solidFill>
                  <a:srgbClr val="F59E0B"/>
                </a:solidFill>
                <a:latin typeface="Poppins SemiBold"/>
                <a:ea typeface="Lato"/>
                <a:cs typeface="Poppins SemiBold"/>
                <a:sym typeface="Lato"/>
              </a:rPr>
              <a:t>:</a:t>
            </a:r>
            <a:endParaRPr lang="en-US" sz="1600">
              <a:latin typeface="Poppins SemiBold"/>
              <a:cs typeface="Poppins SemiBold"/>
            </a:endParaRPr>
          </a:p>
        </p:txBody>
      </p:sp>
      <p:sp>
        <p:nvSpPr>
          <p:cNvPr id="7" name="Google Shape;226;p27">
            <a:extLst>
              <a:ext uri="{FF2B5EF4-FFF2-40B4-BE49-F238E27FC236}">
                <a16:creationId xmlns:a16="http://schemas.microsoft.com/office/drawing/2014/main" id="{00DF8E1E-841C-1A1F-F24E-080B3EB89006}"/>
              </a:ext>
            </a:extLst>
          </p:cNvPr>
          <p:cNvSpPr txBox="1"/>
          <p:nvPr/>
        </p:nvSpPr>
        <p:spPr>
          <a:xfrm>
            <a:off x="581745" y="4945385"/>
            <a:ext cx="11001792" cy="32316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>
              <a:lnSpc>
                <a:spcPct val="149955"/>
              </a:lnSpc>
            </a:pPr>
            <a:r>
              <a:rPr lang="en-US" b="1">
                <a:solidFill>
                  <a:srgbClr val="F8FAFC"/>
                </a:solidFill>
                <a:latin typeface="Inter Medium"/>
                <a:ea typeface="Inter Medium"/>
                <a:cs typeface="Lato"/>
                <a:sym typeface="Lato"/>
              </a:rPr>
              <a:t>Product Category → Weekend vs Weekday → Discount → Stores → Customers → Portfolio → Seasonality → </a:t>
            </a:r>
            <a:r>
              <a:rPr lang="en-US" b="1" dirty="0">
                <a:solidFill>
                  <a:srgbClr val="F8FAFC"/>
                </a:solidFill>
                <a:latin typeface="Inter Medium"/>
                <a:ea typeface="Inter Medium"/>
                <a:cs typeface="Lato"/>
              </a:rPr>
              <a:t>Recommendations</a:t>
            </a:r>
            <a:endParaRPr lang="en-US" b="1">
              <a:solidFill>
                <a:srgbClr val="F8FAFC"/>
              </a:solidFill>
              <a:latin typeface="Inter Medium"/>
              <a:ea typeface="Inter Medium"/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>
          <a:blip r:embed="rId3"/>
          <a:stretch>
            <a:fillRect/>
          </a:stretch>
        </a:blipFill>
        <a:effectLst/>
      </p:bgPr>
    </p:bg>
    <p:spTree>
      <p:nvGrpSpPr>
        <p:cNvPr id="1" name="Shape 17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" name="Google Shape;182;p16" descr="image.png">
            <a:extLst>
              <a:ext uri="{FF2B5EF4-FFF2-40B4-BE49-F238E27FC236}">
                <a16:creationId xmlns:a16="http://schemas.microsoft.com/office/drawing/2014/main" id="{B597AA4F-FA9E-E84C-5DDD-C93EADC0E97C}"/>
              </a:ext>
            </a:extLst>
          </p:cNvPr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6108699" y="5033188"/>
            <a:ext cx="5288915" cy="825956"/>
          </a:xfrm>
          <a:prstGeom prst="rect">
            <a:avLst/>
          </a:prstGeom>
          <a:noFill/>
          <a:ln>
            <a:noFill/>
          </a:ln>
        </p:spPr>
      </p:pic>
      <p:pic>
        <p:nvPicPr>
          <p:cNvPr id="181" name="Google Shape;181;p16" descr="image.png"/>
          <p:cNvPicPr preferRelativeResize="0"/>
          <p:nvPr/>
        </p:nvPicPr>
        <p:blipFill rotWithShape="1">
          <a:blip r:embed="rId5">
            <a:alphaModFix/>
          </a:blip>
          <a:srcRect/>
          <a:stretch/>
        </p:blipFill>
        <p:spPr>
          <a:xfrm>
            <a:off x="6095281" y="1218875"/>
            <a:ext cx="5492115" cy="1511276"/>
          </a:xfrm>
          <a:prstGeom prst="rect">
            <a:avLst/>
          </a:prstGeom>
          <a:noFill/>
          <a:ln>
            <a:noFill/>
          </a:ln>
        </p:spPr>
      </p:pic>
      <p:pic>
        <p:nvPicPr>
          <p:cNvPr id="182" name="Google Shape;182;p16" descr="image.png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6064800" y="3035311"/>
            <a:ext cx="5475246" cy="1501116"/>
          </a:xfrm>
          <a:prstGeom prst="rect">
            <a:avLst/>
          </a:prstGeom>
          <a:noFill/>
          <a:ln>
            <a:noFill/>
          </a:ln>
        </p:spPr>
      </p:pic>
      <p:pic>
        <p:nvPicPr>
          <p:cNvPr id="183" name="Google Shape;183;p16" descr="image.png"/>
          <p:cNvPicPr preferRelativeResize="0"/>
          <p:nvPr/>
        </p:nvPicPr>
        <p:blipFill rotWithShape="1">
          <a:blip r:embed="rId6">
            <a:alphaModFix/>
          </a:blip>
          <a:srcRect/>
          <a:stretch/>
        </p:blipFill>
        <p:spPr>
          <a:xfrm>
            <a:off x="428625" y="6505575"/>
            <a:ext cx="11334750" cy="219075"/>
          </a:xfrm>
          <a:prstGeom prst="rect">
            <a:avLst/>
          </a:prstGeom>
          <a:noFill/>
          <a:ln>
            <a:noFill/>
          </a:ln>
        </p:spPr>
      </p:pic>
      <p:sp>
        <p:nvSpPr>
          <p:cNvPr id="184" name="Google Shape;184;p16"/>
          <p:cNvSpPr txBox="1"/>
          <p:nvPr/>
        </p:nvSpPr>
        <p:spPr>
          <a:xfrm>
            <a:off x="795337" y="310292"/>
            <a:ext cx="11396700" cy="75713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spAutoFit/>
          </a:bodyPr>
          <a:lstStyle/>
          <a:p>
            <a:r>
              <a:rPr lang="en-US" sz="2400" b="1">
                <a:solidFill>
                  <a:srgbClr val="0F172A"/>
                </a:solidFill>
                <a:latin typeface="Poppins"/>
                <a:cs typeface="Poppins"/>
                <a:sym typeface="Poppins"/>
              </a:rPr>
              <a:t>Q1. Which Product Categories Generate The Highest Revenue And Profit?</a:t>
            </a:r>
            <a:endParaRPr lang="en-US" sz="2400" b="1">
              <a:latin typeface="Poppins"/>
              <a:cs typeface="Poppins"/>
            </a:endParaRPr>
          </a:p>
          <a:p>
            <a:pPr>
              <a:lnSpc>
                <a:spcPct val="120000"/>
              </a:lnSpc>
            </a:pPr>
            <a:endParaRPr lang="en-US" sz="2100" b="1">
              <a:solidFill>
                <a:srgbClr val="0F172A"/>
              </a:solidFill>
              <a:latin typeface="Poppins"/>
              <a:cs typeface="Poppins"/>
            </a:endParaRPr>
          </a:p>
        </p:txBody>
      </p:sp>
      <p:sp>
        <p:nvSpPr>
          <p:cNvPr id="185" name="Google Shape;185;p16"/>
          <p:cNvSpPr txBox="1"/>
          <p:nvPr/>
        </p:nvSpPr>
        <p:spPr>
          <a:xfrm>
            <a:off x="428625" y="739439"/>
            <a:ext cx="11334900" cy="16158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r>
              <a:rPr lang="en-US" sz="1050" b="0" i="0" u="none" strike="noStrike" cap="none">
                <a:solidFill>
                  <a:srgbClr val="64748B"/>
                </a:solidFill>
                <a:latin typeface="Inter"/>
                <a:ea typeface="Inter"/>
                <a:cs typeface="Inter"/>
                <a:sym typeface="Inter"/>
              </a:rPr>
              <a:t>Evaluating net </a:t>
            </a:r>
            <a:r>
              <a:rPr lang="en-US" sz="1050">
                <a:solidFill>
                  <a:srgbClr val="64748B"/>
                </a:solidFill>
                <a:latin typeface="Inter"/>
                <a:ea typeface="Inter"/>
                <a:cs typeface="Inter"/>
                <a:sym typeface="Inter"/>
              </a:rPr>
              <a:t>revenue </a:t>
            </a:r>
            <a:r>
              <a:rPr lang="en-US" sz="1050" b="0" i="0" u="none" strike="noStrike" cap="none">
                <a:solidFill>
                  <a:srgbClr val="64748B"/>
                </a:solidFill>
                <a:latin typeface="Inter"/>
                <a:ea typeface="Inter"/>
                <a:cs typeface="Inter"/>
                <a:sym typeface="Inter"/>
              </a:rPr>
              <a:t>contribution and </a:t>
            </a:r>
            <a:r>
              <a:rPr lang="en-US" sz="1050">
                <a:solidFill>
                  <a:srgbClr val="64748B"/>
                </a:solidFill>
                <a:latin typeface="Inter"/>
                <a:ea typeface="Inter"/>
                <a:cs typeface="Inter"/>
                <a:sym typeface="Inter"/>
              </a:rPr>
              <a:t>profit </a:t>
            </a:r>
            <a:r>
              <a:rPr lang="en-US" sz="1050" b="0" i="0" u="none" strike="noStrike" cap="none">
                <a:solidFill>
                  <a:srgbClr val="64748B"/>
                </a:solidFill>
                <a:latin typeface="Inter"/>
                <a:ea typeface="Inter"/>
                <a:cs typeface="Inter"/>
                <a:sym typeface="Inter"/>
              </a:rPr>
              <a:t>margin variance across core retail categories</a:t>
            </a:r>
            <a:endParaRPr sz="1800"/>
          </a:p>
        </p:txBody>
      </p:sp>
      <p:sp>
        <p:nvSpPr>
          <p:cNvPr id="186" name="Google Shape;186;p16"/>
          <p:cNvSpPr txBox="1"/>
          <p:nvPr/>
        </p:nvSpPr>
        <p:spPr>
          <a:xfrm>
            <a:off x="428625" y="6620054"/>
            <a:ext cx="2629873" cy="12695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825" b="0" i="0" u="none" strike="noStrike" cap="none">
                <a:solidFill>
                  <a:srgbClr val="94A3B8"/>
                </a:solidFill>
                <a:latin typeface="Inter"/>
                <a:ea typeface="Inter"/>
                <a:cs typeface="Inter"/>
                <a:sym typeface="Inter"/>
              </a:rPr>
              <a:t>FashionWave Retail Sales Analysis</a:t>
            </a:r>
            <a:endParaRPr/>
          </a:p>
        </p:txBody>
      </p:sp>
      <p:sp>
        <p:nvSpPr>
          <p:cNvPr id="187" name="Google Shape;187;p16"/>
          <p:cNvSpPr txBox="1"/>
          <p:nvPr/>
        </p:nvSpPr>
        <p:spPr>
          <a:xfrm>
            <a:off x="10477860" y="6620054"/>
            <a:ext cx="1357476" cy="12695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800" b="0" i="0" u="none" strike="noStrike" cap="none">
                <a:solidFill>
                  <a:srgbClr val="94A3B8"/>
                </a:solidFill>
                <a:latin typeface="Inter"/>
                <a:ea typeface="Inter"/>
                <a:cs typeface="Inter"/>
                <a:sym typeface="Inter"/>
              </a:rPr>
              <a:t>Slide 4 of </a:t>
            </a:r>
            <a:r>
              <a:rPr lang="en-US" sz="800">
                <a:solidFill>
                  <a:srgbClr val="94A3B8"/>
                </a:solidFill>
                <a:latin typeface="Inter"/>
                <a:ea typeface="Inter"/>
                <a:cs typeface="Inter"/>
                <a:sym typeface="Inter"/>
              </a:rPr>
              <a:t>12</a:t>
            </a:r>
            <a:endParaRPr/>
          </a:p>
        </p:txBody>
      </p:sp>
      <p:pic>
        <p:nvPicPr>
          <p:cNvPr id="188" name="Google Shape;188;p16" descr="image.png"/>
          <p:cNvPicPr preferRelativeResize="0"/>
          <p:nvPr/>
        </p:nvPicPr>
        <p:blipFill rotWithShape="1">
          <a:blip r:embed="rId7">
            <a:alphaModFix/>
          </a:blip>
          <a:srcRect/>
          <a:stretch/>
        </p:blipFill>
        <p:spPr>
          <a:xfrm>
            <a:off x="428625" y="379065"/>
            <a:ext cx="252412" cy="228600"/>
          </a:xfrm>
          <a:prstGeom prst="rect">
            <a:avLst/>
          </a:prstGeom>
          <a:noFill/>
          <a:ln>
            <a:noFill/>
          </a:ln>
        </p:spPr>
      </p:pic>
      <p:sp>
        <p:nvSpPr>
          <p:cNvPr id="189" name="Google Shape;189;p16"/>
          <p:cNvSpPr txBox="1"/>
          <p:nvPr/>
        </p:nvSpPr>
        <p:spPr>
          <a:xfrm>
            <a:off x="428625" y="1123722"/>
            <a:ext cx="5830800" cy="2154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r>
              <a:rPr lang="en-US" b="1">
                <a:solidFill>
                  <a:srgbClr val="0F172A"/>
                </a:solidFill>
                <a:latin typeface="Inter"/>
                <a:ea typeface="Inter"/>
                <a:cs typeface="Inter"/>
                <a:sym typeface="Inter"/>
              </a:rPr>
              <a:t>Net Revenue</a:t>
            </a:r>
            <a:r>
              <a:rPr lang="en-US" b="1" i="0" u="none" strike="noStrike" cap="none">
                <a:solidFill>
                  <a:srgbClr val="0F172A"/>
                </a:solidFill>
                <a:latin typeface="Inter"/>
                <a:ea typeface="Inter"/>
                <a:cs typeface="Inter"/>
                <a:sym typeface="Inter"/>
              </a:rPr>
              <a:t> </a:t>
            </a:r>
            <a:r>
              <a:rPr lang="en-US" b="1">
                <a:solidFill>
                  <a:srgbClr val="0F172A"/>
                </a:solidFill>
                <a:latin typeface="Inter"/>
                <a:ea typeface="Inter"/>
                <a:cs typeface="Inter"/>
                <a:sym typeface="Inter"/>
              </a:rPr>
              <a:t>and Net Profit by</a:t>
            </a:r>
            <a:r>
              <a:rPr lang="en-US" b="1" i="0" u="none" strike="noStrike" cap="none">
                <a:solidFill>
                  <a:srgbClr val="0F172A"/>
                </a:solidFill>
                <a:latin typeface="Inter"/>
                <a:ea typeface="Inter"/>
                <a:cs typeface="Inter"/>
                <a:sym typeface="Inter"/>
              </a:rPr>
              <a:t> Category</a:t>
            </a:r>
            <a:r>
              <a:rPr lang="en-US" b="1">
                <a:solidFill>
                  <a:srgbClr val="0F172A"/>
                </a:solidFill>
                <a:latin typeface="Inter"/>
                <a:ea typeface="Inter"/>
                <a:cs typeface="Inter"/>
                <a:sym typeface="Inter"/>
              </a:rPr>
              <a:t> (in ₹M )</a:t>
            </a:r>
            <a:endParaRPr lang="en-US"/>
          </a:p>
        </p:txBody>
      </p:sp>
      <p:sp>
        <p:nvSpPr>
          <p:cNvPr id="203" name="Google Shape;203;p16"/>
          <p:cNvSpPr txBox="1"/>
          <p:nvPr/>
        </p:nvSpPr>
        <p:spPr>
          <a:xfrm>
            <a:off x="428625" y="3875009"/>
            <a:ext cx="5787668" cy="2154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r>
              <a:rPr lang="en-US" b="1">
                <a:solidFill>
                  <a:srgbClr val="0F172A"/>
                </a:solidFill>
                <a:latin typeface="Inter"/>
                <a:ea typeface="Inter"/>
              </a:rPr>
              <a:t>Profit Margin by Category (in %)</a:t>
            </a:r>
          </a:p>
        </p:txBody>
      </p:sp>
      <p:sp>
        <p:nvSpPr>
          <p:cNvPr id="214" name="Google Shape;214;p16"/>
          <p:cNvSpPr txBox="1"/>
          <p:nvPr/>
        </p:nvSpPr>
        <p:spPr>
          <a:xfrm>
            <a:off x="6406012" y="1336757"/>
            <a:ext cx="5570700" cy="27699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3335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 b="0" i="0" u="none" strike="noStrike" cap="none">
                <a:solidFill>
                  <a:srgbClr val="10B981"/>
                </a:solidFill>
                <a:latin typeface="Poppins ExtraBold"/>
                <a:ea typeface="Poppins SemiBold"/>
                <a:cs typeface="Poppins ExtraBold"/>
                <a:sym typeface="Poppins SemiBold"/>
              </a:rPr>
              <a:t>Accessories Category Leader</a:t>
            </a:r>
            <a:endParaRPr lang="en-US" sz="1800">
              <a:latin typeface="Poppins ExtraBold"/>
              <a:cs typeface="Poppins ExtraBold"/>
            </a:endParaRPr>
          </a:p>
        </p:txBody>
      </p:sp>
      <p:sp>
        <p:nvSpPr>
          <p:cNvPr id="215" name="Google Shape;215;p16"/>
          <p:cNvSpPr txBox="1"/>
          <p:nvPr/>
        </p:nvSpPr>
        <p:spPr>
          <a:xfrm>
            <a:off x="6219106" y="1708951"/>
            <a:ext cx="5305500" cy="9371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4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b="0" i="0" u="none" strike="noStrike" cap="none">
                <a:solidFill>
                  <a:srgbClr val="475569"/>
                </a:solidFill>
                <a:latin typeface="Inter"/>
                <a:ea typeface="Inter"/>
                <a:cs typeface="Inter"/>
                <a:sym typeface="Inter"/>
              </a:rPr>
              <a:t>Generates </a:t>
            </a:r>
            <a:r>
              <a:rPr lang="en-US" b="1" i="0" u="none" strike="noStrike" cap="none">
                <a:solidFill>
                  <a:srgbClr val="475569"/>
                </a:solidFill>
                <a:latin typeface="Inter"/>
                <a:ea typeface="Inter"/>
                <a:cs typeface="Inter"/>
                <a:sym typeface="Inter"/>
              </a:rPr>
              <a:t>₹</a:t>
            </a:r>
            <a:r>
              <a:rPr lang="en-US" b="1">
                <a:solidFill>
                  <a:srgbClr val="475569"/>
                </a:solidFill>
                <a:latin typeface="Inter"/>
                <a:ea typeface="Inter"/>
                <a:cs typeface="Inter"/>
                <a:sym typeface="Inter"/>
              </a:rPr>
              <a:t>65.62M</a:t>
            </a:r>
            <a:r>
              <a:rPr lang="en-US" b="1" i="0" u="none" strike="noStrike" cap="none">
                <a:solidFill>
                  <a:srgbClr val="475569"/>
                </a:solidFill>
                <a:latin typeface="Inter"/>
                <a:ea typeface="Inter"/>
                <a:cs typeface="Inter"/>
                <a:sym typeface="Inter"/>
              </a:rPr>
              <a:t> profit at 79.46% margin</a:t>
            </a:r>
            <a:r>
              <a:rPr lang="en-US" b="0" i="0" u="none" strike="noStrike" cap="none">
                <a:solidFill>
                  <a:srgbClr val="475569"/>
                </a:solidFill>
                <a:latin typeface="Inter"/>
                <a:ea typeface="Inter"/>
                <a:cs typeface="Inter"/>
                <a:sym typeface="Inter"/>
              </a:rPr>
              <a:t> with 5,147 units sold. Contains 13 of the top 15 most profitable products in the store.</a:t>
            </a:r>
            <a:endParaRPr lang="en-US"/>
          </a:p>
        </p:txBody>
      </p:sp>
      <p:sp>
        <p:nvSpPr>
          <p:cNvPr id="216" name="Google Shape;216;p16"/>
          <p:cNvSpPr txBox="1"/>
          <p:nvPr/>
        </p:nvSpPr>
        <p:spPr>
          <a:xfrm>
            <a:off x="6385692" y="3187890"/>
            <a:ext cx="5570700" cy="27699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7145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 b="0" i="0" u="none" strike="noStrike" cap="none">
                <a:solidFill>
                  <a:srgbClr val="0284C7"/>
                </a:solidFill>
                <a:latin typeface="Poppins ExtraBold"/>
                <a:ea typeface="Poppins SemiBold"/>
                <a:cs typeface="Poppins ExtraBold"/>
                <a:sym typeface="Poppins SemiBold"/>
              </a:rPr>
              <a:t>Shoes Solid Performer</a:t>
            </a:r>
            <a:endParaRPr lang="en-US" sz="1800">
              <a:latin typeface="Poppins ExtraBold"/>
              <a:cs typeface="Poppins ExtraBold"/>
            </a:endParaRPr>
          </a:p>
        </p:txBody>
      </p:sp>
      <p:sp>
        <p:nvSpPr>
          <p:cNvPr id="217" name="Google Shape;217;p16"/>
          <p:cNvSpPr txBox="1"/>
          <p:nvPr/>
        </p:nvSpPr>
        <p:spPr>
          <a:xfrm>
            <a:off x="6184408" y="3545707"/>
            <a:ext cx="5305500" cy="9371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4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b="0" i="0" u="none" strike="noStrike" cap="none">
                <a:solidFill>
                  <a:srgbClr val="475569"/>
                </a:solidFill>
                <a:latin typeface="Inter"/>
                <a:ea typeface="Inter"/>
                <a:cs typeface="Inter"/>
                <a:sym typeface="Inter"/>
              </a:rPr>
              <a:t>Delivers </a:t>
            </a:r>
            <a:r>
              <a:rPr lang="en-US" b="1" i="0" u="none" strike="noStrike" cap="none">
                <a:solidFill>
                  <a:srgbClr val="475569"/>
                </a:solidFill>
                <a:latin typeface="Inter"/>
                <a:ea typeface="Inter"/>
                <a:cs typeface="Inter"/>
                <a:sym typeface="Inter"/>
              </a:rPr>
              <a:t>₹</a:t>
            </a:r>
            <a:r>
              <a:rPr lang="en-US" b="1">
                <a:solidFill>
                  <a:srgbClr val="475569"/>
                </a:solidFill>
                <a:latin typeface="Inter"/>
                <a:ea typeface="Inter"/>
                <a:cs typeface="Inter"/>
                <a:sym typeface="Inter"/>
              </a:rPr>
              <a:t>47.59M</a:t>
            </a:r>
            <a:r>
              <a:rPr lang="en-US" b="1" i="0" u="none" strike="noStrike" cap="none">
                <a:solidFill>
                  <a:srgbClr val="475569"/>
                </a:solidFill>
                <a:latin typeface="Inter"/>
                <a:ea typeface="Inter"/>
                <a:cs typeface="Inter"/>
                <a:sym typeface="Inter"/>
              </a:rPr>
              <a:t> profit at 73.39% margin</a:t>
            </a:r>
            <a:r>
              <a:rPr lang="en-US" b="0" i="0" u="none" strike="noStrike" cap="none">
                <a:solidFill>
                  <a:srgbClr val="475569"/>
                </a:solidFill>
                <a:latin typeface="Inter"/>
                <a:ea typeface="Inter"/>
                <a:cs typeface="Inter"/>
                <a:sym typeface="Inter"/>
              </a:rPr>
              <a:t> (16,113 units sold). Highly effective for bundling and cross-selling with accessories.</a:t>
            </a:r>
            <a:endParaRPr lang="en-US"/>
          </a:p>
        </p:txBody>
      </p:sp>
      <p:pic>
        <p:nvPicPr>
          <p:cNvPr id="223" name="Google Shape;223;p16" descr="image.png"/>
          <p:cNvPicPr preferRelativeResize="0"/>
          <p:nvPr/>
        </p:nvPicPr>
        <p:blipFill rotWithShape="1">
          <a:blip r:embed="rId8">
            <a:alphaModFix/>
          </a:blip>
          <a:srcRect/>
          <a:stretch/>
        </p:blipFill>
        <p:spPr>
          <a:xfrm>
            <a:off x="6219106" y="1350955"/>
            <a:ext cx="133350" cy="190859"/>
          </a:xfrm>
          <a:prstGeom prst="rect">
            <a:avLst/>
          </a:prstGeom>
          <a:noFill/>
          <a:ln>
            <a:noFill/>
          </a:ln>
        </p:spPr>
      </p:pic>
      <p:pic>
        <p:nvPicPr>
          <p:cNvPr id="224" name="Google Shape;224;p16" descr="image.png"/>
          <p:cNvPicPr preferRelativeResize="0"/>
          <p:nvPr/>
        </p:nvPicPr>
        <p:blipFill rotWithShape="1">
          <a:blip r:embed="rId9">
            <a:alphaModFix/>
          </a:blip>
          <a:srcRect/>
          <a:stretch/>
        </p:blipFill>
        <p:spPr>
          <a:xfrm>
            <a:off x="6227541" y="3187711"/>
            <a:ext cx="171450" cy="219614"/>
          </a:xfrm>
          <a:prstGeom prst="rect">
            <a:avLst/>
          </a:prstGeom>
          <a:noFill/>
          <a:ln>
            <a:noFill/>
          </a:ln>
        </p:spPr>
      </p:pic>
      <p:graphicFrame>
        <p:nvGraphicFramePr>
          <p:cNvPr id="7" name="Chart 6">
            <a:extLst>
              <a:ext uri="{FF2B5EF4-FFF2-40B4-BE49-F238E27FC236}">
                <a16:creationId xmlns:a16="http://schemas.microsoft.com/office/drawing/2014/main" id="{6ADBB799-3098-4D20-B3AD-1AD25B04C767}"/>
              </a:ext>
              <a:ext uri="{147F2762-F138-4A5C-976F-8EAC2B608ADB}">
                <a16:predDERef xmlns:a16="http://schemas.microsoft.com/office/drawing/2014/main" pred="{7E1400DA-B912-1E9E-C6A4-05B3CBE0B644}"/>
              </a:ext>
            </a:extLst>
          </p:cNvPr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267749977"/>
              </p:ext>
            </p:extLst>
          </p:nvPr>
        </p:nvGraphicFramePr>
        <p:xfrm>
          <a:off x="421796" y="4096560"/>
          <a:ext cx="5679056" cy="2225794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10"/>
          </a:graphicData>
        </a:graphic>
      </p:graphicFrame>
      <p:pic>
        <p:nvPicPr>
          <p:cNvPr id="11" name="Google Shape;182;p16" descr="image.png">
            <a:extLst>
              <a:ext uri="{FF2B5EF4-FFF2-40B4-BE49-F238E27FC236}">
                <a16:creationId xmlns:a16="http://schemas.microsoft.com/office/drawing/2014/main" id="{52DC172A-3C43-EE99-3961-F90E621724DC}"/>
              </a:ext>
            </a:extLst>
          </p:cNvPr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6054640" y="4806603"/>
            <a:ext cx="5424446" cy="1502840"/>
          </a:xfrm>
          <a:prstGeom prst="rect">
            <a:avLst/>
          </a:prstGeom>
          <a:noFill/>
          <a:ln>
            <a:noFill/>
          </a:ln>
        </p:spPr>
      </p:pic>
      <p:graphicFrame>
        <p:nvGraphicFramePr>
          <p:cNvPr id="9" name="Chart 8">
            <a:extLst>
              <a:ext uri="{FF2B5EF4-FFF2-40B4-BE49-F238E27FC236}">
                <a16:creationId xmlns:a16="http://schemas.microsoft.com/office/drawing/2014/main" id="{7E1400DA-B912-1E9E-C6A4-05B3CBE0B644}"/>
              </a:ext>
              <a:ext uri="{147F2762-F138-4A5C-976F-8EAC2B608ADB}">
                <a16:predDERef xmlns:a16="http://schemas.microsoft.com/office/drawing/2014/main" pred="{A0406F94-D4A5-0BF0-6705-22B6D88594DF}"/>
              </a:ext>
            </a:extLst>
          </p:cNvPr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942092245"/>
              </p:ext>
            </p:extLst>
          </p:nvPr>
        </p:nvGraphicFramePr>
        <p:xfrm>
          <a:off x="436174" y="1336107"/>
          <a:ext cx="5664678" cy="2340813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11"/>
          </a:graphicData>
        </a:graphic>
      </p:graphicFrame>
      <p:sp>
        <p:nvSpPr>
          <p:cNvPr id="12" name="Google Shape;218;p16">
            <a:extLst>
              <a:ext uri="{FF2B5EF4-FFF2-40B4-BE49-F238E27FC236}">
                <a16:creationId xmlns:a16="http://schemas.microsoft.com/office/drawing/2014/main" id="{A10DC6EB-C902-DC20-C98E-9BD1381E5E06}"/>
              </a:ext>
            </a:extLst>
          </p:cNvPr>
          <p:cNvSpPr txBox="1"/>
          <p:nvPr/>
        </p:nvSpPr>
        <p:spPr>
          <a:xfrm>
            <a:off x="6205495" y="4933207"/>
            <a:ext cx="5570700" cy="27699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3335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 b="0" i="0" u="none" strike="noStrike" cap="none">
                <a:solidFill>
                  <a:srgbClr val="D97706"/>
                </a:solidFill>
                <a:latin typeface="Poppins ExtraBold"/>
                <a:ea typeface="Poppins SemiBold"/>
                <a:cs typeface="Poppins ExtraBold"/>
                <a:sym typeface="Poppins SemiBold"/>
              </a:rPr>
              <a:t>Clothing Cost Restructuring</a:t>
            </a:r>
            <a:endParaRPr lang="en-US" sz="1800">
              <a:latin typeface="Poppins ExtraBold"/>
              <a:cs typeface="Poppins ExtraBold"/>
            </a:endParaRPr>
          </a:p>
        </p:txBody>
      </p:sp>
      <p:sp>
        <p:nvSpPr>
          <p:cNvPr id="13" name="Google Shape;219;p16">
            <a:extLst>
              <a:ext uri="{FF2B5EF4-FFF2-40B4-BE49-F238E27FC236}">
                <a16:creationId xmlns:a16="http://schemas.microsoft.com/office/drawing/2014/main" id="{5FBAF08E-C409-A163-7FFE-B40ECC3F5064}"/>
              </a:ext>
            </a:extLst>
          </p:cNvPr>
          <p:cNvSpPr txBox="1"/>
          <p:nvPr/>
        </p:nvSpPr>
        <p:spPr>
          <a:xfrm>
            <a:off x="6175015" y="5228337"/>
            <a:ext cx="5305500" cy="9371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>
              <a:lnSpc>
                <a:spcPct val="145000"/>
              </a:lnSpc>
            </a:pPr>
            <a:r>
              <a:rPr lang="en-US" b="0" i="0" u="none" strike="noStrike" cap="none">
                <a:solidFill>
                  <a:srgbClr val="475569"/>
                </a:solidFill>
                <a:latin typeface="Inter"/>
                <a:ea typeface="Inter"/>
                <a:cs typeface="Inter"/>
                <a:sym typeface="Inter"/>
              </a:rPr>
              <a:t>Margins lag at </a:t>
            </a:r>
            <a:r>
              <a:rPr lang="en-US" b="1" i="0" u="none" strike="noStrike" cap="none">
                <a:solidFill>
                  <a:srgbClr val="475569"/>
                </a:solidFill>
                <a:latin typeface="Inter"/>
                <a:ea typeface="Inter"/>
                <a:cs typeface="Inter"/>
                <a:sym typeface="Inter"/>
              </a:rPr>
              <a:t>58.72%</a:t>
            </a:r>
            <a:r>
              <a:rPr lang="en-US" b="0" i="0" u="none" strike="noStrike" cap="none">
                <a:solidFill>
                  <a:srgbClr val="475569"/>
                </a:solidFill>
                <a:latin typeface="Inter"/>
                <a:ea typeface="Inter"/>
                <a:cs typeface="Inter"/>
                <a:sym typeface="Inter"/>
              </a:rPr>
              <a:t> (~20 points below Accessories) </a:t>
            </a:r>
            <a:r>
              <a:rPr lang="en-US">
                <a:solidFill>
                  <a:srgbClr val="475569"/>
                </a:solidFill>
                <a:latin typeface="Inter"/>
                <a:ea typeface="Inter"/>
                <a:cs typeface="Inter"/>
                <a:sym typeface="Inter"/>
              </a:rPr>
              <a:t>probably due</a:t>
            </a:r>
            <a:r>
              <a:rPr lang="en-US" b="0" i="0" u="none" strike="noStrike" cap="none">
                <a:solidFill>
                  <a:srgbClr val="475569"/>
                </a:solidFill>
                <a:latin typeface="Inter"/>
                <a:ea typeface="Inter"/>
                <a:cs typeface="Inter"/>
                <a:sym typeface="Inter"/>
              </a:rPr>
              <a:t> to higher manufacturing &amp; sourcing costs (19,023 units sold). Requires supplier review.</a:t>
            </a:r>
            <a:endParaRPr lang="en-US"/>
          </a:p>
        </p:txBody>
      </p:sp>
      <p:pic>
        <p:nvPicPr>
          <p:cNvPr id="14" name="Google Shape;225;p16" descr="image.png">
            <a:extLst>
              <a:ext uri="{FF2B5EF4-FFF2-40B4-BE49-F238E27FC236}">
                <a16:creationId xmlns:a16="http://schemas.microsoft.com/office/drawing/2014/main" id="{B9140536-6ACD-E3D3-79B0-F85EE1BB12F8}"/>
              </a:ext>
            </a:extLst>
          </p:cNvPr>
          <p:cNvPicPr preferRelativeResize="0"/>
          <p:nvPr/>
        </p:nvPicPr>
        <p:blipFill rotWithShape="1">
          <a:blip r:embed="rId12">
            <a:alphaModFix/>
          </a:blip>
          <a:srcRect/>
          <a:stretch/>
        </p:blipFill>
        <p:spPr>
          <a:xfrm>
            <a:off x="6103128" y="5000696"/>
            <a:ext cx="133350" cy="13335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>
          <a:blip r:embed="rId3"/>
          <a:stretch>
            <a:fillRect/>
          </a:stretch>
        </a:blipFill>
        <a:effectLst/>
      </p:bgPr>
    </p:bg>
    <p:spTree>
      <p:nvGrpSpPr>
        <p:cNvPr id="1" name="Shape 178">
          <a:extLst>
            <a:ext uri="{FF2B5EF4-FFF2-40B4-BE49-F238E27FC236}">
              <a16:creationId xmlns:a16="http://schemas.microsoft.com/office/drawing/2014/main" id="{52F1B73A-0D9E-86EC-EC68-98536EC4D98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" name="Google Shape;182;p16" descr="image.png">
            <a:extLst>
              <a:ext uri="{FF2B5EF4-FFF2-40B4-BE49-F238E27FC236}">
                <a16:creationId xmlns:a16="http://schemas.microsoft.com/office/drawing/2014/main" id="{2870345C-657E-8E67-0C9A-462CC927D4D4}"/>
              </a:ext>
            </a:extLst>
          </p:cNvPr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6066526" y="4415921"/>
            <a:ext cx="5567452" cy="1411209"/>
          </a:xfrm>
          <a:prstGeom prst="rect">
            <a:avLst/>
          </a:prstGeom>
          <a:noFill/>
          <a:ln>
            <a:noFill/>
          </a:ln>
        </p:spPr>
      </p:pic>
      <p:pic>
        <p:nvPicPr>
          <p:cNvPr id="181" name="Google Shape;181;p16" descr="image.png">
            <a:extLst>
              <a:ext uri="{FF2B5EF4-FFF2-40B4-BE49-F238E27FC236}">
                <a16:creationId xmlns:a16="http://schemas.microsoft.com/office/drawing/2014/main" id="{1129648F-D660-D5D0-9C04-C655CA01B5BF}"/>
              </a:ext>
            </a:extLst>
          </p:cNvPr>
          <p:cNvPicPr preferRelativeResize="0"/>
          <p:nvPr/>
        </p:nvPicPr>
        <p:blipFill rotWithShape="1">
          <a:blip r:embed="rId5">
            <a:alphaModFix/>
          </a:blip>
          <a:srcRect/>
          <a:stretch/>
        </p:blipFill>
        <p:spPr>
          <a:xfrm>
            <a:off x="6109658" y="1299198"/>
            <a:ext cx="5553075" cy="1454341"/>
          </a:xfrm>
          <a:prstGeom prst="rect">
            <a:avLst/>
          </a:prstGeom>
          <a:noFill/>
          <a:ln>
            <a:noFill/>
          </a:ln>
        </p:spPr>
      </p:pic>
      <p:pic>
        <p:nvPicPr>
          <p:cNvPr id="182" name="Google Shape;182;p16" descr="image.png">
            <a:extLst>
              <a:ext uri="{FF2B5EF4-FFF2-40B4-BE49-F238E27FC236}">
                <a16:creationId xmlns:a16="http://schemas.microsoft.com/office/drawing/2014/main" id="{CA1B99FE-76C9-43D8-02B7-981DB97DE8C8}"/>
              </a:ext>
            </a:extLst>
          </p:cNvPr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6124034" y="2863168"/>
            <a:ext cx="5466812" cy="1396831"/>
          </a:xfrm>
          <a:prstGeom prst="rect">
            <a:avLst/>
          </a:prstGeom>
          <a:noFill/>
          <a:ln>
            <a:noFill/>
          </a:ln>
        </p:spPr>
      </p:pic>
      <p:pic>
        <p:nvPicPr>
          <p:cNvPr id="183" name="Google Shape;183;p16" descr="image.png">
            <a:extLst>
              <a:ext uri="{FF2B5EF4-FFF2-40B4-BE49-F238E27FC236}">
                <a16:creationId xmlns:a16="http://schemas.microsoft.com/office/drawing/2014/main" id="{0976CDF4-7638-7E6F-75D6-7BF1BADD8C12}"/>
              </a:ext>
            </a:extLst>
          </p:cNvPr>
          <p:cNvPicPr preferRelativeResize="0"/>
          <p:nvPr/>
        </p:nvPicPr>
        <p:blipFill rotWithShape="1">
          <a:blip r:embed="rId6">
            <a:alphaModFix/>
          </a:blip>
          <a:srcRect/>
          <a:stretch/>
        </p:blipFill>
        <p:spPr>
          <a:xfrm>
            <a:off x="428625" y="6505575"/>
            <a:ext cx="11334750" cy="219075"/>
          </a:xfrm>
          <a:prstGeom prst="rect">
            <a:avLst/>
          </a:prstGeom>
          <a:noFill/>
          <a:ln>
            <a:noFill/>
          </a:ln>
        </p:spPr>
      </p:pic>
      <p:sp>
        <p:nvSpPr>
          <p:cNvPr id="184" name="Google Shape;184;p16">
            <a:extLst>
              <a:ext uri="{FF2B5EF4-FFF2-40B4-BE49-F238E27FC236}">
                <a16:creationId xmlns:a16="http://schemas.microsoft.com/office/drawing/2014/main" id="{34AD4390-D7B6-B50A-6C7C-90620CF8267C}"/>
              </a:ext>
            </a:extLst>
          </p:cNvPr>
          <p:cNvSpPr txBox="1"/>
          <p:nvPr/>
        </p:nvSpPr>
        <p:spPr>
          <a:xfrm>
            <a:off x="795337" y="310292"/>
            <a:ext cx="11396700" cy="75713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spAutoFit/>
          </a:bodyPr>
          <a:lstStyle/>
          <a:p>
            <a:r>
              <a:rPr lang="en-US" sz="2400" b="1">
                <a:solidFill>
                  <a:srgbClr val="0F172A"/>
                </a:solidFill>
                <a:latin typeface="Poppins"/>
                <a:cs typeface="Poppins"/>
                <a:sym typeface="Poppins"/>
              </a:rPr>
              <a:t>Q2. How do weekend sales compare to weekday sales? Identify patterns</a:t>
            </a:r>
            <a:endParaRPr lang="en-US" sz="2400" b="1">
              <a:latin typeface="Poppins"/>
              <a:cs typeface="Poppins"/>
            </a:endParaRPr>
          </a:p>
          <a:p>
            <a:pPr>
              <a:lnSpc>
                <a:spcPct val="120000"/>
              </a:lnSpc>
            </a:pPr>
            <a:endParaRPr lang="en-US" sz="2100" b="1">
              <a:solidFill>
                <a:srgbClr val="0F172A"/>
              </a:solidFill>
              <a:latin typeface="Poppins"/>
              <a:cs typeface="Poppins"/>
            </a:endParaRPr>
          </a:p>
        </p:txBody>
      </p:sp>
      <p:sp>
        <p:nvSpPr>
          <p:cNvPr id="186" name="Google Shape;186;p16">
            <a:extLst>
              <a:ext uri="{FF2B5EF4-FFF2-40B4-BE49-F238E27FC236}">
                <a16:creationId xmlns:a16="http://schemas.microsoft.com/office/drawing/2014/main" id="{9265EBA8-2F2E-DBAC-C67B-DCD4B53CD692}"/>
              </a:ext>
            </a:extLst>
          </p:cNvPr>
          <p:cNvSpPr txBox="1"/>
          <p:nvPr/>
        </p:nvSpPr>
        <p:spPr>
          <a:xfrm>
            <a:off x="399871" y="6620054"/>
            <a:ext cx="2658627" cy="12695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825" b="0" i="0" u="none" strike="noStrike" cap="none">
                <a:solidFill>
                  <a:srgbClr val="94A3B8"/>
                </a:solidFill>
                <a:latin typeface="Inter"/>
                <a:ea typeface="Inter"/>
                <a:cs typeface="Inter"/>
                <a:sym typeface="Inter"/>
              </a:rPr>
              <a:t>FashionWave Retail Sales Analysis</a:t>
            </a:r>
            <a:endParaRPr/>
          </a:p>
        </p:txBody>
      </p:sp>
      <p:sp>
        <p:nvSpPr>
          <p:cNvPr id="187" name="Google Shape;187;p16">
            <a:extLst>
              <a:ext uri="{FF2B5EF4-FFF2-40B4-BE49-F238E27FC236}">
                <a16:creationId xmlns:a16="http://schemas.microsoft.com/office/drawing/2014/main" id="{E980C5F9-32CC-2EE8-D875-394075052A56}"/>
              </a:ext>
            </a:extLst>
          </p:cNvPr>
          <p:cNvSpPr txBox="1"/>
          <p:nvPr/>
        </p:nvSpPr>
        <p:spPr>
          <a:xfrm>
            <a:off x="9931520" y="6505036"/>
            <a:ext cx="1760044" cy="12695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r>
              <a:rPr lang="en-US" sz="800" b="0" i="0" u="none" strike="noStrike" cap="none">
                <a:solidFill>
                  <a:srgbClr val="94A3B8"/>
                </a:solidFill>
                <a:latin typeface="Inter"/>
                <a:ea typeface="Inter"/>
                <a:cs typeface="Inter"/>
                <a:sym typeface="Inter"/>
              </a:rPr>
              <a:t>Slide </a:t>
            </a:r>
            <a:r>
              <a:rPr lang="en-US" sz="800">
                <a:solidFill>
                  <a:srgbClr val="94A3B8"/>
                </a:solidFill>
                <a:latin typeface="Inter"/>
                <a:ea typeface="Inter"/>
                <a:cs typeface="Inter"/>
                <a:sym typeface="Inter"/>
              </a:rPr>
              <a:t>5 </a:t>
            </a:r>
            <a:r>
              <a:rPr lang="en-US" sz="800" b="0" i="0" u="none" strike="noStrike" cap="none">
                <a:solidFill>
                  <a:srgbClr val="94A3B8"/>
                </a:solidFill>
                <a:latin typeface="Inter"/>
                <a:ea typeface="Inter"/>
                <a:cs typeface="Inter"/>
                <a:sym typeface="Inter"/>
              </a:rPr>
              <a:t>of </a:t>
            </a:r>
            <a:r>
              <a:rPr lang="en-US" sz="800">
                <a:solidFill>
                  <a:srgbClr val="94A3B8"/>
                </a:solidFill>
                <a:latin typeface="Inter"/>
                <a:ea typeface="Inter"/>
                <a:cs typeface="Inter"/>
                <a:sym typeface="Inter"/>
              </a:rPr>
              <a:t>12</a:t>
            </a:r>
            <a:endParaRPr sz="800"/>
          </a:p>
        </p:txBody>
      </p:sp>
      <p:sp>
        <p:nvSpPr>
          <p:cNvPr id="214" name="Google Shape;214;p16">
            <a:extLst>
              <a:ext uri="{FF2B5EF4-FFF2-40B4-BE49-F238E27FC236}">
                <a16:creationId xmlns:a16="http://schemas.microsoft.com/office/drawing/2014/main" id="{54C37268-1B98-D6B3-2917-9BB17100FB3C}"/>
              </a:ext>
            </a:extLst>
          </p:cNvPr>
          <p:cNvSpPr txBox="1"/>
          <p:nvPr/>
        </p:nvSpPr>
        <p:spPr>
          <a:xfrm>
            <a:off x="6060955" y="1394268"/>
            <a:ext cx="5570700" cy="27699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33350" tIns="0" rIns="0" bIns="0" anchor="t" anchorCtr="0">
            <a:spAutoFit/>
          </a:bodyPr>
          <a:lstStyle/>
          <a:p>
            <a:r>
              <a:rPr lang="en-US" sz="1800">
                <a:solidFill>
                  <a:srgbClr val="10B981"/>
                </a:solidFill>
                <a:latin typeface="Poppins SemiBold"/>
                <a:ea typeface="Poppins SemiBold"/>
                <a:cs typeface="Poppins SemiBold"/>
                <a:sym typeface="Poppins SemiBold"/>
              </a:rPr>
              <a:t>Daily Revenue Deficit</a:t>
            </a:r>
            <a:endParaRPr lang="en-US" sz="2800"/>
          </a:p>
        </p:txBody>
      </p:sp>
      <p:sp>
        <p:nvSpPr>
          <p:cNvPr id="215" name="Google Shape;215;p16">
            <a:extLst>
              <a:ext uri="{FF2B5EF4-FFF2-40B4-BE49-F238E27FC236}">
                <a16:creationId xmlns:a16="http://schemas.microsoft.com/office/drawing/2014/main" id="{66B2A4C7-BF9C-F141-F6F7-D4E62FF4C10B}"/>
              </a:ext>
            </a:extLst>
          </p:cNvPr>
          <p:cNvSpPr txBox="1"/>
          <p:nvPr/>
        </p:nvSpPr>
        <p:spPr>
          <a:xfrm>
            <a:off x="6204729" y="1780839"/>
            <a:ext cx="5377387" cy="9371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>
              <a:lnSpc>
                <a:spcPct val="145000"/>
              </a:lnSpc>
            </a:pPr>
            <a:r>
              <a:rPr lang="en-US">
                <a:solidFill>
                  <a:srgbClr val="475569"/>
                </a:solidFill>
                <a:latin typeface="Inter"/>
                <a:ea typeface="Inter"/>
                <a:sym typeface="Inter"/>
              </a:rPr>
              <a:t>Weekend customers spend 27% more per order (₹15,163 vs ₹11,925), but 59% fewer transactions (4,359 vs 10,641) limit daily revenue to just 52.1% of weekday levels.</a:t>
            </a:r>
            <a:endParaRPr lang="en-US" sz="1800"/>
          </a:p>
        </p:txBody>
      </p:sp>
      <p:sp>
        <p:nvSpPr>
          <p:cNvPr id="216" name="Google Shape;216;p16">
            <a:extLst>
              <a:ext uri="{FF2B5EF4-FFF2-40B4-BE49-F238E27FC236}">
                <a16:creationId xmlns:a16="http://schemas.microsoft.com/office/drawing/2014/main" id="{EAC467BC-BD6D-5525-3F61-AB49B4D7F237}"/>
              </a:ext>
            </a:extLst>
          </p:cNvPr>
          <p:cNvSpPr txBox="1"/>
          <p:nvPr/>
        </p:nvSpPr>
        <p:spPr>
          <a:xfrm>
            <a:off x="6118464" y="2915105"/>
            <a:ext cx="5570700" cy="27699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71450" tIns="0" rIns="0" bIns="0" anchor="t" anchorCtr="0">
            <a:spAutoFit/>
          </a:bodyPr>
          <a:lstStyle/>
          <a:p>
            <a:r>
              <a:rPr lang="en-US" sz="1800">
                <a:solidFill>
                  <a:srgbClr val="0284C7"/>
                </a:solidFill>
                <a:latin typeface="Poppins SemiBold"/>
                <a:ea typeface="Poppins SemiBold"/>
                <a:cs typeface="Poppins SemiBold"/>
                <a:sym typeface="Poppins SemiBold"/>
              </a:rPr>
              <a:t>Footfall Mismatch</a:t>
            </a:r>
            <a:endParaRPr sz="2800"/>
          </a:p>
        </p:txBody>
      </p:sp>
      <p:sp>
        <p:nvSpPr>
          <p:cNvPr id="217" name="Google Shape;217;p16">
            <a:extLst>
              <a:ext uri="{FF2B5EF4-FFF2-40B4-BE49-F238E27FC236}">
                <a16:creationId xmlns:a16="http://schemas.microsoft.com/office/drawing/2014/main" id="{7BFC07BF-06E3-4AE7-B0BD-972E65AFD498}"/>
              </a:ext>
            </a:extLst>
          </p:cNvPr>
          <p:cNvSpPr txBox="1"/>
          <p:nvPr/>
        </p:nvSpPr>
        <p:spPr>
          <a:xfrm>
            <a:off x="6219105" y="3272922"/>
            <a:ext cx="5305500" cy="9371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>
              <a:lnSpc>
                <a:spcPct val="145000"/>
              </a:lnSpc>
            </a:pPr>
            <a:r>
              <a:rPr lang="en-US">
                <a:solidFill>
                  <a:srgbClr val="475569"/>
                </a:solidFill>
                <a:latin typeface="Inter"/>
                <a:ea typeface="Inter"/>
                <a:cs typeface="Calibri"/>
                <a:sym typeface="Inter"/>
              </a:rPr>
              <a:t> Store visits drop significantly on weekends probably due to window-shopping behavior and unoptimized weekend store staffing </a:t>
            </a:r>
            <a:r>
              <a:rPr lang="en-US" dirty="0">
                <a:solidFill>
                  <a:srgbClr val="475569"/>
                </a:solidFill>
                <a:latin typeface="Inter"/>
                <a:ea typeface="Inter"/>
                <a:cs typeface="Calibri"/>
                <a:sym typeface="Inter"/>
              </a:rPr>
              <a:t>levels.</a:t>
            </a:r>
            <a:endParaRPr lang="en-US">
              <a:solidFill>
                <a:srgbClr val="475569"/>
              </a:solidFill>
              <a:latin typeface="Inter"/>
              <a:ea typeface="Inter"/>
              <a:cs typeface="Calibri"/>
            </a:endParaRPr>
          </a:p>
        </p:txBody>
      </p:sp>
      <p:sp>
        <p:nvSpPr>
          <p:cNvPr id="12" name="Google Shape;218;p16">
            <a:extLst>
              <a:ext uri="{FF2B5EF4-FFF2-40B4-BE49-F238E27FC236}">
                <a16:creationId xmlns:a16="http://schemas.microsoft.com/office/drawing/2014/main" id="{32568B9A-B66C-8715-2AA8-B7A6A719E66D}"/>
              </a:ext>
            </a:extLst>
          </p:cNvPr>
          <p:cNvSpPr txBox="1"/>
          <p:nvPr/>
        </p:nvSpPr>
        <p:spPr>
          <a:xfrm>
            <a:off x="6118464" y="4507829"/>
            <a:ext cx="5570700" cy="27699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33350" tIns="0" rIns="0" bIns="0" anchor="t" anchorCtr="0">
            <a:spAutoFit/>
          </a:bodyPr>
          <a:lstStyle/>
          <a:p>
            <a:r>
              <a:rPr lang="en-US" sz="1800">
                <a:solidFill>
                  <a:srgbClr val="D97706"/>
                </a:solidFill>
                <a:latin typeface="Poppins SemiBold"/>
                <a:cs typeface="Poppins SemiBold"/>
                <a:sym typeface="Poppins SemiBold"/>
              </a:rPr>
              <a:t>Growth Strategy</a:t>
            </a:r>
            <a:endParaRPr sz="2800"/>
          </a:p>
        </p:txBody>
      </p:sp>
      <p:sp>
        <p:nvSpPr>
          <p:cNvPr id="13" name="Google Shape;219;p16">
            <a:extLst>
              <a:ext uri="{FF2B5EF4-FFF2-40B4-BE49-F238E27FC236}">
                <a16:creationId xmlns:a16="http://schemas.microsoft.com/office/drawing/2014/main" id="{904BE511-4F0C-155E-12F1-B197C1B55E0D}"/>
              </a:ext>
            </a:extLst>
          </p:cNvPr>
          <p:cNvSpPr txBox="1"/>
          <p:nvPr/>
        </p:nvSpPr>
        <p:spPr>
          <a:xfrm>
            <a:off x="6276615" y="4836890"/>
            <a:ext cx="5305500" cy="9371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>
              <a:lnSpc>
                <a:spcPct val="145000"/>
              </a:lnSpc>
            </a:pPr>
            <a:r>
              <a:rPr lang="en-US">
                <a:solidFill>
                  <a:srgbClr val="475569"/>
                </a:solidFill>
                <a:latin typeface="Inter"/>
                <a:ea typeface="Inter"/>
                <a:cs typeface="Calibri"/>
                <a:sym typeface="Inter"/>
              </a:rPr>
              <a:t>Deploy Friday afternoon WhatsApp/SMS teasers, host "Weekend Styling Pop-ups", and award 2x Gold Loyalty Points on Sat/Sun </a:t>
            </a:r>
            <a:r>
              <a:rPr lang="en-US" b="0" i="0" u="none" strike="noStrike" cap="none">
                <a:solidFill>
                  <a:srgbClr val="475569"/>
                </a:solidFill>
                <a:latin typeface="Inter"/>
                <a:ea typeface="Inter"/>
                <a:cs typeface="Calibri"/>
                <a:sym typeface="Inter"/>
              </a:rPr>
              <a:t>to </a:t>
            </a:r>
            <a:r>
              <a:rPr lang="en-US">
                <a:solidFill>
                  <a:srgbClr val="475569"/>
                </a:solidFill>
                <a:latin typeface="Inter"/>
                <a:ea typeface="Inter"/>
                <a:cs typeface="Calibri"/>
                <a:sym typeface="Inter"/>
              </a:rPr>
              <a:t>convert footfall into transactions</a:t>
            </a:r>
            <a:r>
              <a:rPr lang="en-US" b="0" i="0" u="none" strike="noStrike" cap="none">
                <a:solidFill>
                  <a:srgbClr val="475569"/>
                </a:solidFill>
                <a:latin typeface="Inter"/>
                <a:ea typeface="Inter"/>
                <a:cs typeface="Calibri"/>
                <a:sym typeface="Inter"/>
              </a:rPr>
              <a:t>.</a:t>
            </a:r>
            <a:endParaRPr lang="en-US">
              <a:solidFill>
                <a:srgbClr val="475569"/>
              </a:solidFill>
              <a:latin typeface="Inter"/>
              <a:ea typeface="Inter"/>
              <a:cs typeface="Calibri"/>
            </a:endParaRPr>
          </a:p>
        </p:txBody>
      </p:sp>
      <p:pic>
        <p:nvPicPr>
          <p:cNvPr id="3" name="Google Shape;240;p17" descr="image.png">
            <a:extLst>
              <a:ext uri="{FF2B5EF4-FFF2-40B4-BE49-F238E27FC236}">
                <a16:creationId xmlns:a16="http://schemas.microsoft.com/office/drawing/2014/main" id="{0C77A56D-CF99-5A23-6CEA-306A06F579F0}"/>
              </a:ext>
            </a:extLst>
          </p:cNvPr>
          <p:cNvPicPr preferRelativeResize="0"/>
          <p:nvPr/>
        </p:nvPicPr>
        <p:blipFill rotWithShape="1">
          <a:blip r:embed="rId7">
            <a:alphaModFix/>
          </a:blip>
          <a:srcRect/>
          <a:stretch/>
        </p:blipFill>
        <p:spPr>
          <a:xfrm>
            <a:off x="428625" y="379065"/>
            <a:ext cx="223837" cy="228600"/>
          </a:xfrm>
          <a:prstGeom prst="rect">
            <a:avLst/>
          </a:prstGeom>
          <a:noFill/>
          <a:ln>
            <a:noFill/>
          </a:ln>
        </p:spPr>
      </p:pic>
      <p:sp>
        <p:nvSpPr>
          <p:cNvPr id="5" name="Google Shape;237;p17">
            <a:extLst>
              <a:ext uri="{FF2B5EF4-FFF2-40B4-BE49-F238E27FC236}">
                <a16:creationId xmlns:a16="http://schemas.microsoft.com/office/drawing/2014/main" id="{94C3DF9A-D499-D4F3-F606-E04A0836B41D}"/>
              </a:ext>
            </a:extLst>
          </p:cNvPr>
          <p:cNvSpPr txBox="1"/>
          <p:nvPr/>
        </p:nvSpPr>
        <p:spPr>
          <a:xfrm>
            <a:off x="428625" y="681930"/>
            <a:ext cx="11334750" cy="2154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r>
              <a:rPr lang="en-US" b="0" i="0" u="none" strike="noStrike" cap="none">
                <a:solidFill>
                  <a:srgbClr val="64748B"/>
                </a:solidFill>
                <a:latin typeface="Inter"/>
                <a:ea typeface="Inter"/>
                <a:cs typeface="Inter"/>
                <a:sym typeface="Inter"/>
              </a:rPr>
              <a:t>Quantifying weekend performance gap</a:t>
            </a:r>
            <a:r>
              <a:rPr lang="en-US">
                <a:solidFill>
                  <a:srgbClr val="64748B"/>
                </a:solidFill>
                <a:latin typeface="Inter"/>
                <a:ea typeface="Inter"/>
                <a:cs typeface="Inter"/>
                <a:sym typeface="Inter"/>
              </a:rPr>
              <a:t> and</a:t>
            </a:r>
            <a:r>
              <a:rPr lang="en-US" b="0" i="0" u="none" strike="noStrike" cap="none">
                <a:solidFill>
                  <a:srgbClr val="64748B"/>
                </a:solidFill>
                <a:latin typeface="Inter"/>
                <a:ea typeface="Inter"/>
                <a:cs typeface="Inter"/>
                <a:sym typeface="Inter"/>
              </a:rPr>
              <a:t> analyzing root drivers</a:t>
            </a:r>
            <a:endParaRPr lang="en-US">
              <a:solidFill>
                <a:srgbClr val="64748B"/>
              </a:solidFill>
              <a:latin typeface="Inter"/>
              <a:ea typeface="Inter"/>
            </a:endParaRPr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294EDFA9-0781-681C-CAB3-5F2ED33EE881}"/>
              </a:ext>
            </a:extLst>
          </p:cNvPr>
          <p:cNvSpPr/>
          <p:nvPr/>
        </p:nvSpPr>
        <p:spPr>
          <a:xfrm>
            <a:off x="318654" y="1276186"/>
            <a:ext cx="2462710" cy="2382981"/>
          </a:xfrm>
          <a:prstGeom prst="rect">
            <a:avLst/>
          </a:prstGeom>
          <a:solidFill>
            <a:srgbClr val="F8FAFC"/>
          </a:solidFill>
          <a:ln>
            <a:noFill/>
            <a:prstDash val="dash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CAEAD35F-FFEE-8D50-8FFD-D75F078D6ABA}"/>
              </a:ext>
            </a:extLst>
          </p:cNvPr>
          <p:cNvSpPr/>
          <p:nvPr/>
        </p:nvSpPr>
        <p:spPr>
          <a:xfrm>
            <a:off x="3481673" y="1276185"/>
            <a:ext cx="2462710" cy="2382981"/>
          </a:xfrm>
          <a:prstGeom prst="rect">
            <a:avLst/>
          </a:prstGeom>
          <a:solidFill>
            <a:srgbClr val="F8FAFC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8" name="Google Shape;244;p17">
            <a:extLst>
              <a:ext uri="{FF2B5EF4-FFF2-40B4-BE49-F238E27FC236}">
                <a16:creationId xmlns:a16="http://schemas.microsoft.com/office/drawing/2014/main" id="{DF3825B7-072A-BFD6-32D0-A1698FC8DC2D}"/>
              </a:ext>
            </a:extLst>
          </p:cNvPr>
          <p:cNvSpPr txBox="1"/>
          <p:nvPr/>
        </p:nvSpPr>
        <p:spPr>
          <a:xfrm>
            <a:off x="323245" y="1350359"/>
            <a:ext cx="2449545" cy="27699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spAutoFit/>
          </a:bodyPr>
          <a:lstStyle/>
          <a:p>
            <a:pPr algn="ctr"/>
            <a:r>
              <a:rPr lang="en-US" sz="1800">
                <a:solidFill>
                  <a:srgbClr val="4F81BD"/>
                </a:solidFill>
                <a:latin typeface="Poppins SemiBold"/>
                <a:ea typeface="Inter SemiBold"/>
                <a:cs typeface="Poppins SemiBold"/>
                <a:sym typeface="Inter SemiBold"/>
              </a:rPr>
              <a:t>WEEKDAY</a:t>
            </a:r>
            <a:endParaRPr lang="en-US" sz="1800">
              <a:solidFill>
                <a:srgbClr val="4F81BD"/>
              </a:solidFill>
              <a:latin typeface="Poppins SemiBold"/>
              <a:ea typeface="Inter SemiBold"/>
              <a:cs typeface="Poppins SemiBold"/>
            </a:endParaRPr>
          </a:p>
        </p:txBody>
      </p:sp>
      <p:sp>
        <p:nvSpPr>
          <p:cNvPr id="20" name="Google Shape;245;p17">
            <a:extLst>
              <a:ext uri="{FF2B5EF4-FFF2-40B4-BE49-F238E27FC236}">
                <a16:creationId xmlns:a16="http://schemas.microsoft.com/office/drawing/2014/main" id="{2D3C1795-DB72-222F-32DE-A18D91EDB93A}"/>
              </a:ext>
            </a:extLst>
          </p:cNvPr>
          <p:cNvSpPr txBox="1"/>
          <p:nvPr/>
        </p:nvSpPr>
        <p:spPr>
          <a:xfrm>
            <a:off x="538906" y="1636767"/>
            <a:ext cx="2233884" cy="108337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algn="ctr">
              <a:lnSpc>
                <a:spcPct val="109939"/>
              </a:lnSpc>
            </a:pPr>
            <a:r>
              <a:rPr lang="en-US" sz="2400" b="0" i="0" u="none" strike="noStrike" cap="none">
                <a:solidFill>
                  <a:srgbClr val="4F81BD"/>
                </a:solidFill>
                <a:latin typeface="Poppins ExtraBold"/>
                <a:ea typeface="Poppins ExtraBold"/>
                <a:cs typeface="Poppins ExtraBold"/>
                <a:sym typeface="Poppins ExtraBold"/>
              </a:rPr>
              <a:t>₹</a:t>
            </a:r>
            <a:r>
              <a:rPr lang="en-US" sz="2400">
                <a:solidFill>
                  <a:srgbClr val="4F81BD"/>
                </a:solidFill>
                <a:latin typeface="Poppins ExtraBold"/>
                <a:ea typeface="Poppins ExtraBold"/>
                <a:cs typeface="Poppins ExtraBold"/>
                <a:sym typeface="Poppins ExtraBold"/>
              </a:rPr>
              <a:t>126.89M</a:t>
            </a:r>
            <a:endParaRPr lang="en-US">
              <a:solidFill>
                <a:srgbClr val="4F81BD"/>
              </a:solidFill>
            </a:endParaRPr>
          </a:p>
          <a:p>
            <a:pPr algn="ctr"/>
            <a:r>
              <a:rPr lang="en-US" sz="1100">
                <a:solidFill>
                  <a:srgbClr val="4F81BD"/>
                </a:solidFill>
                <a:latin typeface="Poppins ExtraBold"/>
                <a:cs typeface="Poppins ExtraBold"/>
                <a:sym typeface="Poppins ExtraBold"/>
              </a:rPr>
              <a:t>Net Revenue</a:t>
            </a:r>
            <a:endParaRPr lang="en-US" sz="1100">
              <a:solidFill>
                <a:srgbClr val="4F81BD"/>
              </a:solidFill>
              <a:latin typeface="Poppins ExtraBold"/>
              <a:cs typeface="Poppins ExtraBold"/>
            </a:endParaRPr>
          </a:p>
          <a:p>
            <a:pPr algn="ctr"/>
            <a:endParaRPr lang="en-US" sz="1100">
              <a:solidFill>
                <a:srgbClr val="4F81BD"/>
              </a:solidFill>
              <a:latin typeface="Poppins ExtraBold"/>
              <a:ea typeface="Inter SemiBold"/>
              <a:cs typeface="Poppins ExtraBold"/>
            </a:endParaRPr>
          </a:p>
          <a:p>
            <a:pPr algn="ctr"/>
            <a:r>
              <a:rPr lang="en-US" sz="1100">
                <a:solidFill>
                  <a:srgbClr val="64748B"/>
                </a:solidFill>
                <a:latin typeface="Poppins SemiBold"/>
                <a:ea typeface="Inter SemiBold"/>
                <a:cs typeface="Poppins SemiBold"/>
              </a:rPr>
              <a:t>65.8% Revenue Share</a:t>
            </a:r>
            <a:endParaRPr lang="en-US" sz="1100">
              <a:latin typeface="Poppins SemiBold"/>
              <a:ea typeface="Inter SemiBold"/>
              <a:cs typeface="Poppins SemiBold"/>
            </a:endParaRPr>
          </a:p>
          <a:p>
            <a:pPr algn="ctr"/>
            <a:endParaRPr lang="en-US" sz="1100">
              <a:solidFill>
                <a:srgbClr val="0F172A"/>
              </a:solidFill>
              <a:latin typeface="Poppins ExtraBold"/>
              <a:cs typeface="Poppins ExtraBold"/>
            </a:endParaRPr>
          </a:p>
        </p:txBody>
      </p:sp>
      <p:sp>
        <p:nvSpPr>
          <p:cNvPr id="26" name="Google Shape;247;p17">
            <a:extLst>
              <a:ext uri="{FF2B5EF4-FFF2-40B4-BE49-F238E27FC236}">
                <a16:creationId xmlns:a16="http://schemas.microsoft.com/office/drawing/2014/main" id="{1B43E519-EF47-2BF4-218A-F6A8841C07B7}"/>
              </a:ext>
            </a:extLst>
          </p:cNvPr>
          <p:cNvSpPr txBox="1"/>
          <p:nvPr/>
        </p:nvSpPr>
        <p:spPr>
          <a:xfrm>
            <a:off x="3553183" y="1352895"/>
            <a:ext cx="2449545" cy="27699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spAutoFit/>
          </a:bodyPr>
          <a:lstStyle/>
          <a:p>
            <a:pPr marL="0" lvl="0" indent="0" algn="ctr">
              <a:buFont typeface="Arial"/>
              <a:buNone/>
            </a:pPr>
            <a:r>
              <a:rPr lang="en-US" sz="1800">
                <a:solidFill>
                  <a:srgbClr val="F59E0B"/>
                </a:solidFill>
                <a:latin typeface="Poppins SemiBold"/>
                <a:ea typeface="Inter SemiBold"/>
                <a:cs typeface="Poppins SemiBold"/>
                <a:sym typeface="Inter SemiBold"/>
              </a:rPr>
              <a:t>WEEKEND</a:t>
            </a:r>
            <a:endParaRPr lang="en-US" sz="1800">
              <a:solidFill>
                <a:srgbClr val="F59E0B"/>
              </a:solidFill>
              <a:latin typeface="Poppins SemiBold"/>
              <a:ea typeface="Inter SemiBold"/>
              <a:cs typeface="Poppins SemiBold"/>
            </a:endParaRPr>
          </a:p>
        </p:txBody>
      </p:sp>
      <p:sp>
        <p:nvSpPr>
          <p:cNvPr id="28" name="Google Shape;248;p17">
            <a:extLst>
              <a:ext uri="{FF2B5EF4-FFF2-40B4-BE49-F238E27FC236}">
                <a16:creationId xmlns:a16="http://schemas.microsoft.com/office/drawing/2014/main" id="{4CE7CE59-518E-7ADE-073C-08B5E8065AB8}"/>
              </a:ext>
            </a:extLst>
          </p:cNvPr>
          <p:cNvSpPr txBox="1"/>
          <p:nvPr/>
        </p:nvSpPr>
        <p:spPr>
          <a:xfrm>
            <a:off x="3481298" y="1632116"/>
            <a:ext cx="2449543" cy="108337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lnSpc>
                <a:spcPct val="109939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400" b="0" i="0" u="none" strike="noStrike" cap="none">
                <a:solidFill>
                  <a:srgbClr val="F59E0B"/>
                </a:solidFill>
                <a:latin typeface="Poppins ExtraBold"/>
                <a:ea typeface="Poppins ExtraBold"/>
                <a:cs typeface="Poppins ExtraBold"/>
                <a:sym typeface="Poppins ExtraBold"/>
              </a:rPr>
              <a:t>₹</a:t>
            </a:r>
            <a:r>
              <a:rPr lang="en-US" sz="2400">
                <a:solidFill>
                  <a:srgbClr val="F59E0B"/>
                </a:solidFill>
                <a:latin typeface="Poppins ExtraBold"/>
                <a:ea typeface="Poppins ExtraBold"/>
                <a:cs typeface="Poppins ExtraBold"/>
                <a:sym typeface="Poppins ExtraBold"/>
              </a:rPr>
              <a:t>66.09M</a:t>
            </a:r>
            <a:endParaRPr lang="en-US" sz="2400">
              <a:solidFill>
                <a:srgbClr val="F59E0B"/>
              </a:solidFill>
              <a:latin typeface="Poppins ExtraBold"/>
              <a:ea typeface="Poppins ExtraBold"/>
              <a:cs typeface="Poppins ExtraBold"/>
            </a:endParaRPr>
          </a:p>
          <a:p>
            <a:pPr algn="ctr"/>
            <a:r>
              <a:rPr lang="en-US" sz="1100">
                <a:solidFill>
                  <a:srgbClr val="F59E0B"/>
                </a:solidFill>
                <a:latin typeface="Poppins ExtraBold"/>
                <a:cs typeface="Poppins ExtraBold"/>
              </a:rPr>
              <a:t>Net Revenue</a:t>
            </a:r>
          </a:p>
          <a:p>
            <a:pPr algn="ctr"/>
            <a:endParaRPr lang="en-US" sz="1100">
              <a:solidFill>
                <a:srgbClr val="F59E0B"/>
              </a:solidFill>
              <a:latin typeface="Poppins ExtraBold"/>
              <a:cs typeface="Poppins ExtraBold"/>
            </a:endParaRPr>
          </a:p>
          <a:p>
            <a:pPr algn="ctr"/>
            <a:r>
              <a:rPr lang="en-US" sz="1100">
                <a:solidFill>
                  <a:srgbClr val="64748B"/>
                </a:solidFill>
                <a:latin typeface="Poppins SemiBold"/>
                <a:cs typeface="Poppins SemiBold"/>
              </a:rPr>
              <a:t>34.2% Revenue Share</a:t>
            </a:r>
            <a:endParaRPr lang="en-US" sz="1100">
              <a:latin typeface="Poppins SemiBold"/>
              <a:cs typeface="Poppins SemiBold"/>
            </a:endParaRPr>
          </a:p>
          <a:p>
            <a:pPr algn="ctr"/>
            <a:endParaRPr lang="en-US" sz="1100">
              <a:solidFill>
                <a:srgbClr val="F59E0B"/>
              </a:solidFill>
              <a:latin typeface="Poppins ExtraBold"/>
              <a:cs typeface="Poppins ExtraBold"/>
            </a:endParaRPr>
          </a:p>
        </p:txBody>
      </p:sp>
      <p:pic>
        <p:nvPicPr>
          <p:cNvPr id="4" name="Picture 3" descr="image.png">
            <a:extLst>
              <a:ext uri="{FF2B5EF4-FFF2-40B4-BE49-F238E27FC236}">
                <a16:creationId xmlns:a16="http://schemas.microsoft.com/office/drawing/2014/main" id="{9116800C-FD7D-A483-B635-96AC1A99DF80}"/>
              </a:ext>
            </a:extLst>
          </p:cNvPr>
          <p:cNvPicPr>
            <a:picLocks noChangeAspect="1"/>
          </p:cNvPicPr>
          <p:nvPr/>
        </p:nvPicPr>
        <p:blipFill>
          <a:blip r:embed="rId8"/>
          <a:srcRect l="3509" t="65114" r="3372" b="19156"/>
          <a:stretch>
            <a:fillRect/>
          </a:stretch>
        </p:blipFill>
        <p:spPr>
          <a:xfrm>
            <a:off x="1433719" y="3655760"/>
            <a:ext cx="3704274" cy="2299410"/>
          </a:xfrm>
          <a:prstGeom prst="rect">
            <a:avLst/>
          </a:prstGeom>
        </p:spPr>
      </p:pic>
      <p:sp>
        <p:nvSpPr>
          <p:cNvPr id="6" name="Google Shape;247;p17">
            <a:extLst>
              <a:ext uri="{FF2B5EF4-FFF2-40B4-BE49-F238E27FC236}">
                <a16:creationId xmlns:a16="http://schemas.microsoft.com/office/drawing/2014/main" id="{3F85BFCB-31D8-F669-DD64-E8346DF0DA04}"/>
              </a:ext>
            </a:extLst>
          </p:cNvPr>
          <p:cNvSpPr txBox="1"/>
          <p:nvPr/>
        </p:nvSpPr>
        <p:spPr>
          <a:xfrm>
            <a:off x="1295937" y="3859829"/>
            <a:ext cx="3815393" cy="55399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spAutoFit/>
          </a:bodyPr>
          <a:lstStyle/>
          <a:p>
            <a:pPr algn="ctr"/>
            <a:r>
              <a:rPr lang="en-US" sz="1800">
                <a:solidFill>
                  <a:srgbClr val="F59E0B"/>
                </a:solidFill>
                <a:latin typeface="Poppins SemiBold"/>
                <a:ea typeface="Inter SemiBold"/>
                <a:cs typeface="Poppins SemiBold"/>
                <a:sym typeface="Inter SemiBold"/>
              </a:rPr>
              <a:t>KEY PERFORMANCE DRIVERS &amp; VARIANCE</a:t>
            </a:r>
            <a:endParaRPr lang="en-US" sz="1800">
              <a:solidFill>
                <a:srgbClr val="F59E0B"/>
              </a:solidFill>
              <a:latin typeface="Poppins SemiBold"/>
              <a:ea typeface="Inter SemiBold"/>
              <a:cs typeface="Poppins SemiBold"/>
            </a:endParaRPr>
          </a:p>
        </p:txBody>
      </p:sp>
      <p:graphicFrame>
        <p:nvGraphicFramePr>
          <p:cNvPr id="8" name="Table 7">
            <a:extLst>
              <a:ext uri="{FF2B5EF4-FFF2-40B4-BE49-F238E27FC236}">
                <a16:creationId xmlns:a16="http://schemas.microsoft.com/office/drawing/2014/main" id="{D40FA857-490D-2388-2914-773922F87CE2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4218263831"/>
              </p:ext>
            </p:extLst>
          </p:nvPr>
        </p:nvGraphicFramePr>
        <p:xfrm>
          <a:off x="1437736" y="4485735"/>
          <a:ext cx="3696510" cy="1350229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885872">
                  <a:extLst>
                    <a:ext uri="{9D8B030D-6E8A-4147-A177-3AD203B41FA5}">
                      <a16:colId xmlns:a16="http://schemas.microsoft.com/office/drawing/2014/main" val="1075483392"/>
                    </a:ext>
                  </a:extLst>
                </a:gridCol>
                <a:gridCol w="810638">
                  <a:extLst>
                    <a:ext uri="{9D8B030D-6E8A-4147-A177-3AD203B41FA5}">
                      <a16:colId xmlns:a16="http://schemas.microsoft.com/office/drawing/2014/main" val="3735018862"/>
                    </a:ext>
                  </a:extLst>
                </a:gridCol>
              </a:tblGrid>
              <a:tr h="337557">
                <a:tc>
                  <a:txBody>
                    <a:bodyPr/>
                    <a:lstStyle/>
                    <a:p>
                      <a:pPr lvl="0">
                        <a:buNone/>
                      </a:pPr>
                      <a:r>
                        <a:rPr lang="en-US" sz="1000" b="1" i="0" u="none" strike="noStrike" baseline="0" noProof="0">
                          <a:solidFill>
                            <a:srgbClr val="FFFFFF"/>
                          </a:solidFill>
                          <a:latin typeface="Arial"/>
                          <a:ea typeface="Inter"/>
                          <a:cs typeface="Arial"/>
                        </a:rPr>
                        <a:t>Average Order Value (AOV):</a:t>
                      </a:r>
                      <a:endParaRPr lang="en-US" sz="1000"/>
                    </a:p>
                  </a:txBody>
                  <a:tcPr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0"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R="0" lvl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buNone/>
                      </a:pPr>
                      <a:r>
                        <a:rPr lang="en-US" sz="1000" b="1" i="0" u="none" strike="noStrike" cap="none" baseline="0" noProof="0">
                          <a:solidFill>
                            <a:srgbClr val="FFFFFF"/>
                          </a:solidFill>
                          <a:latin typeface="Arial"/>
                          <a:ea typeface="Inter"/>
                          <a:cs typeface="Arial"/>
                          <a:sym typeface="Arial"/>
                        </a:rPr>
                        <a:t>+27% ▲</a:t>
                      </a:r>
                      <a:endParaRPr lang="en-US" sz="1000" b="1" i="0" u="none" strike="noStrike" cap="none" baseline="0">
                        <a:solidFill>
                          <a:srgbClr val="FFFFFF"/>
                        </a:solidFill>
                        <a:latin typeface="Arial"/>
                        <a:ea typeface="Inter"/>
                        <a:cs typeface="Arial"/>
                        <a:sym typeface="Arial"/>
                      </a:endParaRPr>
                    </a:p>
                  </a:txBody>
                  <a:tcPr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0"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681745542"/>
                  </a:ext>
                </a:extLst>
              </a:tr>
              <a:tr h="337557">
                <a:tc>
                  <a:txBody>
                    <a:bodyPr/>
                    <a:lstStyle/>
                    <a:p>
                      <a:pPr marR="0" lvl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buNone/>
                      </a:pPr>
                      <a:r>
                        <a:rPr lang="en-US" sz="1000" b="1" i="0" u="none" strike="noStrike" cap="none" baseline="0">
                          <a:solidFill>
                            <a:srgbClr val="FFFFFF"/>
                          </a:solidFill>
                          <a:latin typeface="Arial"/>
                          <a:ea typeface="Inter"/>
                          <a:cs typeface="Arial"/>
                          <a:sym typeface="Arial"/>
                        </a:rPr>
                        <a:t>Transactions (Orders):</a:t>
                      </a:r>
                    </a:p>
                  </a:txBody>
                  <a:tcPr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0"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R="0" lvl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buNone/>
                      </a:pPr>
                      <a:r>
                        <a:rPr lang="en-US" sz="1000" b="1" i="0" u="none" strike="noStrike" cap="none" baseline="0" noProof="0">
                          <a:solidFill>
                            <a:srgbClr val="FFFFFF"/>
                          </a:solidFill>
                          <a:latin typeface="Arial"/>
                          <a:ea typeface="Inter"/>
                          <a:cs typeface="Arial"/>
                          <a:sym typeface="Arial"/>
                        </a:rPr>
                        <a:t>-59% ▼</a:t>
                      </a:r>
                      <a:endParaRPr lang="en-US" sz="1000" b="1" i="0" u="none" strike="noStrike" cap="none" baseline="0">
                        <a:solidFill>
                          <a:srgbClr val="FFFFFF"/>
                        </a:solidFill>
                        <a:latin typeface="Arial"/>
                        <a:ea typeface="Inter"/>
                        <a:cs typeface="Arial"/>
                        <a:sym typeface="Arial"/>
                      </a:endParaRPr>
                    </a:p>
                  </a:txBody>
                  <a:tcPr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0"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77681060"/>
                  </a:ext>
                </a:extLst>
              </a:tr>
              <a:tr h="323493">
                <a:tc>
                  <a:txBody>
                    <a:bodyPr/>
                    <a:lstStyle/>
                    <a:p>
                      <a:pPr marR="0" lvl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buNone/>
                      </a:pPr>
                      <a:r>
                        <a:rPr lang="en-US" sz="1000" b="1" i="0" u="none" strike="noStrike" cap="none" baseline="0">
                          <a:solidFill>
                            <a:srgbClr val="FFFFFF"/>
                          </a:solidFill>
                          <a:latin typeface="Arial"/>
                          <a:ea typeface="Inter"/>
                          <a:cs typeface="Arial"/>
                          <a:sym typeface="Arial"/>
                        </a:rPr>
                        <a:t>Revenue:</a:t>
                      </a:r>
                    </a:p>
                  </a:txBody>
                  <a:tcPr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0"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R="0" lvl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buNone/>
                      </a:pPr>
                      <a:r>
                        <a:rPr lang="en-US" sz="1000" b="1" i="0" u="none" strike="noStrike" cap="none" baseline="0" noProof="0">
                          <a:solidFill>
                            <a:srgbClr val="FFFFFF"/>
                          </a:solidFill>
                          <a:latin typeface="Arial"/>
                          <a:ea typeface="Inter"/>
                          <a:cs typeface="Arial"/>
                          <a:sym typeface="Arial"/>
                        </a:rPr>
                        <a:t>-48% ▼</a:t>
                      </a:r>
                      <a:endParaRPr lang="en-US" sz="1000" b="1" i="0" u="none" strike="noStrike" cap="none" baseline="0">
                        <a:solidFill>
                          <a:srgbClr val="FFFFFF"/>
                        </a:solidFill>
                        <a:latin typeface="Arial"/>
                        <a:ea typeface="Inter"/>
                        <a:cs typeface="Arial"/>
                        <a:sym typeface="Arial"/>
                      </a:endParaRPr>
                    </a:p>
                  </a:txBody>
                  <a:tcPr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0"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931637178"/>
                  </a:ext>
                </a:extLst>
              </a:tr>
              <a:tr h="351622">
                <a:tc>
                  <a:txBody>
                    <a:bodyPr/>
                    <a:lstStyle/>
                    <a:p>
                      <a:pPr marR="0" lvl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buNone/>
                      </a:pPr>
                      <a:r>
                        <a:rPr lang="en-US" sz="1000" b="1" i="0" u="none" strike="noStrike" cap="none" baseline="0" noProof="0">
                          <a:solidFill>
                            <a:srgbClr val="FFFFFF"/>
                          </a:solidFill>
                          <a:latin typeface="Arial"/>
                          <a:ea typeface="Inter"/>
                          <a:cs typeface="Arial"/>
                          <a:sym typeface="Arial"/>
                        </a:rPr>
                        <a:t>Weekend-to-Weekday Revenue Gap Ratio:</a:t>
                      </a:r>
                      <a:endParaRPr lang="en-US" sz="1000" b="1" i="0" u="none" strike="noStrike" cap="none" baseline="0">
                        <a:solidFill>
                          <a:srgbClr val="FFFFFF"/>
                        </a:solidFill>
                        <a:latin typeface="Arial"/>
                        <a:ea typeface="Inter"/>
                        <a:cs typeface="Arial"/>
                        <a:sym typeface="Arial"/>
                      </a:endParaRPr>
                    </a:p>
                  </a:txBody>
                  <a:tcPr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0"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R="0" lvl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buNone/>
                      </a:pPr>
                      <a:r>
                        <a:rPr lang="en-US" sz="1000" b="1" i="0" u="none" strike="noStrike" cap="none" baseline="0">
                          <a:solidFill>
                            <a:srgbClr val="FFFFFF"/>
                          </a:solidFill>
                          <a:latin typeface="Arial"/>
                          <a:ea typeface="Inter"/>
                          <a:cs typeface="Arial"/>
                          <a:sym typeface="Arial"/>
                        </a:rPr>
                        <a:t>52.1%</a:t>
                      </a:r>
                    </a:p>
                  </a:txBody>
                  <a:tcPr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0"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129350954"/>
                  </a:ext>
                </a:extLst>
              </a:tr>
            </a:tbl>
          </a:graphicData>
        </a:graphic>
      </p:graphicFrame>
      <p:graphicFrame>
        <p:nvGraphicFramePr>
          <p:cNvPr id="9" name="Table 8">
            <a:extLst>
              <a:ext uri="{FF2B5EF4-FFF2-40B4-BE49-F238E27FC236}">
                <a16:creationId xmlns:a16="http://schemas.microsoft.com/office/drawing/2014/main" id="{F3383E46-60A4-F6E2-7837-F2D39D413C58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452592141"/>
              </p:ext>
            </p:extLst>
          </p:nvPr>
        </p:nvGraphicFramePr>
        <p:xfrm>
          <a:off x="388189" y="2631056"/>
          <a:ext cx="2541240" cy="976183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965247">
                  <a:extLst>
                    <a:ext uri="{9D8B030D-6E8A-4147-A177-3AD203B41FA5}">
                      <a16:colId xmlns:a16="http://schemas.microsoft.com/office/drawing/2014/main" val="1184541826"/>
                    </a:ext>
                  </a:extLst>
                </a:gridCol>
                <a:gridCol w="1575993">
                  <a:extLst>
                    <a:ext uri="{9D8B030D-6E8A-4147-A177-3AD203B41FA5}">
                      <a16:colId xmlns:a16="http://schemas.microsoft.com/office/drawing/2014/main" val="2421507631"/>
                    </a:ext>
                  </a:extLst>
                </a:gridCol>
              </a:tblGrid>
              <a:tr h="206236">
                <a:tc>
                  <a:txBody>
                    <a:bodyPr/>
                    <a:lstStyle/>
                    <a:p>
                      <a:pPr marR="0" algn="l" rtl="0">
                        <a:lnSpc>
                          <a:spcPct val="14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</a:pPr>
                      <a:r>
                        <a:rPr lang="en-US" sz="1000" b="0" i="0" u="none" strike="noStrike" cap="none">
                          <a:solidFill>
                            <a:srgbClr val="475569"/>
                          </a:solidFill>
                          <a:latin typeface="Inter"/>
                          <a:ea typeface="Inter"/>
                          <a:cs typeface="Calibri"/>
                          <a:sym typeface="Arial"/>
                        </a:rPr>
                        <a:t>Net Profit</a:t>
                      </a:r>
                      <a:r>
                        <a:rPr lang="en-US" sz="1000" b="0" i="0" u="none" strike="noStrike" cap="none">
                          <a:solidFill>
                            <a:srgbClr val="475569"/>
                          </a:solidFill>
                          <a:latin typeface="Inter"/>
                          <a:ea typeface="Inter"/>
                          <a:cs typeface="Calibri"/>
                        </a:rPr>
                        <a:t>:</a:t>
                      </a:r>
                      <a:endParaRPr lang="en-US" sz="1000" b="0" i="0" u="none" strike="noStrike" cap="none">
                        <a:solidFill>
                          <a:srgbClr val="475569"/>
                        </a:solidFill>
                        <a:latin typeface="Inter"/>
                        <a:ea typeface="Inter"/>
                        <a:cs typeface="Calibri"/>
                        <a:sym typeface="Arial"/>
                      </a:endParaRPr>
                    </a:p>
                  </a:txBody>
                  <a:tcPr marL="0" marR="0" marT="0" marB="0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0"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R="0" lvl="0" algn="l" rtl="0">
                        <a:lnSpc>
                          <a:spcPct val="14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buNone/>
                      </a:pPr>
                      <a:r>
                        <a:rPr lang="en-US" sz="1000" b="0" i="0" u="none" strike="noStrike" cap="none" noProof="0">
                          <a:solidFill>
                            <a:srgbClr val="475569"/>
                          </a:solidFill>
                          <a:latin typeface="Inter"/>
                          <a:ea typeface="Inter"/>
                          <a:cs typeface="Calibri"/>
                          <a:sym typeface="Arial"/>
                        </a:rPr>
                        <a:t>₹91.93M </a:t>
                      </a:r>
                      <a:endParaRPr lang="en-US" sz="1000" b="0" i="0" u="none" strike="noStrike" cap="none">
                        <a:solidFill>
                          <a:srgbClr val="475569"/>
                        </a:solidFill>
                        <a:latin typeface="Inter"/>
                        <a:ea typeface="Inter"/>
                        <a:cs typeface="Calibri"/>
                        <a:sym typeface="Arial"/>
                      </a:endParaRPr>
                    </a:p>
                  </a:txBody>
                  <a:tcPr marL="0" marR="0" marT="0" marB="0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0"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605481978"/>
                  </a:ext>
                </a:extLst>
              </a:tr>
              <a:tr h="206236">
                <a:tc>
                  <a:txBody>
                    <a:bodyPr/>
                    <a:lstStyle/>
                    <a:p>
                      <a:pPr marR="0" algn="l" rtl="0">
                        <a:lnSpc>
                          <a:spcPct val="14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</a:pPr>
                      <a:r>
                        <a:rPr lang="en-US" sz="1000" b="0" i="0" u="none" strike="noStrike" cap="none">
                          <a:solidFill>
                            <a:srgbClr val="475569"/>
                          </a:solidFill>
                          <a:latin typeface="Inter"/>
                          <a:ea typeface="Inter"/>
                          <a:cs typeface="Calibri"/>
                          <a:sym typeface="Arial"/>
                        </a:rPr>
                        <a:t>AOV</a:t>
                      </a:r>
                      <a:r>
                        <a:rPr lang="en-US" sz="1000" b="0" i="0" u="none" strike="noStrike" cap="none">
                          <a:solidFill>
                            <a:srgbClr val="475569"/>
                          </a:solidFill>
                          <a:latin typeface="Inter"/>
                          <a:ea typeface="Inter"/>
                          <a:cs typeface="Calibri"/>
                        </a:rPr>
                        <a:t>:</a:t>
                      </a:r>
                      <a:endParaRPr lang="en-US" sz="1000" b="0" i="0" u="none" strike="noStrike" cap="none">
                        <a:solidFill>
                          <a:srgbClr val="475569"/>
                        </a:solidFill>
                        <a:latin typeface="Inter"/>
                        <a:ea typeface="Inter"/>
                        <a:cs typeface="Calibri"/>
                        <a:sym typeface="Arial"/>
                      </a:endParaRPr>
                    </a:p>
                  </a:txBody>
                  <a:tcPr marL="0" marR="0" marT="0" marB="0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0"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R="0" lvl="0" algn="l" rtl="0">
                        <a:lnSpc>
                          <a:spcPct val="14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buNone/>
                      </a:pPr>
                      <a:r>
                        <a:rPr lang="en-US" sz="1000" b="0" i="0" u="none" strike="noStrike" cap="none" noProof="0">
                          <a:solidFill>
                            <a:srgbClr val="475569"/>
                          </a:solidFill>
                          <a:latin typeface="Inter"/>
                          <a:ea typeface="Inter"/>
                          <a:cs typeface="Calibri"/>
                          <a:sym typeface="Arial"/>
                        </a:rPr>
                        <a:t>₹11,924.59 </a:t>
                      </a:r>
                      <a:endParaRPr lang="en-US" sz="1000" b="0" i="0" u="none" strike="noStrike" cap="none">
                        <a:solidFill>
                          <a:srgbClr val="475569"/>
                        </a:solidFill>
                        <a:latin typeface="Inter"/>
                        <a:ea typeface="Inter"/>
                        <a:cs typeface="Calibri"/>
                        <a:sym typeface="Arial"/>
                      </a:endParaRPr>
                    </a:p>
                  </a:txBody>
                  <a:tcPr marL="0" marR="0" marT="0" marB="0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0"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965142261"/>
                  </a:ext>
                </a:extLst>
              </a:tr>
              <a:tr h="206236">
                <a:tc>
                  <a:txBody>
                    <a:bodyPr/>
                    <a:lstStyle/>
                    <a:p>
                      <a:pPr marR="0" algn="l" rtl="0">
                        <a:lnSpc>
                          <a:spcPct val="14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</a:pPr>
                      <a:r>
                        <a:rPr lang="en-US" sz="1000" b="0" i="0" u="none" strike="noStrike" cap="none">
                          <a:solidFill>
                            <a:srgbClr val="475569"/>
                          </a:solidFill>
                          <a:latin typeface="Inter"/>
                          <a:ea typeface="Inter"/>
                          <a:cs typeface="Calibri"/>
                          <a:sym typeface="Arial"/>
                        </a:rPr>
                        <a:t>Units Sold</a:t>
                      </a:r>
                      <a:r>
                        <a:rPr lang="en-US" sz="1000" b="0" i="0" u="none" strike="noStrike" cap="none">
                          <a:solidFill>
                            <a:srgbClr val="475569"/>
                          </a:solidFill>
                          <a:latin typeface="Inter"/>
                          <a:ea typeface="Inter"/>
                          <a:cs typeface="Calibri"/>
                        </a:rPr>
                        <a:t>:</a:t>
                      </a:r>
                      <a:endParaRPr lang="en-US" sz="1000" b="0" i="0" u="none" strike="noStrike" cap="none">
                        <a:solidFill>
                          <a:srgbClr val="475569"/>
                        </a:solidFill>
                        <a:latin typeface="Inter"/>
                        <a:ea typeface="Inter"/>
                        <a:cs typeface="Calibri"/>
                        <a:sym typeface="Arial"/>
                      </a:endParaRPr>
                    </a:p>
                  </a:txBody>
                  <a:tcPr marL="0" marR="0" marT="0" marB="0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0"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R="0" lvl="0" algn="l" rtl="0">
                        <a:lnSpc>
                          <a:spcPct val="14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buNone/>
                      </a:pPr>
                      <a:r>
                        <a:rPr lang="en-US" sz="1000" b="0" i="0" u="none" strike="noStrike" cap="none" noProof="0">
                          <a:solidFill>
                            <a:srgbClr val="475569"/>
                          </a:solidFill>
                          <a:latin typeface="Inter"/>
                          <a:ea typeface="Inter"/>
                          <a:cs typeface="Calibri"/>
                          <a:sym typeface="Arial"/>
                        </a:rPr>
                        <a:t>34,167 Units</a:t>
                      </a:r>
                      <a:endParaRPr lang="en-US" sz="1000" b="0" i="0" u="none" strike="noStrike" cap="none">
                        <a:solidFill>
                          <a:srgbClr val="475569"/>
                        </a:solidFill>
                        <a:latin typeface="Inter"/>
                        <a:ea typeface="Inter"/>
                        <a:cs typeface="Calibri"/>
                        <a:sym typeface="Arial"/>
                      </a:endParaRPr>
                    </a:p>
                  </a:txBody>
                  <a:tcPr marL="0" marR="0" marT="0" marB="0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0"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091925074"/>
                  </a:ext>
                </a:extLst>
              </a:tr>
              <a:tr h="357475">
                <a:tc>
                  <a:txBody>
                    <a:bodyPr/>
                    <a:lstStyle/>
                    <a:p>
                      <a:pPr marR="0" algn="l" rtl="0">
                        <a:lnSpc>
                          <a:spcPct val="14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</a:pPr>
                      <a:r>
                        <a:rPr lang="en-US" sz="1000" b="0" i="0" u="none" strike="noStrike" cap="none">
                          <a:solidFill>
                            <a:srgbClr val="475569"/>
                          </a:solidFill>
                          <a:latin typeface="Inter"/>
                          <a:ea typeface="Inter"/>
                          <a:cs typeface="Calibri"/>
                          <a:sym typeface="Arial"/>
                        </a:rPr>
                        <a:t>Orders</a:t>
                      </a:r>
                      <a:r>
                        <a:rPr lang="en-US" sz="1000" b="0" i="0" u="none" strike="noStrike" cap="none">
                          <a:solidFill>
                            <a:srgbClr val="475569"/>
                          </a:solidFill>
                          <a:latin typeface="Inter"/>
                          <a:ea typeface="Inter"/>
                          <a:cs typeface="Calibri"/>
                        </a:rPr>
                        <a:t>:</a:t>
                      </a:r>
                      <a:endParaRPr lang="en-US" sz="1000" b="0" i="0" u="none" strike="noStrike" cap="none">
                        <a:solidFill>
                          <a:srgbClr val="475569"/>
                        </a:solidFill>
                        <a:latin typeface="Inter"/>
                        <a:ea typeface="Inter"/>
                        <a:cs typeface="Calibri"/>
                        <a:sym typeface="Arial"/>
                      </a:endParaRPr>
                    </a:p>
                  </a:txBody>
                  <a:tcPr marL="0" marR="0" marT="0" marB="0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0"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R="0" lvl="0" algn="l" rtl="0">
                        <a:lnSpc>
                          <a:spcPct val="14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buNone/>
                      </a:pPr>
                      <a:r>
                        <a:rPr lang="en-US" sz="1000" b="0" i="0" u="none" strike="noStrike" cap="none" noProof="0">
                          <a:solidFill>
                            <a:srgbClr val="475569"/>
                          </a:solidFill>
                          <a:latin typeface="Inter"/>
                          <a:ea typeface="Inter"/>
                          <a:cs typeface="Calibri"/>
                          <a:sym typeface="Arial"/>
                        </a:rPr>
                        <a:t>10,641 </a:t>
                      </a:r>
                      <a:r>
                        <a:rPr lang="en-US" sz="1000" b="0" i="0" u="none" strike="noStrike" cap="none" noProof="0">
                          <a:solidFill>
                            <a:srgbClr val="475569"/>
                          </a:solidFill>
                          <a:latin typeface="Inter"/>
                          <a:ea typeface="Inter"/>
                          <a:cs typeface="Calibri"/>
                        </a:rPr>
                        <a:t>Transactions</a:t>
                      </a:r>
                      <a:endParaRPr lang="en-US" sz="1000">
                        <a:sym typeface="Arial"/>
                      </a:endParaRPr>
                    </a:p>
                  </a:txBody>
                  <a:tcPr marL="0" marR="0" marT="0" marB="0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0"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21571610"/>
                  </a:ext>
                </a:extLst>
              </a:tr>
            </a:tbl>
          </a:graphicData>
        </a:graphic>
      </p:graphicFrame>
      <p:graphicFrame>
        <p:nvGraphicFramePr>
          <p:cNvPr id="19" name="Table 18">
            <a:extLst>
              <a:ext uri="{FF2B5EF4-FFF2-40B4-BE49-F238E27FC236}">
                <a16:creationId xmlns:a16="http://schemas.microsoft.com/office/drawing/2014/main" id="{FE6C397B-139F-652E-08CB-D75BD9DC6CE5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70804723"/>
              </p:ext>
            </p:extLst>
          </p:nvPr>
        </p:nvGraphicFramePr>
        <p:xfrm>
          <a:off x="3579962" y="2631056"/>
          <a:ext cx="2541240" cy="976183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965247">
                  <a:extLst>
                    <a:ext uri="{9D8B030D-6E8A-4147-A177-3AD203B41FA5}">
                      <a16:colId xmlns:a16="http://schemas.microsoft.com/office/drawing/2014/main" val="1184541826"/>
                    </a:ext>
                  </a:extLst>
                </a:gridCol>
                <a:gridCol w="1575993">
                  <a:extLst>
                    <a:ext uri="{9D8B030D-6E8A-4147-A177-3AD203B41FA5}">
                      <a16:colId xmlns:a16="http://schemas.microsoft.com/office/drawing/2014/main" val="2421507631"/>
                    </a:ext>
                  </a:extLst>
                </a:gridCol>
              </a:tblGrid>
              <a:tr h="206236">
                <a:tc>
                  <a:txBody>
                    <a:bodyPr/>
                    <a:lstStyle/>
                    <a:p>
                      <a:pPr marR="0" algn="l" rtl="0">
                        <a:lnSpc>
                          <a:spcPct val="14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</a:pPr>
                      <a:r>
                        <a:rPr lang="en-US" sz="1000" b="0" i="0" u="none" strike="noStrike" cap="none">
                          <a:solidFill>
                            <a:srgbClr val="475569"/>
                          </a:solidFill>
                          <a:latin typeface="Inter"/>
                          <a:ea typeface="Inter"/>
                          <a:cs typeface="Calibri"/>
                          <a:sym typeface="Arial"/>
                        </a:rPr>
                        <a:t>Net Profit</a:t>
                      </a:r>
                      <a:r>
                        <a:rPr lang="en-US" sz="1000" b="0" i="0" u="none" strike="noStrike" cap="none">
                          <a:solidFill>
                            <a:srgbClr val="475569"/>
                          </a:solidFill>
                          <a:latin typeface="Inter"/>
                          <a:ea typeface="Inter"/>
                          <a:cs typeface="Calibri"/>
                        </a:rPr>
                        <a:t>:</a:t>
                      </a:r>
                      <a:endParaRPr lang="en-US" sz="1000" b="0" i="0" u="none" strike="noStrike" cap="none">
                        <a:solidFill>
                          <a:srgbClr val="475569"/>
                        </a:solidFill>
                        <a:latin typeface="Inter"/>
                        <a:ea typeface="Inter"/>
                        <a:cs typeface="Calibri"/>
                        <a:sym typeface="Arial"/>
                      </a:endParaRPr>
                    </a:p>
                  </a:txBody>
                  <a:tcPr marL="0" marR="0" marT="0" marB="0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0"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R="0" lvl="0" algn="l" rtl="0">
                        <a:lnSpc>
                          <a:spcPct val="14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buNone/>
                      </a:pPr>
                      <a:r>
                        <a:rPr lang="en-US" sz="1000" b="0" i="0" u="none" strike="noStrike" cap="none" noProof="0">
                          <a:solidFill>
                            <a:srgbClr val="475569"/>
                          </a:solidFill>
                          <a:latin typeface="Inter"/>
                          <a:ea typeface="Inter"/>
                          <a:cs typeface="Calibri"/>
                          <a:sym typeface="Arial"/>
                        </a:rPr>
                        <a:t>₹</a:t>
                      </a:r>
                      <a:r>
                        <a:rPr lang="en-US" sz="1000" b="0" i="0" u="none" strike="noStrike" cap="none" noProof="0">
                          <a:solidFill>
                            <a:srgbClr val="475569"/>
                          </a:solidFill>
                          <a:latin typeface="Inter"/>
                          <a:ea typeface="Inter"/>
                          <a:cs typeface="Calibri"/>
                        </a:rPr>
                        <a:t>48.03M</a:t>
                      </a:r>
                      <a:r>
                        <a:rPr lang="en-US" sz="1000" b="0" i="0" u="none" strike="noStrike" cap="none" noProof="0">
                          <a:solidFill>
                            <a:srgbClr val="475569"/>
                          </a:solidFill>
                          <a:latin typeface="Inter"/>
                          <a:ea typeface="Inter"/>
                          <a:cs typeface="Calibri"/>
                          <a:sym typeface="Arial"/>
                        </a:rPr>
                        <a:t> </a:t>
                      </a:r>
                      <a:endParaRPr lang="en-US" sz="1000" b="0" i="0" u="none" strike="noStrike" cap="none">
                        <a:solidFill>
                          <a:srgbClr val="475569"/>
                        </a:solidFill>
                        <a:latin typeface="Inter"/>
                        <a:ea typeface="Inter"/>
                        <a:cs typeface="Calibri"/>
                        <a:sym typeface="Arial"/>
                      </a:endParaRPr>
                    </a:p>
                  </a:txBody>
                  <a:tcPr marL="0" marR="0" marT="0" marB="0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0"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605481978"/>
                  </a:ext>
                </a:extLst>
              </a:tr>
              <a:tr h="206236">
                <a:tc>
                  <a:txBody>
                    <a:bodyPr/>
                    <a:lstStyle/>
                    <a:p>
                      <a:pPr marR="0" algn="l" rtl="0">
                        <a:lnSpc>
                          <a:spcPct val="14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</a:pPr>
                      <a:r>
                        <a:rPr lang="en-US" sz="1000" b="0" i="0" u="none" strike="noStrike" cap="none">
                          <a:solidFill>
                            <a:srgbClr val="475569"/>
                          </a:solidFill>
                          <a:latin typeface="Inter"/>
                          <a:ea typeface="Inter"/>
                          <a:cs typeface="Calibri"/>
                          <a:sym typeface="Arial"/>
                        </a:rPr>
                        <a:t>AOV</a:t>
                      </a:r>
                      <a:r>
                        <a:rPr lang="en-US" sz="1000" b="0" i="0" u="none" strike="noStrike" cap="none">
                          <a:solidFill>
                            <a:srgbClr val="475569"/>
                          </a:solidFill>
                          <a:latin typeface="Inter"/>
                          <a:ea typeface="Inter"/>
                          <a:cs typeface="Calibri"/>
                        </a:rPr>
                        <a:t>:</a:t>
                      </a:r>
                      <a:endParaRPr lang="en-US" sz="1000" b="0" i="0" u="none" strike="noStrike" cap="none">
                        <a:solidFill>
                          <a:srgbClr val="475569"/>
                        </a:solidFill>
                        <a:latin typeface="Inter"/>
                        <a:ea typeface="Inter"/>
                        <a:cs typeface="Calibri"/>
                        <a:sym typeface="Arial"/>
                      </a:endParaRPr>
                    </a:p>
                  </a:txBody>
                  <a:tcPr marL="0" marR="0" marT="0" marB="0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0"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R="0" lvl="0" algn="l" rtl="0">
                        <a:lnSpc>
                          <a:spcPct val="14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buNone/>
                      </a:pPr>
                      <a:r>
                        <a:rPr lang="en-US" sz="1000" b="0" i="0" u="none" strike="noStrike" cap="none" noProof="0">
                          <a:solidFill>
                            <a:srgbClr val="475569"/>
                          </a:solidFill>
                          <a:latin typeface="Inter"/>
                          <a:ea typeface="Inter"/>
                          <a:cs typeface="Calibri"/>
                          <a:sym typeface="Arial"/>
                        </a:rPr>
                        <a:t>₹</a:t>
                      </a:r>
                      <a:r>
                        <a:rPr lang="en-US" sz="1000" b="0" i="0" u="none" strike="noStrike" cap="none" noProof="0">
                          <a:solidFill>
                            <a:srgbClr val="475569"/>
                          </a:solidFill>
                          <a:latin typeface="Inter"/>
                          <a:ea typeface="Inter"/>
                          <a:cs typeface="Calibri"/>
                        </a:rPr>
                        <a:t>15,162.58</a:t>
                      </a:r>
                      <a:r>
                        <a:rPr lang="en-US" sz="1000" b="0" i="0" u="none" strike="noStrike" cap="none" noProof="0">
                          <a:solidFill>
                            <a:srgbClr val="475569"/>
                          </a:solidFill>
                          <a:latin typeface="Inter"/>
                          <a:ea typeface="Inter"/>
                          <a:cs typeface="Calibri"/>
                          <a:sym typeface="Arial"/>
                        </a:rPr>
                        <a:t> </a:t>
                      </a:r>
                      <a:endParaRPr lang="en-US" sz="1000" b="0" i="0" u="none" strike="noStrike" cap="none">
                        <a:solidFill>
                          <a:srgbClr val="475569"/>
                        </a:solidFill>
                        <a:latin typeface="Inter"/>
                        <a:ea typeface="Inter"/>
                        <a:cs typeface="Calibri"/>
                        <a:sym typeface="Arial"/>
                      </a:endParaRPr>
                    </a:p>
                  </a:txBody>
                  <a:tcPr marL="0" marR="0" marT="0" marB="0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0"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965142261"/>
                  </a:ext>
                </a:extLst>
              </a:tr>
              <a:tr h="206236">
                <a:tc>
                  <a:txBody>
                    <a:bodyPr/>
                    <a:lstStyle/>
                    <a:p>
                      <a:pPr marR="0" algn="l" rtl="0">
                        <a:lnSpc>
                          <a:spcPct val="14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</a:pPr>
                      <a:r>
                        <a:rPr lang="en-US" sz="1000" b="0" i="0" u="none" strike="noStrike" cap="none">
                          <a:solidFill>
                            <a:srgbClr val="475569"/>
                          </a:solidFill>
                          <a:latin typeface="Inter"/>
                          <a:ea typeface="Inter"/>
                          <a:cs typeface="Calibri"/>
                          <a:sym typeface="Arial"/>
                        </a:rPr>
                        <a:t>Units Sold</a:t>
                      </a:r>
                      <a:r>
                        <a:rPr lang="en-US" sz="1000" b="0" i="0" u="none" strike="noStrike" cap="none">
                          <a:solidFill>
                            <a:srgbClr val="475569"/>
                          </a:solidFill>
                          <a:latin typeface="Inter"/>
                          <a:ea typeface="Inter"/>
                          <a:cs typeface="Calibri"/>
                        </a:rPr>
                        <a:t>:</a:t>
                      </a:r>
                      <a:endParaRPr lang="en-US" sz="1000" b="0" i="0" u="none" strike="noStrike" cap="none">
                        <a:solidFill>
                          <a:srgbClr val="475569"/>
                        </a:solidFill>
                        <a:latin typeface="Inter"/>
                        <a:ea typeface="Inter"/>
                        <a:cs typeface="Calibri"/>
                        <a:sym typeface="Arial"/>
                      </a:endParaRPr>
                    </a:p>
                  </a:txBody>
                  <a:tcPr marL="0" marR="0" marT="0" marB="0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0"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R="0" lvl="0" algn="l" rtl="0">
                        <a:lnSpc>
                          <a:spcPct val="14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buNone/>
                      </a:pPr>
                      <a:r>
                        <a:rPr lang="en-US" sz="1000" b="0" i="0" u="none" strike="noStrike" cap="none" noProof="0">
                          <a:solidFill>
                            <a:srgbClr val="475569"/>
                          </a:solidFill>
                          <a:latin typeface="Inter"/>
                          <a:ea typeface="Inter"/>
                          <a:cs typeface="Calibri"/>
                        </a:rPr>
                        <a:t>7,808</a:t>
                      </a:r>
                      <a:r>
                        <a:rPr lang="en-US" sz="1000" b="0" i="0" u="none" strike="noStrike" cap="none" noProof="0">
                          <a:solidFill>
                            <a:srgbClr val="475569"/>
                          </a:solidFill>
                          <a:latin typeface="Inter"/>
                          <a:ea typeface="Inter"/>
                          <a:cs typeface="Calibri"/>
                          <a:sym typeface="Arial"/>
                        </a:rPr>
                        <a:t> Units</a:t>
                      </a:r>
                      <a:endParaRPr lang="en-US" sz="1000" b="0" i="0" u="none" strike="noStrike" cap="none">
                        <a:solidFill>
                          <a:srgbClr val="475569"/>
                        </a:solidFill>
                        <a:latin typeface="Inter"/>
                        <a:ea typeface="Inter"/>
                        <a:cs typeface="Calibri"/>
                        <a:sym typeface="Arial"/>
                      </a:endParaRPr>
                    </a:p>
                  </a:txBody>
                  <a:tcPr marL="0" marR="0" marT="0" marB="0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0"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091925074"/>
                  </a:ext>
                </a:extLst>
              </a:tr>
              <a:tr h="357475">
                <a:tc>
                  <a:txBody>
                    <a:bodyPr/>
                    <a:lstStyle/>
                    <a:p>
                      <a:pPr marR="0" algn="l" rtl="0">
                        <a:lnSpc>
                          <a:spcPct val="14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</a:pPr>
                      <a:r>
                        <a:rPr lang="en-US" sz="1000" b="0" i="0" u="none" strike="noStrike" cap="none">
                          <a:solidFill>
                            <a:srgbClr val="475569"/>
                          </a:solidFill>
                          <a:latin typeface="Inter"/>
                          <a:ea typeface="Inter"/>
                          <a:cs typeface="Calibri"/>
                          <a:sym typeface="Arial"/>
                        </a:rPr>
                        <a:t>Orders</a:t>
                      </a:r>
                      <a:r>
                        <a:rPr lang="en-US" sz="1000" b="0" i="0" u="none" strike="noStrike" cap="none">
                          <a:solidFill>
                            <a:srgbClr val="475569"/>
                          </a:solidFill>
                          <a:latin typeface="Inter"/>
                          <a:ea typeface="Inter"/>
                          <a:cs typeface="Calibri"/>
                        </a:rPr>
                        <a:t>:</a:t>
                      </a:r>
                      <a:endParaRPr lang="en-US" sz="1000" b="0" i="0" u="none" strike="noStrike" cap="none">
                        <a:solidFill>
                          <a:srgbClr val="475569"/>
                        </a:solidFill>
                        <a:latin typeface="Inter"/>
                        <a:ea typeface="Inter"/>
                        <a:cs typeface="Calibri"/>
                        <a:sym typeface="Arial"/>
                      </a:endParaRPr>
                    </a:p>
                  </a:txBody>
                  <a:tcPr marL="0" marR="0" marT="0" marB="0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0"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R="0" lvl="0" algn="l" rtl="0">
                        <a:lnSpc>
                          <a:spcPct val="14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buNone/>
                      </a:pPr>
                      <a:r>
                        <a:rPr lang="en-US" sz="1000" b="0" i="0" u="none" strike="noStrike" cap="none" noProof="0">
                          <a:solidFill>
                            <a:srgbClr val="475569"/>
                          </a:solidFill>
                          <a:latin typeface="Inter"/>
                          <a:ea typeface="Inter"/>
                          <a:cs typeface="Calibri"/>
                        </a:rPr>
                        <a:t>4,359</a:t>
                      </a:r>
                      <a:r>
                        <a:rPr lang="en-US" sz="1000" b="0" i="0" u="none" strike="noStrike" cap="none" noProof="0">
                          <a:solidFill>
                            <a:srgbClr val="475569"/>
                          </a:solidFill>
                          <a:latin typeface="Inter"/>
                          <a:ea typeface="Inter"/>
                          <a:cs typeface="Calibri"/>
                          <a:sym typeface="Arial"/>
                        </a:rPr>
                        <a:t> </a:t>
                      </a:r>
                      <a:r>
                        <a:rPr lang="en-US" sz="1000" b="0" i="0" u="none" strike="noStrike" cap="none" noProof="0">
                          <a:solidFill>
                            <a:srgbClr val="475569"/>
                          </a:solidFill>
                          <a:latin typeface="Inter"/>
                          <a:ea typeface="Inter"/>
                          <a:cs typeface="Calibri"/>
                        </a:rPr>
                        <a:t>Transactions</a:t>
                      </a:r>
                      <a:endParaRPr lang="en-US" sz="1000">
                        <a:sym typeface="Arial"/>
                      </a:endParaRPr>
                    </a:p>
                  </a:txBody>
                  <a:tcPr marL="0" marR="0" marT="0" marB="0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0"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21571610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298958995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>
          <a:blip r:embed="rId3"/>
          <a:stretch>
            <a:fillRect/>
          </a:stretch>
        </a:blipFill>
        <a:effectLst/>
      </p:bgPr>
    </p:bg>
    <p:spTree>
      <p:nvGrpSpPr>
        <p:cNvPr id="1" name="Shape 2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64" name="Google Shape;264;p18" descr="image.png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428625" y="6505575"/>
            <a:ext cx="11334750" cy="219075"/>
          </a:xfrm>
          <a:prstGeom prst="rect">
            <a:avLst/>
          </a:prstGeom>
          <a:noFill/>
          <a:ln>
            <a:noFill/>
          </a:ln>
        </p:spPr>
      </p:pic>
      <p:sp>
        <p:nvSpPr>
          <p:cNvPr id="265" name="Google Shape;265;p18"/>
          <p:cNvSpPr txBox="1"/>
          <p:nvPr/>
        </p:nvSpPr>
        <p:spPr>
          <a:xfrm>
            <a:off x="709612" y="271766"/>
            <a:ext cx="11482387" cy="83099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spAutoFit/>
          </a:bodyPr>
          <a:lstStyle/>
          <a:p>
            <a:pPr>
              <a:lnSpc>
                <a:spcPct val="120000"/>
              </a:lnSpc>
            </a:pPr>
            <a:r>
              <a:rPr lang="en-US" sz="2400" b="1">
                <a:solidFill>
                  <a:srgbClr val="0F172A"/>
                </a:solidFill>
                <a:latin typeface="Poppins"/>
                <a:cs typeface="Poppins"/>
                <a:sym typeface="Poppins"/>
              </a:rPr>
              <a:t>Q3. What is the impact of discounting on profit margins?</a:t>
            </a:r>
            <a:endParaRPr lang="en-US" sz="2400"/>
          </a:p>
          <a:p>
            <a:pPr>
              <a:lnSpc>
                <a:spcPct val="120000"/>
              </a:lnSpc>
            </a:pPr>
            <a:endParaRPr lang="en-US" sz="2100" b="1">
              <a:solidFill>
                <a:srgbClr val="0F172A"/>
              </a:solidFill>
              <a:latin typeface="Poppins"/>
              <a:cs typeface="Poppins"/>
            </a:endParaRPr>
          </a:p>
        </p:txBody>
      </p:sp>
      <p:sp>
        <p:nvSpPr>
          <p:cNvPr id="266" name="Google Shape;266;p18"/>
          <p:cNvSpPr txBox="1"/>
          <p:nvPr/>
        </p:nvSpPr>
        <p:spPr>
          <a:xfrm>
            <a:off x="327983" y="739439"/>
            <a:ext cx="11334750" cy="18466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r>
              <a:rPr lang="en-US" sz="1200" b="0" i="0" u="none" strike="noStrike" cap="none" dirty="0">
                <a:solidFill>
                  <a:srgbClr val="64748B"/>
                </a:solidFill>
                <a:latin typeface="Inter"/>
                <a:ea typeface="Inter"/>
                <a:cs typeface="Inter"/>
                <a:sym typeface="Inter"/>
              </a:rPr>
              <a:t>Analyzing margin erosion across discount brackets to establish </a:t>
            </a:r>
            <a:r>
              <a:rPr lang="en-US" sz="1200" dirty="0">
                <a:solidFill>
                  <a:srgbClr val="64748B"/>
                </a:solidFill>
                <a:latin typeface="Inter"/>
                <a:ea typeface="Inter"/>
                <a:cs typeface="Inter"/>
                <a:sym typeface="Inter"/>
              </a:rPr>
              <a:t>an </a:t>
            </a:r>
            <a:r>
              <a:rPr lang="en-US" sz="1200">
                <a:solidFill>
                  <a:srgbClr val="64748B"/>
                </a:solidFill>
                <a:latin typeface="Inter"/>
                <a:ea typeface="Inter"/>
                <a:cs typeface="Inter"/>
                <a:sym typeface="Inter"/>
              </a:rPr>
              <a:t>efficient discounting policy.</a:t>
            </a:r>
            <a:endParaRPr lang="en-US" sz="1200"/>
          </a:p>
        </p:txBody>
      </p:sp>
      <p:sp>
        <p:nvSpPr>
          <p:cNvPr id="267" name="Google Shape;267;p18"/>
          <p:cNvSpPr txBox="1"/>
          <p:nvPr/>
        </p:nvSpPr>
        <p:spPr>
          <a:xfrm>
            <a:off x="486134" y="6620054"/>
            <a:ext cx="2428516" cy="12695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825" b="0" i="0" u="none" strike="noStrike" cap="none">
                <a:solidFill>
                  <a:srgbClr val="94A3B8"/>
                </a:solidFill>
                <a:latin typeface="Inter"/>
                <a:ea typeface="Inter"/>
                <a:cs typeface="Inter"/>
                <a:sym typeface="Inter"/>
              </a:rPr>
              <a:t>FashionWave Retail Sales Analysis</a:t>
            </a:r>
            <a:endParaRPr/>
          </a:p>
        </p:txBody>
      </p:sp>
      <p:sp>
        <p:nvSpPr>
          <p:cNvPr id="268" name="Google Shape;268;p18"/>
          <p:cNvSpPr txBox="1"/>
          <p:nvPr/>
        </p:nvSpPr>
        <p:spPr>
          <a:xfrm>
            <a:off x="10607256" y="6620054"/>
            <a:ext cx="1558685" cy="12695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800" b="0" i="0" u="none" strike="noStrike" cap="none">
                <a:solidFill>
                  <a:srgbClr val="94A3B8"/>
                </a:solidFill>
                <a:latin typeface="Inter"/>
                <a:ea typeface="Inter"/>
                <a:cs typeface="Inter"/>
                <a:sym typeface="Inter"/>
              </a:rPr>
              <a:t>Slide 6 of </a:t>
            </a:r>
            <a:r>
              <a:rPr lang="en-US" sz="800">
                <a:solidFill>
                  <a:srgbClr val="94A3B8"/>
                </a:solidFill>
                <a:latin typeface="Inter"/>
                <a:ea typeface="Inter"/>
                <a:cs typeface="Inter"/>
                <a:sym typeface="Inter"/>
              </a:rPr>
              <a:t>12</a:t>
            </a:r>
            <a:endParaRPr/>
          </a:p>
        </p:txBody>
      </p:sp>
      <p:pic>
        <p:nvPicPr>
          <p:cNvPr id="269" name="Google Shape;269;p18" descr="image.png"/>
          <p:cNvPicPr preferRelativeResize="0"/>
          <p:nvPr/>
        </p:nvPicPr>
        <p:blipFill rotWithShape="1">
          <a:blip r:embed="rId5">
            <a:alphaModFix/>
          </a:blip>
          <a:srcRect/>
          <a:stretch/>
        </p:blipFill>
        <p:spPr>
          <a:xfrm>
            <a:off x="428625" y="379065"/>
            <a:ext cx="166687" cy="228600"/>
          </a:xfrm>
          <a:prstGeom prst="rect">
            <a:avLst/>
          </a:prstGeom>
          <a:noFill/>
          <a:ln>
            <a:noFill/>
          </a:ln>
        </p:spPr>
      </p:pic>
      <p:sp>
        <p:nvSpPr>
          <p:cNvPr id="273" name="Google Shape;273;p18"/>
          <p:cNvSpPr txBox="1"/>
          <p:nvPr/>
        </p:nvSpPr>
        <p:spPr>
          <a:xfrm>
            <a:off x="303722" y="1056916"/>
            <a:ext cx="4543002" cy="2154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b="1" i="0" u="none" strike="noStrike" cap="none">
                <a:solidFill>
                  <a:srgbClr val="0F172A"/>
                </a:solidFill>
                <a:latin typeface="Inter"/>
                <a:ea typeface="Inter"/>
                <a:cs typeface="Inter"/>
                <a:sym typeface="Inter"/>
              </a:rPr>
              <a:t>Profit Margin Erosion across Discount Tiers</a:t>
            </a:r>
            <a:endParaRPr b="1"/>
          </a:p>
        </p:txBody>
      </p:sp>
      <p:pic>
        <p:nvPicPr>
          <p:cNvPr id="274" name="Google Shape;274;p18" descr="image.png"/>
          <p:cNvPicPr preferRelativeResize="0"/>
          <p:nvPr/>
        </p:nvPicPr>
        <p:blipFill rotWithShape="1">
          <a:blip r:embed="rId6">
            <a:alphaModFix/>
          </a:blip>
          <a:srcRect/>
          <a:stretch/>
        </p:blipFill>
        <p:spPr>
          <a:xfrm>
            <a:off x="301026" y="4104915"/>
            <a:ext cx="3981628" cy="2197760"/>
          </a:xfrm>
          <a:prstGeom prst="rect">
            <a:avLst/>
          </a:prstGeom>
          <a:noFill/>
          <a:ln>
            <a:noFill/>
          </a:ln>
        </p:spPr>
      </p:pic>
      <p:pic>
        <p:nvPicPr>
          <p:cNvPr id="275" name="Google Shape;275;p18" descr="image.png"/>
          <p:cNvPicPr preferRelativeResize="0"/>
          <p:nvPr/>
        </p:nvPicPr>
        <p:blipFill rotWithShape="1">
          <a:blip r:embed="rId7">
            <a:alphaModFix/>
          </a:blip>
          <a:srcRect/>
          <a:stretch/>
        </p:blipFill>
        <p:spPr>
          <a:xfrm>
            <a:off x="4427328" y="4145352"/>
            <a:ext cx="3650950" cy="2126950"/>
          </a:xfrm>
          <a:prstGeom prst="rect">
            <a:avLst/>
          </a:prstGeom>
          <a:noFill/>
          <a:ln>
            <a:noFill/>
          </a:ln>
        </p:spPr>
      </p:pic>
      <p:pic>
        <p:nvPicPr>
          <p:cNvPr id="276" name="Google Shape;276;p18" descr="image.png"/>
          <p:cNvPicPr preferRelativeResize="0"/>
          <p:nvPr/>
        </p:nvPicPr>
        <p:blipFill rotWithShape="1">
          <a:blip r:embed="rId8">
            <a:alphaModFix/>
          </a:blip>
          <a:srcRect/>
          <a:stretch/>
        </p:blipFill>
        <p:spPr>
          <a:xfrm>
            <a:off x="8208572" y="4158112"/>
            <a:ext cx="3823479" cy="2126950"/>
          </a:xfrm>
          <a:prstGeom prst="rect">
            <a:avLst/>
          </a:prstGeom>
          <a:noFill/>
          <a:ln>
            <a:noFill/>
          </a:ln>
        </p:spPr>
      </p:pic>
      <p:sp>
        <p:nvSpPr>
          <p:cNvPr id="277" name="Google Shape;277;p18"/>
          <p:cNvSpPr txBox="1"/>
          <p:nvPr/>
        </p:nvSpPr>
        <p:spPr>
          <a:xfrm>
            <a:off x="573118" y="4175904"/>
            <a:ext cx="3019681" cy="24622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5240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00" b="0" i="0" u="none" strike="noStrike" cap="none">
                <a:solidFill>
                  <a:srgbClr val="DC2626"/>
                </a:solidFill>
                <a:latin typeface="Poppins SemiBold"/>
                <a:ea typeface="Poppins SemiBold"/>
                <a:cs typeface="Poppins SemiBold"/>
                <a:sym typeface="Poppins SemiBold"/>
              </a:rPr>
              <a:t>Steep Margin Erosion Slope</a:t>
            </a:r>
            <a:endParaRPr lang="en-US" sz="1600"/>
          </a:p>
        </p:txBody>
      </p:sp>
      <p:sp>
        <p:nvSpPr>
          <p:cNvPr id="278" name="Google Shape;278;p18"/>
          <p:cNvSpPr txBox="1"/>
          <p:nvPr/>
        </p:nvSpPr>
        <p:spPr>
          <a:xfrm>
            <a:off x="357457" y="4509640"/>
            <a:ext cx="3983756" cy="161582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171450" indent="-171450">
              <a:lnSpc>
                <a:spcPct val="150000"/>
              </a:lnSpc>
              <a:buFont typeface="Wingdings"/>
              <a:buChar char="ü"/>
            </a:pPr>
            <a:r>
              <a:rPr lang="en-US">
                <a:solidFill>
                  <a:srgbClr val="475569"/>
                </a:solidFill>
                <a:latin typeface="Inter"/>
                <a:ea typeface="Inter"/>
                <a:sym typeface="Inter"/>
              </a:rPr>
              <a:t>Profit Margin: </a:t>
            </a:r>
            <a:r>
              <a:rPr lang="en-US" i="0" u="none" strike="noStrike" cap="none">
                <a:solidFill>
                  <a:srgbClr val="475569"/>
                </a:solidFill>
                <a:latin typeface="Inter"/>
                <a:ea typeface="Inter"/>
                <a:sym typeface="Inter"/>
              </a:rPr>
              <a:t>75.42% </a:t>
            </a:r>
            <a:r>
              <a:rPr lang="en-US">
                <a:solidFill>
                  <a:srgbClr val="475569"/>
                </a:solidFill>
                <a:latin typeface="Inter"/>
                <a:ea typeface="Inter"/>
                <a:sym typeface="Inter"/>
              </a:rPr>
              <a:t>→ 64.56</a:t>
            </a:r>
            <a:r>
              <a:rPr lang="en-US" i="0" u="none" strike="noStrike" cap="none">
                <a:solidFill>
                  <a:srgbClr val="475569"/>
                </a:solidFill>
                <a:latin typeface="Inter"/>
                <a:ea typeface="Inter"/>
                <a:sym typeface="Inter"/>
              </a:rPr>
              <a:t>%</a:t>
            </a:r>
            <a:r>
              <a:rPr lang="en-US" b="0" i="0" u="none" strike="noStrike" cap="none">
                <a:solidFill>
                  <a:srgbClr val="475569"/>
                </a:solidFill>
                <a:latin typeface="Inter"/>
                <a:ea typeface="Inter"/>
                <a:sym typeface="Inter"/>
              </a:rPr>
              <a:t> </a:t>
            </a:r>
            <a:endParaRPr lang="en-US" sz="1600"/>
          </a:p>
          <a:p>
            <a:pPr marL="171450" indent="-171450">
              <a:lnSpc>
                <a:spcPct val="150000"/>
              </a:lnSpc>
              <a:buFont typeface="Wingdings"/>
              <a:buChar char="ü"/>
            </a:pPr>
            <a:r>
              <a:rPr lang="en-US">
                <a:solidFill>
                  <a:srgbClr val="475569"/>
                </a:solidFill>
                <a:latin typeface="Inter"/>
                <a:ea typeface="Inter"/>
                <a:sym typeface="Inter"/>
              </a:rPr>
              <a:t>Margin erosion: 10.86 </a:t>
            </a:r>
            <a:r>
              <a:rPr lang="en-US" i="0" u="none" strike="noStrike" cap="none">
                <a:solidFill>
                  <a:srgbClr val="475569"/>
                </a:solidFill>
                <a:latin typeface="Inter"/>
                <a:ea typeface="Inter"/>
                <a:sym typeface="Inter"/>
              </a:rPr>
              <a:t>percentage points</a:t>
            </a:r>
            <a:r>
              <a:rPr lang="en-US">
                <a:solidFill>
                  <a:srgbClr val="475569"/>
                </a:solidFill>
                <a:latin typeface="Inter"/>
                <a:ea typeface="Inter"/>
                <a:sym typeface="Inter"/>
              </a:rPr>
              <a:t> (i.e., approx.0.4% points per 1% discount)</a:t>
            </a:r>
            <a:endParaRPr lang="en-US" sz="1600"/>
          </a:p>
          <a:p>
            <a:pPr marL="171450" indent="-171450">
              <a:lnSpc>
                <a:spcPct val="150000"/>
              </a:lnSpc>
              <a:buFont typeface="Wingdings"/>
              <a:buChar char="ü"/>
            </a:pPr>
            <a:r>
              <a:rPr lang="en-US">
                <a:solidFill>
                  <a:srgbClr val="475569"/>
                </a:solidFill>
                <a:latin typeface="Inter"/>
                <a:ea typeface="Inter"/>
                <a:sym typeface="Inter"/>
              </a:rPr>
              <a:t>Higher discounts reduce profitability without proportional gains</a:t>
            </a:r>
            <a:r>
              <a:rPr lang="en-US" b="0" i="0" u="none" strike="noStrike" cap="none">
                <a:solidFill>
                  <a:srgbClr val="475569"/>
                </a:solidFill>
                <a:latin typeface="Inter"/>
                <a:ea typeface="Inter"/>
                <a:sym typeface="Inter"/>
              </a:rPr>
              <a:t>.</a:t>
            </a:r>
            <a:endParaRPr lang="en-US" sz="1600"/>
          </a:p>
        </p:txBody>
      </p:sp>
      <p:sp>
        <p:nvSpPr>
          <p:cNvPr id="279" name="Google Shape;279;p18"/>
          <p:cNvSpPr txBox="1"/>
          <p:nvPr/>
        </p:nvSpPr>
        <p:spPr>
          <a:xfrm>
            <a:off x="4800062" y="4173208"/>
            <a:ext cx="2976549" cy="24622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3335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00">
                <a:solidFill>
                  <a:srgbClr val="D97706"/>
                </a:solidFill>
                <a:latin typeface="Poppins SemiBold"/>
                <a:ea typeface="Poppins SemiBold"/>
                <a:cs typeface="Poppins SemiBold"/>
                <a:sym typeface="Poppins SemiBold"/>
              </a:rPr>
              <a:t>High</a:t>
            </a:r>
            <a:r>
              <a:rPr lang="en-US" sz="1600" b="0" i="0" u="none" strike="noStrike" cap="none">
                <a:solidFill>
                  <a:srgbClr val="D97706"/>
                </a:solidFill>
                <a:latin typeface="Poppins SemiBold"/>
                <a:ea typeface="Poppins SemiBold"/>
                <a:cs typeface="Poppins SemiBold"/>
                <a:sym typeface="Poppins SemiBold"/>
              </a:rPr>
              <a:t> Discount Dependency</a:t>
            </a:r>
            <a:endParaRPr sz="2400"/>
          </a:p>
        </p:txBody>
      </p:sp>
      <p:sp>
        <p:nvSpPr>
          <p:cNvPr id="280" name="Google Shape;280;p18"/>
          <p:cNvSpPr txBox="1"/>
          <p:nvPr/>
        </p:nvSpPr>
        <p:spPr>
          <a:xfrm>
            <a:off x="4641910" y="4449434"/>
            <a:ext cx="3437418" cy="165895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171450" indent="-171450">
              <a:lnSpc>
                <a:spcPct val="150000"/>
              </a:lnSpc>
              <a:buFont typeface="Wingdings"/>
              <a:buChar char="ü"/>
            </a:pPr>
            <a:r>
              <a:rPr lang="en-US">
                <a:solidFill>
                  <a:srgbClr val="475569"/>
                </a:solidFill>
                <a:latin typeface="Inter"/>
                <a:ea typeface="Inter"/>
              </a:rPr>
              <a:t>60%+ of transactions include promotional discounts. </a:t>
            </a:r>
          </a:p>
          <a:p>
            <a:pPr marL="171450" indent="-171450">
              <a:lnSpc>
                <a:spcPct val="150000"/>
              </a:lnSpc>
              <a:buFont typeface="Wingdings"/>
              <a:buChar char="ü"/>
            </a:pPr>
            <a:r>
              <a:rPr lang="en-US">
                <a:solidFill>
                  <a:srgbClr val="475569"/>
                </a:solidFill>
                <a:latin typeface="Inter"/>
                <a:ea typeface="Inter"/>
              </a:rPr>
              <a:t>Average discount level exceeds 12%. </a:t>
            </a:r>
          </a:p>
          <a:p>
            <a:pPr marL="171450" indent="-171450">
              <a:lnSpc>
                <a:spcPct val="150000"/>
              </a:lnSpc>
              <a:buFont typeface="Wingdings"/>
              <a:buChar char="ü"/>
            </a:pPr>
            <a:r>
              <a:rPr lang="en-US">
                <a:solidFill>
                  <a:srgbClr val="475569"/>
                </a:solidFill>
                <a:latin typeface="Inter"/>
                <a:ea typeface="Inter"/>
              </a:rPr>
              <a:t>Frequent discounting reduces overall profitability.</a:t>
            </a:r>
          </a:p>
        </p:txBody>
      </p:sp>
      <p:sp>
        <p:nvSpPr>
          <p:cNvPr id="281" name="Google Shape;281;p18"/>
          <p:cNvSpPr txBox="1"/>
          <p:nvPr/>
        </p:nvSpPr>
        <p:spPr>
          <a:xfrm>
            <a:off x="8308135" y="4142837"/>
            <a:ext cx="3824812" cy="24622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3335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00" b="0" i="0" u="none" strike="noStrike" cap="none">
                <a:solidFill>
                  <a:srgbClr val="047857"/>
                </a:solidFill>
                <a:latin typeface="Poppins SemiBold"/>
                <a:ea typeface="Poppins SemiBold"/>
                <a:cs typeface="Poppins SemiBold"/>
                <a:sym typeface="Poppins SemiBold"/>
              </a:rPr>
              <a:t>Strategic Policy Recommendation</a:t>
            </a:r>
            <a:endParaRPr lang="en-US" sz="1600"/>
          </a:p>
        </p:txBody>
      </p:sp>
      <p:sp>
        <p:nvSpPr>
          <p:cNvPr id="282" name="Google Shape;282;p18"/>
          <p:cNvSpPr txBox="1"/>
          <p:nvPr/>
        </p:nvSpPr>
        <p:spPr>
          <a:xfrm>
            <a:off x="8207494" y="4505326"/>
            <a:ext cx="3825606" cy="161582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171450" indent="-171450">
              <a:lnSpc>
                <a:spcPct val="150000"/>
              </a:lnSpc>
              <a:buFont typeface="Wingdings"/>
              <a:buChar char="ü"/>
            </a:pPr>
            <a:r>
              <a:rPr lang="en-US">
                <a:solidFill>
                  <a:srgbClr val="475569"/>
                </a:solidFill>
                <a:latin typeface="Inter"/>
                <a:ea typeface="Inter"/>
                <a:sym typeface="Inter"/>
              </a:rPr>
              <a:t>Set 15% as the maximum routine discount </a:t>
            </a:r>
          </a:p>
          <a:p>
            <a:pPr marL="171450" indent="-171450">
              <a:lnSpc>
                <a:spcPct val="150000"/>
              </a:lnSpc>
              <a:buFont typeface="Wingdings"/>
              <a:buChar char="ü"/>
            </a:pPr>
            <a:r>
              <a:rPr lang="en-US">
                <a:solidFill>
                  <a:srgbClr val="475569"/>
                </a:solidFill>
                <a:latin typeface="Inter"/>
                <a:ea typeface="Inter"/>
                <a:sym typeface="Inter"/>
              </a:rPr>
              <a:t>Shift repeat customers toward loyalty reward points</a:t>
            </a:r>
          </a:p>
          <a:p>
            <a:pPr marL="171450" indent="-171450">
              <a:lnSpc>
                <a:spcPct val="150000"/>
              </a:lnSpc>
              <a:buFont typeface="Wingdings"/>
              <a:buChar char="ü"/>
            </a:pPr>
            <a:r>
              <a:rPr lang="en-US">
                <a:solidFill>
                  <a:srgbClr val="475569"/>
                </a:solidFill>
                <a:latin typeface="Inter"/>
                <a:ea typeface="Inter"/>
              </a:rPr>
              <a:t>Protect high-margin baselines by reducing reliance on deep discounts.</a:t>
            </a:r>
          </a:p>
        </p:txBody>
      </p:sp>
      <p:pic>
        <p:nvPicPr>
          <p:cNvPr id="283" name="Google Shape;283;p18" descr="image.png"/>
          <p:cNvPicPr preferRelativeResize="0"/>
          <p:nvPr/>
        </p:nvPicPr>
        <p:blipFill rotWithShape="1">
          <a:blip r:embed="rId9">
            <a:alphaModFix/>
          </a:blip>
          <a:srcRect/>
          <a:stretch/>
        </p:blipFill>
        <p:spPr>
          <a:xfrm>
            <a:off x="357457" y="4233234"/>
            <a:ext cx="152400" cy="176482"/>
          </a:xfrm>
          <a:prstGeom prst="rect">
            <a:avLst/>
          </a:prstGeom>
          <a:noFill/>
          <a:ln>
            <a:noFill/>
          </a:ln>
        </p:spPr>
      </p:pic>
      <p:pic>
        <p:nvPicPr>
          <p:cNvPr id="284" name="Google Shape;284;p18" descr="image.png"/>
          <p:cNvPicPr preferRelativeResize="0"/>
          <p:nvPr/>
        </p:nvPicPr>
        <p:blipFill rotWithShape="1">
          <a:blip r:embed="rId10">
            <a:alphaModFix/>
          </a:blip>
          <a:srcRect/>
          <a:stretch/>
        </p:blipFill>
        <p:spPr>
          <a:xfrm>
            <a:off x="4641910" y="4230538"/>
            <a:ext cx="133350" cy="176482"/>
          </a:xfrm>
          <a:prstGeom prst="rect">
            <a:avLst/>
          </a:prstGeom>
          <a:noFill/>
          <a:ln>
            <a:noFill/>
          </a:ln>
        </p:spPr>
      </p:pic>
      <p:pic>
        <p:nvPicPr>
          <p:cNvPr id="285" name="Google Shape;285;p18" descr="image.png"/>
          <p:cNvPicPr preferRelativeResize="0"/>
          <p:nvPr/>
        </p:nvPicPr>
        <p:blipFill rotWithShape="1">
          <a:blip r:embed="rId11">
            <a:alphaModFix/>
          </a:blip>
          <a:srcRect/>
          <a:stretch/>
        </p:blipFill>
        <p:spPr>
          <a:xfrm>
            <a:off x="8221872" y="4214543"/>
            <a:ext cx="133350" cy="133350"/>
          </a:xfrm>
          <a:prstGeom prst="rect">
            <a:avLst/>
          </a:prstGeom>
          <a:noFill/>
          <a:ln>
            <a:noFill/>
          </a:ln>
        </p:spPr>
      </p:pic>
      <p:graphicFrame>
        <p:nvGraphicFramePr>
          <p:cNvPr id="10" name="Chart 9">
            <a:extLst>
              <a:ext uri="{FF2B5EF4-FFF2-40B4-BE49-F238E27FC236}">
                <a16:creationId xmlns:a16="http://schemas.microsoft.com/office/drawing/2014/main" id="{BE3BAEB2-F97E-B281-D27E-127D76F1FBF5}"/>
              </a:ext>
              <a:ext uri="{147F2762-F138-4A5C-976F-8EAC2B608ADB}">
                <a16:predDERef xmlns:a16="http://schemas.microsoft.com/office/drawing/2014/main" pred="{4B3E7EF5-A440-A95B-45F0-A34716CEBFDF}"/>
              </a:ext>
            </a:extLst>
          </p:cNvPr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134879503"/>
              </p:ext>
            </p:extLst>
          </p:nvPr>
        </p:nvGraphicFramePr>
        <p:xfrm>
          <a:off x="278022" y="1257122"/>
          <a:ext cx="5262114" cy="2326255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12"/>
          </a:graphicData>
        </a:graphic>
      </p:graphicFrame>
      <p:sp>
        <p:nvSpPr>
          <p:cNvPr id="2" name="Google Shape;273;p18">
            <a:extLst>
              <a:ext uri="{FF2B5EF4-FFF2-40B4-BE49-F238E27FC236}">
                <a16:creationId xmlns:a16="http://schemas.microsoft.com/office/drawing/2014/main" id="{93280FEF-7907-7922-95AD-0938AA92F1FE}"/>
              </a:ext>
            </a:extLst>
          </p:cNvPr>
          <p:cNvSpPr txBox="1"/>
          <p:nvPr/>
        </p:nvSpPr>
        <p:spPr>
          <a:xfrm>
            <a:off x="274967" y="3745481"/>
            <a:ext cx="11645416" cy="24622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r>
              <a:rPr lang="en-US" sz="1600" b="1">
                <a:solidFill>
                  <a:srgbClr val="0F172A"/>
                </a:solidFill>
                <a:latin typeface="Inter"/>
                <a:ea typeface="Inter"/>
                <a:sym typeface="Inter"/>
              </a:rPr>
              <a:t>What is the financial impact of discounting on profit margins, and how can pricing be optimized?</a:t>
            </a:r>
            <a:endParaRPr lang="en-US" sz="1600" b="1"/>
          </a:p>
        </p:txBody>
      </p:sp>
      <p:graphicFrame>
        <p:nvGraphicFramePr>
          <p:cNvPr id="7" name="Chart 6">
            <a:extLst>
              <a:ext uri="{FF2B5EF4-FFF2-40B4-BE49-F238E27FC236}">
                <a16:creationId xmlns:a16="http://schemas.microsoft.com/office/drawing/2014/main" id="{0B73C732-2E31-93CE-E3B4-6C0EC00D5C1D}"/>
              </a:ext>
              <a:ext uri="{147F2762-F138-4A5C-976F-8EAC2B608ADB}">
                <a16:predDERef xmlns:a16="http://schemas.microsoft.com/office/drawing/2014/main" pred="{BE3BAEB2-F97E-B281-D27E-127D76F1FBF5}"/>
              </a:ext>
            </a:extLst>
          </p:cNvPr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3252987133"/>
              </p:ext>
            </p:extLst>
          </p:nvPr>
        </p:nvGraphicFramePr>
        <p:xfrm>
          <a:off x="4899896" y="1357762"/>
          <a:ext cx="3753389" cy="2383766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13"/>
          </a:graphicData>
        </a:graphic>
      </p:graphicFrame>
      <p:sp>
        <p:nvSpPr>
          <p:cNvPr id="11" name="Google Shape;273;p18">
            <a:extLst>
              <a:ext uri="{FF2B5EF4-FFF2-40B4-BE49-F238E27FC236}">
                <a16:creationId xmlns:a16="http://schemas.microsoft.com/office/drawing/2014/main" id="{79D2000A-B0A1-3B37-FF7A-E8326176340F}"/>
              </a:ext>
            </a:extLst>
          </p:cNvPr>
          <p:cNvSpPr txBox="1"/>
          <p:nvPr/>
        </p:nvSpPr>
        <p:spPr>
          <a:xfrm>
            <a:off x="4904476" y="1100047"/>
            <a:ext cx="3550965" cy="2154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r>
              <a:rPr lang="en-US" b="1">
                <a:solidFill>
                  <a:srgbClr val="0F172A"/>
                </a:solidFill>
                <a:latin typeface="Inter"/>
                <a:ea typeface="Inter"/>
                <a:cs typeface="Inter"/>
                <a:sym typeface="Inter"/>
              </a:rPr>
              <a:t>Net</a:t>
            </a:r>
            <a:r>
              <a:rPr lang="en-US" b="1" i="0" u="none" strike="noStrike" cap="none">
                <a:solidFill>
                  <a:srgbClr val="0F172A"/>
                </a:solidFill>
                <a:latin typeface="Inter"/>
                <a:ea typeface="Inter"/>
                <a:cs typeface="Inter"/>
                <a:sym typeface="Inter"/>
              </a:rPr>
              <a:t> </a:t>
            </a:r>
            <a:r>
              <a:rPr lang="en-US" b="1">
                <a:solidFill>
                  <a:srgbClr val="0F172A"/>
                </a:solidFill>
                <a:latin typeface="Inter"/>
                <a:ea typeface="Inter"/>
                <a:cs typeface="Inter"/>
                <a:sym typeface="Inter"/>
              </a:rPr>
              <a:t>Revenue by Discount</a:t>
            </a:r>
            <a:r>
              <a:rPr lang="en-US" b="1" i="0" u="none" strike="noStrike" cap="none">
                <a:solidFill>
                  <a:srgbClr val="0F172A"/>
                </a:solidFill>
                <a:latin typeface="Inter"/>
                <a:ea typeface="Inter"/>
                <a:cs typeface="Inter"/>
                <a:sym typeface="Inter"/>
              </a:rPr>
              <a:t> </a:t>
            </a:r>
            <a:r>
              <a:rPr lang="en-US" b="1">
                <a:solidFill>
                  <a:srgbClr val="0F172A"/>
                </a:solidFill>
                <a:latin typeface="Inter"/>
                <a:ea typeface="Inter"/>
                <a:cs typeface="Inter"/>
                <a:sym typeface="Inter"/>
              </a:rPr>
              <a:t>%</a:t>
            </a:r>
            <a:endParaRPr b="1"/>
          </a:p>
        </p:txBody>
      </p:sp>
      <p:sp>
        <p:nvSpPr>
          <p:cNvPr id="12" name="Google Shape;273;p18">
            <a:extLst>
              <a:ext uri="{FF2B5EF4-FFF2-40B4-BE49-F238E27FC236}">
                <a16:creationId xmlns:a16="http://schemas.microsoft.com/office/drawing/2014/main" id="{CEB456F9-F474-9C7A-3C47-26CD76E42F68}"/>
              </a:ext>
            </a:extLst>
          </p:cNvPr>
          <p:cNvSpPr txBox="1"/>
          <p:nvPr/>
        </p:nvSpPr>
        <p:spPr>
          <a:xfrm>
            <a:off x="8728853" y="1100048"/>
            <a:ext cx="3435946" cy="2154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r>
              <a:rPr lang="en-US" b="1">
                <a:solidFill>
                  <a:srgbClr val="0F172A"/>
                </a:solidFill>
                <a:latin typeface="Inter"/>
                <a:ea typeface="Inter"/>
              </a:rPr>
              <a:t>Transaction Share by Discount %</a:t>
            </a:r>
          </a:p>
        </p:txBody>
      </p:sp>
      <p:graphicFrame>
        <p:nvGraphicFramePr>
          <p:cNvPr id="16" name="Chart 15">
            <a:extLst>
              <a:ext uri="{FF2B5EF4-FFF2-40B4-BE49-F238E27FC236}">
                <a16:creationId xmlns:a16="http://schemas.microsoft.com/office/drawing/2014/main" id="{EFAD321F-8037-2B1D-2782-E4F02E777565}"/>
              </a:ext>
              <a:ext uri="{147F2762-F138-4A5C-976F-8EAC2B608ADB}">
                <a16:predDERef xmlns:a16="http://schemas.microsoft.com/office/drawing/2014/main" pred="{0B73C732-2E31-93CE-E3B4-6C0EC00D5C1D}"/>
              </a:ext>
            </a:extLst>
          </p:cNvPr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2183153619"/>
              </p:ext>
            </p:extLst>
          </p:nvPr>
        </p:nvGraphicFramePr>
        <p:xfrm>
          <a:off x="8444362" y="1314630"/>
          <a:ext cx="3752490" cy="2383767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14"/>
          </a:graphicData>
        </a:graphic>
      </p:graphicFrame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>
          <a:blip r:embed="rId3"/>
          <a:stretch>
            <a:fillRect/>
          </a:stretch>
        </a:blipFill>
        <a:effectLst/>
      </p:bgPr>
    </p:bg>
    <p:spTree>
      <p:nvGrpSpPr>
        <p:cNvPr id="1" name="Shape 28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Google Shape;182;p16" descr="image.png">
            <a:extLst>
              <a:ext uri="{FF2B5EF4-FFF2-40B4-BE49-F238E27FC236}">
                <a16:creationId xmlns:a16="http://schemas.microsoft.com/office/drawing/2014/main" id="{841076DD-1F02-195C-2C8F-5D1810E7D139}"/>
              </a:ext>
            </a:extLst>
          </p:cNvPr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8467544" y="893466"/>
            <a:ext cx="3453979" cy="1267436"/>
          </a:xfrm>
          <a:prstGeom prst="rect">
            <a:avLst/>
          </a:prstGeom>
          <a:noFill/>
          <a:ln>
            <a:noFill/>
          </a:ln>
        </p:spPr>
      </p:pic>
      <p:pic>
        <p:nvPicPr>
          <p:cNvPr id="10" name="Google Shape;182;p16" descr="image.png">
            <a:extLst>
              <a:ext uri="{FF2B5EF4-FFF2-40B4-BE49-F238E27FC236}">
                <a16:creationId xmlns:a16="http://schemas.microsoft.com/office/drawing/2014/main" id="{6027B7A5-5534-E0AB-083D-A5D77B0E478E}"/>
              </a:ext>
            </a:extLst>
          </p:cNvPr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8438790" y="3955845"/>
            <a:ext cx="3482734" cy="13537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4" name="Google Shape;182;p16" descr="image.png">
            <a:extLst>
              <a:ext uri="{FF2B5EF4-FFF2-40B4-BE49-F238E27FC236}">
                <a16:creationId xmlns:a16="http://schemas.microsoft.com/office/drawing/2014/main" id="{9CC8E7F2-BC60-D838-F8F7-866F3BFB77A2}"/>
              </a:ext>
            </a:extLst>
          </p:cNvPr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8453166" y="2302449"/>
            <a:ext cx="3511490" cy="1511852"/>
          </a:xfrm>
          <a:prstGeom prst="rect">
            <a:avLst/>
          </a:prstGeom>
          <a:noFill/>
          <a:ln>
            <a:noFill/>
          </a:ln>
        </p:spPr>
      </p:pic>
      <p:pic>
        <p:nvPicPr>
          <p:cNvPr id="291" name="Google Shape;291;p19" descr="image.png"/>
          <p:cNvPicPr preferRelativeResize="0"/>
          <p:nvPr/>
        </p:nvPicPr>
        <p:blipFill rotWithShape="1">
          <a:blip r:embed="rId5">
            <a:alphaModFix/>
          </a:blip>
          <a:srcRect/>
          <a:stretch/>
        </p:blipFill>
        <p:spPr>
          <a:xfrm>
            <a:off x="428625" y="5640788"/>
            <a:ext cx="11541065" cy="936694"/>
          </a:xfrm>
          <a:prstGeom prst="rect">
            <a:avLst/>
          </a:prstGeom>
          <a:noFill/>
          <a:ln>
            <a:noFill/>
          </a:ln>
        </p:spPr>
      </p:pic>
      <p:pic>
        <p:nvPicPr>
          <p:cNvPr id="294" name="Google Shape;294;p19" descr="image.png"/>
          <p:cNvPicPr preferRelativeResize="0"/>
          <p:nvPr/>
        </p:nvPicPr>
        <p:blipFill rotWithShape="1">
          <a:blip r:embed="rId6">
            <a:alphaModFix/>
          </a:blip>
          <a:srcRect/>
          <a:stretch/>
        </p:blipFill>
        <p:spPr>
          <a:xfrm>
            <a:off x="428625" y="6505575"/>
            <a:ext cx="11334750" cy="219075"/>
          </a:xfrm>
          <a:prstGeom prst="rect">
            <a:avLst/>
          </a:prstGeom>
          <a:noFill/>
          <a:ln>
            <a:noFill/>
          </a:ln>
        </p:spPr>
      </p:pic>
      <p:sp>
        <p:nvSpPr>
          <p:cNvPr id="295" name="Google Shape;295;p19"/>
          <p:cNvSpPr txBox="1"/>
          <p:nvPr/>
        </p:nvSpPr>
        <p:spPr>
          <a:xfrm>
            <a:off x="795337" y="271766"/>
            <a:ext cx="11396662" cy="83099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spAutoFit/>
          </a:bodyPr>
          <a:lstStyle/>
          <a:p>
            <a:pPr>
              <a:lnSpc>
                <a:spcPct val="120000"/>
              </a:lnSpc>
            </a:pPr>
            <a:r>
              <a:rPr lang="en-US" sz="2400" b="1">
                <a:solidFill>
                  <a:srgbClr val="0F172A"/>
                </a:solidFill>
                <a:latin typeface="Poppins"/>
                <a:cs typeface="Poppins"/>
                <a:sym typeface="Poppins"/>
              </a:rPr>
              <a:t>Q4. Which stores are underperforming, and why might that be?</a:t>
            </a:r>
            <a:endParaRPr lang="en-US" sz="2400"/>
          </a:p>
          <a:p>
            <a:pPr>
              <a:lnSpc>
                <a:spcPct val="120000"/>
              </a:lnSpc>
            </a:pPr>
            <a:endParaRPr lang="en-US" sz="2100" b="1">
              <a:solidFill>
                <a:srgbClr val="0F172A"/>
              </a:solidFill>
              <a:latin typeface="Poppins"/>
              <a:cs typeface="Poppins"/>
            </a:endParaRPr>
          </a:p>
        </p:txBody>
      </p:sp>
      <p:sp>
        <p:nvSpPr>
          <p:cNvPr id="296" name="Google Shape;296;p19"/>
          <p:cNvSpPr txBox="1"/>
          <p:nvPr/>
        </p:nvSpPr>
        <p:spPr>
          <a:xfrm>
            <a:off x="428625" y="681930"/>
            <a:ext cx="11334750" cy="18466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 b="0" i="0" u="none" strike="noStrike" cap="none">
                <a:solidFill>
                  <a:srgbClr val="64748B"/>
                </a:solidFill>
                <a:latin typeface="Inter"/>
                <a:ea typeface="Inter"/>
                <a:cs typeface="Inter"/>
                <a:sym typeface="Inter"/>
              </a:rPr>
              <a:t>Comparative revenue &amp; profit analysis across 50 retail locations to eliminate store-level variance</a:t>
            </a:r>
            <a:endParaRPr sz="1200"/>
          </a:p>
        </p:txBody>
      </p:sp>
      <p:sp>
        <p:nvSpPr>
          <p:cNvPr id="297" name="Google Shape;297;p19"/>
          <p:cNvSpPr txBox="1"/>
          <p:nvPr/>
        </p:nvSpPr>
        <p:spPr>
          <a:xfrm>
            <a:off x="428625" y="6576923"/>
            <a:ext cx="2989232" cy="12695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825" b="0" i="0" u="none" strike="noStrike" cap="none">
                <a:solidFill>
                  <a:srgbClr val="94A3B8"/>
                </a:solidFill>
                <a:latin typeface="Inter"/>
                <a:ea typeface="Inter"/>
                <a:cs typeface="Inter"/>
                <a:sym typeface="Inter"/>
              </a:rPr>
              <a:t>FashionWave Retail Sales Analysis</a:t>
            </a:r>
            <a:endParaRPr/>
          </a:p>
        </p:txBody>
      </p:sp>
      <p:sp>
        <p:nvSpPr>
          <p:cNvPr id="298" name="Google Shape;298;p19"/>
          <p:cNvSpPr txBox="1"/>
          <p:nvPr/>
        </p:nvSpPr>
        <p:spPr>
          <a:xfrm>
            <a:off x="10242970" y="6576923"/>
            <a:ext cx="1506028" cy="12311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800" b="0" i="0" u="none" strike="noStrike" cap="none">
                <a:solidFill>
                  <a:srgbClr val="94A3B8"/>
                </a:solidFill>
                <a:latin typeface="Inter"/>
                <a:ea typeface="Inter"/>
                <a:cs typeface="Inter"/>
                <a:sym typeface="Inter"/>
              </a:rPr>
              <a:t>Slide 7 of </a:t>
            </a:r>
            <a:r>
              <a:rPr lang="en-US" sz="800">
                <a:solidFill>
                  <a:srgbClr val="94A3B8"/>
                </a:solidFill>
                <a:latin typeface="Inter"/>
                <a:ea typeface="Inter"/>
                <a:cs typeface="Inter"/>
                <a:sym typeface="Inter"/>
              </a:rPr>
              <a:t>12</a:t>
            </a:r>
            <a:endParaRPr lang="en-US" sz="800">
              <a:solidFill>
                <a:srgbClr val="94A3B8"/>
              </a:solidFill>
              <a:latin typeface="Inter"/>
              <a:ea typeface="Inter"/>
            </a:endParaRPr>
          </a:p>
        </p:txBody>
      </p:sp>
      <p:pic>
        <p:nvPicPr>
          <p:cNvPr id="299" name="Google Shape;299;p19" descr="image.png"/>
          <p:cNvPicPr preferRelativeResize="0"/>
          <p:nvPr/>
        </p:nvPicPr>
        <p:blipFill rotWithShape="1">
          <a:blip r:embed="rId7">
            <a:alphaModFix/>
          </a:blip>
          <a:srcRect/>
          <a:stretch/>
        </p:blipFill>
        <p:spPr>
          <a:xfrm>
            <a:off x="428625" y="379065"/>
            <a:ext cx="252412" cy="228600"/>
          </a:xfrm>
          <a:prstGeom prst="rect">
            <a:avLst/>
          </a:prstGeom>
          <a:noFill/>
          <a:ln>
            <a:noFill/>
          </a:ln>
        </p:spPr>
      </p:pic>
      <p:pic>
        <p:nvPicPr>
          <p:cNvPr id="300" name="Google Shape;300;p19" descr="image.png"/>
          <p:cNvPicPr preferRelativeResize="0"/>
          <p:nvPr/>
        </p:nvPicPr>
        <p:blipFill rotWithShape="1">
          <a:blip r:embed="rId8">
            <a:alphaModFix/>
          </a:blip>
          <a:srcRect/>
          <a:stretch/>
        </p:blipFill>
        <p:spPr>
          <a:xfrm>
            <a:off x="599895" y="5887540"/>
            <a:ext cx="152400" cy="152400"/>
          </a:xfrm>
          <a:prstGeom prst="rect">
            <a:avLst/>
          </a:prstGeom>
          <a:noFill/>
          <a:ln>
            <a:noFill/>
          </a:ln>
        </p:spPr>
      </p:pic>
      <p:sp>
        <p:nvSpPr>
          <p:cNvPr id="301" name="Google Shape;301;p19"/>
          <p:cNvSpPr txBox="1"/>
          <p:nvPr/>
        </p:nvSpPr>
        <p:spPr>
          <a:xfrm>
            <a:off x="852217" y="5795176"/>
            <a:ext cx="10706100" cy="45704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>
              <a:lnSpc>
                <a:spcPct val="134888"/>
              </a:lnSpc>
            </a:pPr>
            <a:r>
              <a:rPr lang="en-US" sz="1100" b="1" i="0" u="none" strike="noStrike" cap="none">
                <a:solidFill>
                  <a:srgbClr val="166534"/>
                </a:solidFill>
                <a:latin typeface="Inter"/>
                <a:ea typeface="Inter"/>
                <a:cs typeface="Inter"/>
                <a:sym typeface="Inter"/>
              </a:rPr>
              <a:t>EXECUTIVE DIRECTIVE:</a:t>
            </a:r>
            <a:r>
              <a:rPr lang="en-US" sz="1100" b="0" i="0" u="none" strike="noStrike" cap="none">
                <a:solidFill>
                  <a:srgbClr val="166534"/>
                </a:solidFill>
                <a:latin typeface="Inter Medium"/>
                <a:ea typeface="Inter Medium"/>
                <a:cs typeface="Inter Medium"/>
                <a:sym typeface="Inter Medium"/>
              </a:rPr>
              <a:t> </a:t>
            </a:r>
            <a:r>
              <a:rPr lang="en-US" sz="1100" b="0" i="0" u="none" strike="noStrike" cap="none">
                <a:solidFill>
                  <a:srgbClr val="166534"/>
                </a:solidFill>
                <a:latin typeface="Inter Medium"/>
                <a:ea typeface="Inter Medium"/>
                <a:sym typeface="Inter Medium"/>
              </a:rPr>
              <a:t>STR037</a:t>
            </a:r>
            <a:r>
              <a:rPr lang="en-US" sz="1100">
                <a:solidFill>
                  <a:srgbClr val="166534"/>
                </a:solidFill>
                <a:latin typeface="Inter Medium"/>
                <a:ea typeface="Inter Medium"/>
                <a:sym typeface="Inter Medium"/>
              </a:rPr>
              <a:t>, the lowest-profit store, generates 55.3</a:t>
            </a:r>
            <a:r>
              <a:rPr lang="en-US" sz="1100" i="0" u="none" strike="noStrike" cap="none">
                <a:solidFill>
                  <a:srgbClr val="166534"/>
                </a:solidFill>
                <a:latin typeface="Inter Medium"/>
                <a:ea typeface="Inter Medium"/>
                <a:sym typeface="Inter Medium"/>
              </a:rPr>
              <a:t>% </a:t>
            </a:r>
            <a:r>
              <a:rPr lang="en-US" sz="1100">
                <a:solidFill>
                  <a:srgbClr val="166534"/>
                </a:solidFill>
                <a:latin typeface="Inter Medium"/>
                <a:ea typeface="Inter Medium"/>
                <a:sym typeface="Inter Medium"/>
              </a:rPr>
              <a:t>less Net Profit than STR018 (₹1.70M </a:t>
            </a:r>
            <a:r>
              <a:rPr lang="en-US" sz="1100" b="0" i="0" u="none" strike="noStrike" cap="none">
                <a:solidFill>
                  <a:srgbClr val="166534"/>
                </a:solidFill>
                <a:latin typeface="Inter Medium"/>
                <a:ea typeface="Inter Medium"/>
                <a:sym typeface="Inter Medium"/>
              </a:rPr>
              <a:t>vs </a:t>
            </a:r>
            <a:r>
              <a:rPr lang="en-US" sz="1100">
                <a:solidFill>
                  <a:srgbClr val="166534"/>
                </a:solidFill>
                <a:latin typeface="Inter Medium"/>
                <a:ea typeface="Inter Medium"/>
                <a:sym typeface="Inter Medium"/>
              </a:rPr>
              <a:t>₹3.79M), despite healthy 75.3% margin</a:t>
            </a:r>
            <a:r>
              <a:rPr lang="en-US" sz="1100" b="0" i="0" u="none" strike="noStrike" cap="none">
                <a:solidFill>
                  <a:srgbClr val="166534"/>
                </a:solidFill>
                <a:latin typeface="Inter Medium"/>
                <a:ea typeface="Inter Medium"/>
                <a:sym typeface="Inter Medium"/>
              </a:rPr>
              <a:t>. </a:t>
            </a:r>
            <a:r>
              <a:rPr lang="en-US" sz="1100">
                <a:solidFill>
                  <a:srgbClr val="166534"/>
                </a:solidFill>
                <a:latin typeface="Inter Medium"/>
                <a:ea typeface="Inter Medium"/>
                <a:sym typeface="Inter Medium"/>
              </a:rPr>
              <a:t>The gap is driven by lower transaction volume </a:t>
            </a:r>
            <a:r>
              <a:rPr lang="en-US" sz="1100" b="0" i="0" u="none" strike="noStrike" cap="none">
                <a:solidFill>
                  <a:srgbClr val="166534"/>
                </a:solidFill>
                <a:latin typeface="Inter Medium"/>
                <a:ea typeface="Inter Medium"/>
                <a:sym typeface="Inter Medium"/>
              </a:rPr>
              <a:t>and </a:t>
            </a:r>
            <a:r>
              <a:rPr lang="en-US" sz="1100">
                <a:solidFill>
                  <a:srgbClr val="166534"/>
                </a:solidFill>
                <a:latin typeface="Inter Medium"/>
                <a:ea typeface="Inter Medium"/>
                <a:sym typeface="Inter Medium"/>
              </a:rPr>
              <a:t>smaller basket sizes—not margin erosion</a:t>
            </a:r>
            <a:r>
              <a:rPr lang="en-US" sz="1100" b="0" i="0" u="none" strike="noStrike" cap="none">
                <a:solidFill>
                  <a:srgbClr val="166534"/>
                </a:solidFill>
                <a:latin typeface="Inter Medium"/>
                <a:ea typeface="Inter Medium"/>
                <a:sym typeface="Inter Medium"/>
              </a:rPr>
              <a:t>.</a:t>
            </a:r>
            <a:endParaRPr lang="en-US" sz="1100"/>
          </a:p>
        </p:txBody>
      </p:sp>
      <p:sp>
        <p:nvSpPr>
          <p:cNvPr id="302" name="Google Shape;302;p19"/>
          <p:cNvSpPr txBox="1"/>
          <p:nvPr/>
        </p:nvSpPr>
        <p:spPr>
          <a:xfrm>
            <a:off x="8757249" y="943525"/>
            <a:ext cx="3166003" cy="2154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1430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b="0" i="0" u="none" strike="noStrike" cap="none">
                <a:solidFill>
                  <a:srgbClr val="0284C7"/>
                </a:solidFill>
                <a:latin typeface="Poppins SemiBold"/>
                <a:ea typeface="Poppins SemiBold"/>
                <a:cs typeface="Poppins SemiBold"/>
                <a:sym typeface="Poppins SemiBold"/>
              </a:rPr>
              <a:t>Performance Spread</a:t>
            </a:r>
            <a:endParaRPr/>
          </a:p>
        </p:txBody>
      </p:sp>
      <p:sp>
        <p:nvSpPr>
          <p:cNvPr id="303" name="Google Shape;303;p19"/>
          <p:cNvSpPr txBox="1"/>
          <p:nvPr/>
        </p:nvSpPr>
        <p:spPr>
          <a:xfrm>
            <a:off x="8541589" y="1186504"/>
            <a:ext cx="3438345" cy="98180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171450" indent="-171450">
              <a:lnSpc>
                <a:spcPct val="144969"/>
              </a:lnSpc>
              <a:buFont typeface="Wingdings"/>
              <a:buChar char="ü"/>
            </a:pPr>
            <a:r>
              <a:rPr lang="en-US" sz="1100" b="0" i="0" u="none" strike="noStrike" cap="none">
                <a:solidFill>
                  <a:srgbClr val="475569"/>
                </a:solidFill>
                <a:latin typeface="Inter"/>
                <a:ea typeface="Inter"/>
                <a:sym typeface="Inter"/>
              </a:rPr>
              <a:t>Top 5 </a:t>
            </a:r>
            <a:r>
              <a:rPr lang="en-US" sz="1100">
                <a:solidFill>
                  <a:srgbClr val="475569"/>
                </a:solidFill>
                <a:latin typeface="Inter"/>
                <a:ea typeface="Inter"/>
              </a:rPr>
              <a:t>stores average </a:t>
            </a:r>
            <a:r>
              <a:rPr lang="en-US" sz="1100" b="1">
                <a:solidFill>
                  <a:srgbClr val="475569"/>
                </a:solidFill>
                <a:latin typeface="Inter"/>
                <a:ea typeface="Inter"/>
              </a:rPr>
              <a:t>₹4.81M Revenue and</a:t>
            </a:r>
            <a:r>
              <a:rPr lang="en-US" sz="1100">
                <a:solidFill>
                  <a:srgbClr val="475569"/>
                </a:solidFill>
                <a:latin typeface="Inter"/>
                <a:ea typeface="Inter"/>
              </a:rPr>
              <a:t> ₹3.63M Profit per store.</a:t>
            </a:r>
            <a:endParaRPr lang="en-US" sz="1100">
              <a:ea typeface="Inter"/>
            </a:endParaRPr>
          </a:p>
          <a:p>
            <a:pPr marL="171450" indent="-171450">
              <a:lnSpc>
                <a:spcPct val="144969"/>
              </a:lnSpc>
              <a:buFont typeface="Wingdings"/>
              <a:buChar char="ü"/>
            </a:pPr>
            <a:r>
              <a:rPr lang="en-US" sz="1100">
                <a:solidFill>
                  <a:srgbClr val="475569"/>
                </a:solidFill>
                <a:latin typeface="Inter"/>
                <a:ea typeface="Inter"/>
              </a:rPr>
              <a:t> ₹14,881 AOV, with average profit margins  of 75.3%.</a:t>
            </a:r>
            <a:endParaRPr lang="en-US" sz="1100"/>
          </a:p>
        </p:txBody>
      </p:sp>
      <p:sp>
        <p:nvSpPr>
          <p:cNvPr id="304" name="Google Shape;304;p19"/>
          <p:cNvSpPr txBox="1"/>
          <p:nvPr/>
        </p:nvSpPr>
        <p:spPr>
          <a:xfrm>
            <a:off x="8546261" y="2338129"/>
            <a:ext cx="3640500" cy="2154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42875" tIns="0" rIns="0" bIns="0" anchor="t" anchorCtr="0">
            <a:spAutoFit/>
          </a:bodyPr>
          <a:lstStyle/>
          <a:p>
            <a:r>
              <a:rPr lang="en-US">
                <a:solidFill>
                  <a:srgbClr val="D97706"/>
                </a:solidFill>
                <a:latin typeface="Poppins SemiBold"/>
                <a:cs typeface="Poppins SemiBold"/>
                <a:sym typeface="Poppins SemiBold"/>
              </a:rPr>
              <a:t>Volume &amp; Basket Bottleneck</a:t>
            </a:r>
            <a:endParaRPr lang="en-US"/>
          </a:p>
        </p:txBody>
      </p:sp>
      <p:sp>
        <p:nvSpPr>
          <p:cNvPr id="305" name="Google Shape;305;p19"/>
          <p:cNvSpPr txBox="1"/>
          <p:nvPr/>
        </p:nvSpPr>
        <p:spPr>
          <a:xfrm>
            <a:off x="8488752" y="2581106"/>
            <a:ext cx="3467100" cy="122725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171450" indent="-171450">
              <a:lnSpc>
                <a:spcPct val="144969"/>
              </a:lnSpc>
              <a:buFont typeface="Wingdings"/>
              <a:buChar char="ü"/>
            </a:pPr>
            <a:r>
              <a:rPr lang="en-US" sz="1100">
                <a:solidFill>
                  <a:srgbClr val="475569"/>
                </a:solidFill>
                <a:latin typeface="Inter"/>
                <a:ea typeface="Inter"/>
                <a:sym typeface="Inter"/>
              </a:rPr>
              <a:t>Bottom </a:t>
            </a:r>
            <a:r>
              <a:rPr lang="en-US" sz="1100" b="0" i="0" u="none" strike="noStrike" cap="none">
                <a:solidFill>
                  <a:srgbClr val="475569"/>
                </a:solidFill>
                <a:latin typeface="Inter"/>
                <a:ea typeface="Inter"/>
                <a:sym typeface="Inter"/>
              </a:rPr>
              <a:t>stores </a:t>
            </a:r>
            <a:r>
              <a:rPr lang="en-US" sz="1100">
                <a:solidFill>
                  <a:srgbClr val="475569"/>
                </a:solidFill>
                <a:latin typeface="Inter"/>
                <a:ea typeface="Inter"/>
                <a:sym typeface="Inter"/>
              </a:rPr>
              <a:t>maintain healthy 72.2%–76.4% profit margins.</a:t>
            </a:r>
            <a:endParaRPr lang="en-US" sz="1100">
              <a:ea typeface="Inter"/>
            </a:endParaRPr>
          </a:p>
          <a:p>
            <a:pPr marL="171450" indent="-171450">
              <a:lnSpc>
                <a:spcPct val="144969"/>
              </a:lnSpc>
              <a:buFont typeface="Wingdings"/>
              <a:buChar char="ü"/>
            </a:pPr>
            <a:r>
              <a:rPr lang="en-US" sz="1100">
                <a:solidFill>
                  <a:srgbClr val="475569"/>
                </a:solidFill>
                <a:latin typeface="Inter"/>
                <a:ea typeface="Inter"/>
                <a:sym typeface="Inter"/>
              </a:rPr>
              <a:t>Lower transaction volumes </a:t>
            </a:r>
            <a:r>
              <a:rPr lang="en-US" sz="1100" b="0" i="0" u="none" strike="noStrike" cap="none">
                <a:solidFill>
                  <a:srgbClr val="475569"/>
                </a:solidFill>
                <a:latin typeface="Inter"/>
                <a:ea typeface="Inter"/>
                <a:sym typeface="Inter"/>
              </a:rPr>
              <a:t>(</a:t>
            </a:r>
            <a:r>
              <a:rPr lang="en-US" sz="1100">
                <a:solidFill>
                  <a:srgbClr val="475569"/>
                </a:solidFill>
                <a:latin typeface="Inter"/>
                <a:ea typeface="Inter"/>
                <a:sym typeface="Inter"/>
              </a:rPr>
              <a:t>269–294 vs 316–337</a:t>
            </a:r>
            <a:r>
              <a:rPr lang="en-US" sz="1100" b="0" i="0" u="none" strike="noStrike" cap="none">
                <a:solidFill>
                  <a:srgbClr val="475569"/>
                </a:solidFill>
                <a:latin typeface="Inter"/>
                <a:ea typeface="Inter"/>
                <a:sym typeface="Inter"/>
              </a:rPr>
              <a:t>) and </a:t>
            </a:r>
            <a:r>
              <a:rPr lang="en-US" sz="1100">
                <a:solidFill>
                  <a:srgbClr val="475569"/>
                </a:solidFill>
                <a:latin typeface="Inter"/>
                <a:ea typeface="Inter"/>
                <a:sym typeface="Inter"/>
              </a:rPr>
              <a:t>smaller basket sizes, with AOV of ₹7,997–₹8,922 limits profit potential.</a:t>
            </a:r>
            <a:endParaRPr lang="en-US" sz="1100"/>
          </a:p>
        </p:txBody>
      </p:sp>
      <p:sp>
        <p:nvSpPr>
          <p:cNvPr id="306" name="Google Shape;306;p19"/>
          <p:cNvSpPr txBox="1"/>
          <p:nvPr/>
        </p:nvSpPr>
        <p:spPr>
          <a:xfrm>
            <a:off x="8752217" y="4049035"/>
            <a:ext cx="3223512" cy="2154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14300" tIns="0" rIns="0" bIns="0" anchor="t" anchorCtr="0">
            <a:spAutoFit/>
          </a:bodyPr>
          <a:lstStyle/>
          <a:p>
            <a:r>
              <a:rPr lang="en-US">
                <a:solidFill>
                  <a:srgbClr val="16A34A"/>
                </a:solidFill>
                <a:latin typeface="Poppins SemiBold"/>
                <a:ea typeface="Poppins SemiBold"/>
                <a:cs typeface="Poppins SemiBold"/>
                <a:sym typeface="Poppins SemiBold"/>
              </a:rPr>
              <a:t>Turnaround Action</a:t>
            </a:r>
            <a:endParaRPr lang="en-US"/>
          </a:p>
        </p:txBody>
      </p:sp>
      <p:sp>
        <p:nvSpPr>
          <p:cNvPr id="307" name="Google Shape;307;p19"/>
          <p:cNvSpPr txBox="1"/>
          <p:nvPr/>
        </p:nvSpPr>
        <p:spPr>
          <a:xfrm>
            <a:off x="8507801" y="4320767"/>
            <a:ext cx="3467100" cy="98180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171450" indent="-171450">
              <a:lnSpc>
                <a:spcPct val="144969"/>
              </a:lnSpc>
              <a:buFont typeface="Wingdings"/>
              <a:buChar char="ü"/>
            </a:pPr>
            <a:r>
              <a:rPr lang="en-US" sz="1100">
                <a:solidFill>
                  <a:srgbClr val="475569"/>
                </a:solidFill>
                <a:latin typeface="Inter"/>
                <a:ea typeface="Inter"/>
                <a:sym typeface="Inter"/>
              </a:rPr>
              <a:t>Reallocate digital ad spend to Tier-2/3 stores.</a:t>
            </a:r>
            <a:endParaRPr lang="en-US" sz="1100">
              <a:ea typeface="Inter"/>
            </a:endParaRPr>
          </a:p>
          <a:p>
            <a:pPr marL="171450" indent="-171450">
              <a:lnSpc>
                <a:spcPct val="144969"/>
              </a:lnSpc>
              <a:buFont typeface="Wingdings"/>
              <a:buChar char="ü"/>
            </a:pPr>
            <a:r>
              <a:rPr lang="en-US" sz="1100">
                <a:solidFill>
                  <a:srgbClr val="475569"/>
                </a:solidFill>
                <a:latin typeface="Inter"/>
                <a:ea typeface="Inter"/>
                <a:sym typeface="Inter"/>
              </a:rPr>
              <a:t>Train regional </a:t>
            </a:r>
            <a:r>
              <a:rPr lang="en-US" sz="1100" b="0" i="0" u="none" strike="noStrike" cap="none">
                <a:solidFill>
                  <a:srgbClr val="475569"/>
                </a:solidFill>
                <a:latin typeface="Inter"/>
                <a:ea typeface="Inter"/>
                <a:sym typeface="Inter"/>
              </a:rPr>
              <a:t>staff</a:t>
            </a:r>
            <a:r>
              <a:rPr lang="en-US" sz="1100">
                <a:solidFill>
                  <a:srgbClr val="475569"/>
                </a:solidFill>
                <a:latin typeface="Inter"/>
                <a:ea typeface="Inter"/>
                <a:sym typeface="Inter"/>
              </a:rPr>
              <a:t> to cross-sell high-margin accessories</a:t>
            </a:r>
            <a:r>
              <a:rPr lang="en-US" sz="1100" b="0" i="0" u="none" strike="noStrike" cap="none">
                <a:solidFill>
                  <a:srgbClr val="475569"/>
                </a:solidFill>
                <a:latin typeface="Inter"/>
                <a:ea typeface="Inter"/>
                <a:sym typeface="Inter"/>
              </a:rPr>
              <a:t> </a:t>
            </a:r>
            <a:endParaRPr lang="en-US" sz="1100">
              <a:ea typeface="Inter"/>
            </a:endParaRPr>
          </a:p>
          <a:p>
            <a:pPr marL="171450" indent="-171450">
              <a:lnSpc>
                <a:spcPct val="144969"/>
              </a:lnSpc>
              <a:buFont typeface="Wingdings"/>
              <a:buChar char="ü"/>
            </a:pPr>
            <a:r>
              <a:rPr lang="en-US" sz="1100">
                <a:solidFill>
                  <a:srgbClr val="475569"/>
                </a:solidFill>
                <a:latin typeface="Inter"/>
                <a:ea typeface="Inter"/>
                <a:sym typeface="Inter"/>
              </a:rPr>
              <a:t>Lift AOV toward the </a:t>
            </a:r>
            <a:r>
              <a:rPr lang="en-US" sz="1100" i="0" u="none" strike="noStrike" cap="none">
                <a:solidFill>
                  <a:srgbClr val="475569"/>
                </a:solidFill>
                <a:latin typeface="Inter"/>
                <a:ea typeface="Inter"/>
                <a:sym typeface="Inter"/>
              </a:rPr>
              <a:t>₹</a:t>
            </a:r>
            <a:r>
              <a:rPr lang="en-US" sz="1100">
                <a:solidFill>
                  <a:srgbClr val="475569"/>
                </a:solidFill>
                <a:latin typeface="Inter"/>
                <a:ea typeface="Inter"/>
                <a:sym typeface="Inter"/>
              </a:rPr>
              <a:t>12,000 baseline</a:t>
            </a:r>
            <a:r>
              <a:rPr lang="en-US" sz="1100" b="0" i="0" u="none" strike="noStrike" cap="none">
                <a:solidFill>
                  <a:srgbClr val="475569"/>
                </a:solidFill>
                <a:latin typeface="Inter"/>
                <a:ea typeface="Inter"/>
                <a:sym typeface="Inter"/>
              </a:rPr>
              <a:t>.</a:t>
            </a:r>
            <a:endParaRPr lang="en-US" sz="1100"/>
          </a:p>
        </p:txBody>
      </p:sp>
      <p:pic>
        <p:nvPicPr>
          <p:cNvPr id="308" name="Google Shape;308;p19" descr="image.png"/>
          <p:cNvPicPr preferRelativeResize="0"/>
          <p:nvPr/>
        </p:nvPicPr>
        <p:blipFill rotWithShape="1">
          <a:blip r:embed="rId9">
            <a:alphaModFix/>
          </a:blip>
          <a:srcRect/>
          <a:stretch/>
        </p:blipFill>
        <p:spPr>
          <a:xfrm>
            <a:off x="8512835" y="900215"/>
            <a:ext cx="243696" cy="301205"/>
          </a:xfrm>
          <a:prstGeom prst="rect">
            <a:avLst/>
          </a:prstGeom>
          <a:noFill/>
          <a:ln>
            <a:noFill/>
          </a:ln>
        </p:spPr>
      </p:pic>
      <p:pic>
        <p:nvPicPr>
          <p:cNvPr id="309" name="Google Shape;309;p19" descr="image.png"/>
          <p:cNvPicPr preferRelativeResize="0"/>
          <p:nvPr/>
        </p:nvPicPr>
        <p:blipFill rotWithShape="1">
          <a:blip r:embed="rId10">
            <a:alphaModFix/>
          </a:blip>
          <a:srcRect/>
          <a:stretch/>
        </p:blipFill>
        <p:spPr>
          <a:xfrm>
            <a:off x="8474375" y="2309194"/>
            <a:ext cx="186007" cy="214941"/>
          </a:xfrm>
          <a:prstGeom prst="rect">
            <a:avLst/>
          </a:prstGeom>
          <a:noFill/>
          <a:ln>
            <a:noFill/>
          </a:ln>
        </p:spPr>
      </p:pic>
      <p:pic>
        <p:nvPicPr>
          <p:cNvPr id="310" name="Google Shape;310;p19" descr="image.png"/>
          <p:cNvPicPr preferRelativeResize="0"/>
          <p:nvPr/>
        </p:nvPicPr>
        <p:blipFill rotWithShape="1">
          <a:blip r:embed="rId11">
            <a:alphaModFix/>
          </a:blip>
          <a:srcRect/>
          <a:stretch/>
        </p:blipFill>
        <p:spPr>
          <a:xfrm>
            <a:off x="8507801" y="4048855"/>
            <a:ext cx="200564" cy="200564"/>
          </a:xfrm>
          <a:prstGeom prst="rect">
            <a:avLst/>
          </a:prstGeom>
          <a:noFill/>
          <a:ln>
            <a:noFill/>
          </a:ln>
        </p:spPr>
      </p:pic>
      <p:graphicFrame>
        <p:nvGraphicFramePr>
          <p:cNvPr id="2" name="Chart 1">
            <a:extLst>
              <a:ext uri="{FF2B5EF4-FFF2-40B4-BE49-F238E27FC236}">
                <a16:creationId xmlns:a16="http://schemas.microsoft.com/office/drawing/2014/main" id="{714B0C55-9290-F169-AC68-E7087898070E}"/>
              </a:ext>
              <a:ext uri="{147F2762-F138-4A5C-976F-8EAC2B608ADB}">
                <a16:predDERef xmlns:a16="http://schemas.microsoft.com/office/drawing/2014/main" pred="{EFAD321F-8037-2B1D-2782-E4F02E777565}"/>
              </a:ext>
            </a:extLst>
          </p:cNvPr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2967192011"/>
              </p:ext>
            </p:extLst>
          </p:nvPr>
        </p:nvGraphicFramePr>
        <p:xfrm>
          <a:off x="234891" y="897688"/>
          <a:ext cx="5032073" cy="2254368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12"/>
          </a:graphicData>
        </a:graphic>
      </p:graphicFrame>
      <p:graphicFrame>
        <p:nvGraphicFramePr>
          <p:cNvPr id="3" name="Chart 2">
            <a:extLst>
              <a:ext uri="{FF2B5EF4-FFF2-40B4-BE49-F238E27FC236}">
                <a16:creationId xmlns:a16="http://schemas.microsoft.com/office/drawing/2014/main" id="{56209810-D7FD-4FC7-8A24-41C581FD9C33}"/>
              </a:ext>
              <a:ext uri="{147F2762-F138-4A5C-976F-8EAC2B608ADB}">
                <a16:predDERef xmlns:a16="http://schemas.microsoft.com/office/drawing/2014/main" pred="{22B3D5C7-5EA9-82A8-373B-AD2C942B4ED3}"/>
              </a:ext>
            </a:extLst>
          </p:cNvPr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1738331566"/>
              </p:ext>
            </p:extLst>
          </p:nvPr>
        </p:nvGraphicFramePr>
        <p:xfrm>
          <a:off x="231656" y="3068668"/>
          <a:ext cx="5024167" cy="2239991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13"/>
          </a:graphicData>
        </a:graphic>
      </p:graphicFrame>
      <p:graphicFrame>
        <p:nvGraphicFramePr>
          <p:cNvPr id="6" name="Table 5">
            <a:extLst>
              <a:ext uri="{FF2B5EF4-FFF2-40B4-BE49-F238E27FC236}">
                <a16:creationId xmlns:a16="http://schemas.microsoft.com/office/drawing/2014/main" id="{7075A137-0009-852B-B79C-5C59883AD707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204663426"/>
              </p:ext>
            </p:extLst>
          </p:nvPr>
        </p:nvGraphicFramePr>
        <p:xfrm>
          <a:off x="4802037" y="1006415"/>
          <a:ext cx="3437101" cy="2072395"/>
        </p:xfrm>
        <a:graphic>
          <a:graphicData uri="http://schemas.openxmlformats.org/drawingml/2006/table">
            <a:tbl>
              <a:tblPr bandRow="1">
                <a:tableStyleId>{0E3FDE45-AF77-4B5C-9715-49D594BDF05E}</a:tableStyleId>
              </a:tblPr>
              <a:tblGrid>
                <a:gridCol w="680934">
                  <a:extLst>
                    <a:ext uri="{9D8B030D-6E8A-4147-A177-3AD203B41FA5}">
                      <a16:colId xmlns:a16="http://schemas.microsoft.com/office/drawing/2014/main" val="2587154035"/>
                    </a:ext>
                  </a:extLst>
                </a:gridCol>
                <a:gridCol w="551234">
                  <a:extLst>
                    <a:ext uri="{9D8B030D-6E8A-4147-A177-3AD203B41FA5}">
                      <a16:colId xmlns:a16="http://schemas.microsoft.com/office/drawing/2014/main" val="4126304421"/>
                    </a:ext>
                  </a:extLst>
                </a:gridCol>
                <a:gridCol w="535020">
                  <a:extLst>
                    <a:ext uri="{9D8B030D-6E8A-4147-A177-3AD203B41FA5}">
                      <a16:colId xmlns:a16="http://schemas.microsoft.com/office/drawing/2014/main" val="1483638148"/>
                    </a:ext>
                  </a:extLst>
                </a:gridCol>
                <a:gridCol w="713360">
                  <a:extLst>
                    <a:ext uri="{9D8B030D-6E8A-4147-A177-3AD203B41FA5}">
                      <a16:colId xmlns:a16="http://schemas.microsoft.com/office/drawing/2014/main" val="3288096188"/>
                    </a:ext>
                  </a:extLst>
                </a:gridCol>
                <a:gridCol w="956553">
                  <a:extLst>
                    <a:ext uri="{9D8B030D-6E8A-4147-A177-3AD203B41FA5}">
                      <a16:colId xmlns:a16="http://schemas.microsoft.com/office/drawing/2014/main" val="542711436"/>
                    </a:ext>
                  </a:extLst>
                </a:gridCol>
              </a:tblGrid>
              <a:tr h="450520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900" b="1">
                          <a:effectLst/>
                          <a:latin typeface="Aptos Display"/>
                        </a:rPr>
                        <a:t>Store ID</a:t>
                      </a:r>
                    </a:p>
                  </a:txBody>
                  <a:tcPr anchor="ctr">
                    <a:solidFill>
                      <a:srgbClr val="0A976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900" b="1">
                          <a:effectLst/>
                          <a:latin typeface="Aptos Display"/>
                        </a:rPr>
                        <a:t>Units Sold</a:t>
                      </a:r>
                    </a:p>
                  </a:txBody>
                  <a:tcPr anchor="ctr">
                    <a:solidFill>
                      <a:srgbClr val="0A976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900" b="1">
                          <a:effectLst/>
                          <a:latin typeface="Aptos Display"/>
                        </a:rPr>
                        <a:t>Transactions</a:t>
                      </a:r>
                    </a:p>
                  </a:txBody>
                  <a:tcPr anchor="ctr">
                    <a:solidFill>
                      <a:srgbClr val="0A976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900" b="1">
                          <a:effectLst/>
                          <a:latin typeface="Aptos Display"/>
                        </a:rPr>
                        <a:t>Profit Margin %</a:t>
                      </a:r>
                    </a:p>
                  </a:txBody>
                  <a:tcPr anchor="ctr">
                    <a:solidFill>
                      <a:srgbClr val="0A976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900" b="1">
                          <a:effectLst/>
                          <a:latin typeface="Aptos Display"/>
                        </a:rPr>
                        <a:t>Avg Order Value</a:t>
                      </a:r>
                    </a:p>
                  </a:txBody>
                  <a:tcPr anchor="ctr">
                    <a:solidFill>
                      <a:srgbClr val="0A976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30091654"/>
                  </a:ext>
                </a:extLst>
              </a:tr>
              <a:tr h="324375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900">
                          <a:effectLst/>
                          <a:latin typeface="Aptos Display"/>
                        </a:rPr>
                        <a:t>STR018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900">
                          <a:effectLst/>
                          <a:latin typeface="Aptos Display"/>
                        </a:rPr>
                        <a:t>1,155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900">
                          <a:effectLst/>
                          <a:latin typeface="Aptos Display"/>
                        </a:rPr>
                        <a:t>322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900">
                          <a:effectLst/>
                          <a:latin typeface="Aptos Display"/>
                        </a:rPr>
                        <a:t>76.43%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900">
                          <a:effectLst/>
                          <a:latin typeface="Aptos Display"/>
                        </a:rPr>
                        <a:t>₹15,413.46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941998773"/>
                  </a:ext>
                </a:extLst>
              </a:tr>
              <a:tr h="324375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900">
                          <a:effectLst/>
                          <a:latin typeface="Aptos Display"/>
                        </a:rPr>
                        <a:t>STR008</a:t>
                      </a:r>
                    </a:p>
                  </a:txBody>
                  <a:tcPr anchor="ctr">
                    <a:solidFill>
                      <a:schemeClr val="accent3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900">
                          <a:effectLst/>
                          <a:latin typeface="Aptos Display"/>
                        </a:rPr>
                        <a:t>1,173</a:t>
                      </a:r>
                    </a:p>
                  </a:txBody>
                  <a:tcPr anchor="ctr">
                    <a:solidFill>
                      <a:schemeClr val="accent3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900">
                          <a:effectLst/>
                          <a:latin typeface="Aptos Display"/>
                        </a:rPr>
                        <a:t>317</a:t>
                      </a:r>
                    </a:p>
                  </a:txBody>
                  <a:tcPr anchor="ctr">
                    <a:solidFill>
                      <a:schemeClr val="accent3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900">
                          <a:effectLst/>
                          <a:latin typeface="Aptos Display"/>
                        </a:rPr>
                        <a:t>76.10%</a:t>
                      </a:r>
                    </a:p>
                  </a:txBody>
                  <a:tcPr anchor="ctr">
                    <a:solidFill>
                      <a:schemeClr val="accent3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900">
                          <a:effectLst/>
                          <a:latin typeface="Aptos Display"/>
                        </a:rPr>
                        <a:t>₹14,954.08</a:t>
                      </a:r>
                    </a:p>
                  </a:txBody>
                  <a:tcPr anchor="ctr">
                    <a:solidFill>
                      <a:schemeClr val="accent3">
                        <a:lumMod val="40000"/>
                        <a:lumOff val="6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118376330"/>
                  </a:ext>
                </a:extLst>
              </a:tr>
              <a:tr h="324375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900">
                          <a:effectLst/>
                          <a:latin typeface="Aptos Display"/>
                        </a:rPr>
                        <a:t>STR028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900">
                          <a:effectLst/>
                          <a:latin typeface="Aptos Display"/>
                        </a:rPr>
                        <a:t>1,170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900">
                          <a:effectLst/>
                          <a:latin typeface="Aptos Display"/>
                        </a:rPr>
                        <a:t>322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900">
                          <a:effectLst/>
                          <a:latin typeface="Aptos Display"/>
                        </a:rPr>
                        <a:t>74.82%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900">
                          <a:effectLst/>
                          <a:latin typeface="Aptos Display"/>
                        </a:rPr>
                        <a:t>₹14,931.54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353660867"/>
                  </a:ext>
                </a:extLst>
              </a:tr>
              <a:tr h="324375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900">
                          <a:effectLst/>
                          <a:latin typeface="Aptos Display"/>
                        </a:rPr>
                        <a:t>STR025</a:t>
                      </a:r>
                    </a:p>
                  </a:txBody>
                  <a:tcPr anchor="ctr">
                    <a:solidFill>
                      <a:schemeClr val="accent3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900">
                          <a:effectLst/>
                          <a:latin typeface="Aptos Display"/>
                        </a:rPr>
                        <a:t>1,116</a:t>
                      </a:r>
                    </a:p>
                  </a:txBody>
                  <a:tcPr anchor="ctr">
                    <a:solidFill>
                      <a:schemeClr val="accent3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900">
                          <a:effectLst/>
                          <a:latin typeface="Aptos Display"/>
                        </a:rPr>
                        <a:t>316</a:t>
                      </a:r>
                    </a:p>
                  </a:txBody>
                  <a:tcPr anchor="ctr">
                    <a:solidFill>
                      <a:schemeClr val="accent3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900">
                          <a:effectLst/>
                          <a:latin typeface="Aptos Display"/>
                        </a:rPr>
                        <a:t>76.27%</a:t>
                      </a:r>
                    </a:p>
                  </a:txBody>
                  <a:tcPr anchor="ctr">
                    <a:solidFill>
                      <a:schemeClr val="accent3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900">
                          <a:effectLst/>
                          <a:latin typeface="Aptos Display"/>
                        </a:rPr>
                        <a:t>₹14,882.99</a:t>
                      </a:r>
                    </a:p>
                  </a:txBody>
                  <a:tcPr anchor="ctr">
                    <a:solidFill>
                      <a:schemeClr val="accent3">
                        <a:lumMod val="40000"/>
                        <a:lumOff val="6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65181526"/>
                  </a:ext>
                </a:extLst>
              </a:tr>
              <a:tr h="324375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900">
                          <a:effectLst/>
                          <a:latin typeface="Aptos Display"/>
                        </a:rPr>
                        <a:t>STR041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900">
                          <a:effectLst/>
                          <a:latin typeface="Aptos Display"/>
                        </a:rPr>
                        <a:t>1,168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900">
                          <a:effectLst/>
                          <a:latin typeface="Aptos Display"/>
                        </a:rPr>
                        <a:t>337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900">
                          <a:effectLst/>
                          <a:latin typeface="Aptos Display"/>
                        </a:rPr>
                        <a:t>74.32%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900">
                          <a:effectLst/>
                          <a:latin typeface="Aptos Display"/>
                        </a:rPr>
                        <a:t>₹14,226.20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430634060"/>
                  </a:ext>
                </a:extLst>
              </a:tr>
            </a:tbl>
          </a:graphicData>
        </a:graphic>
      </p:graphicFrame>
      <p:graphicFrame>
        <p:nvGraphicFramePr>
          <p:cNvPr id="8" name="Table 7">
            <a:extLst>
              <a:ext uri="{FF2B5EF4-FFF2-40B4-BE49-F238E27FC236}">
                <a16:creationId xmlns:a16="http://schemas.microsoft.com/office/drawing/2014/main" id="{5A038EA6-3100-11B9-282A-3FCD3C24A95B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448536779"/>
              </p:ext>
            </p:extLst>
          </p:nvPr>
        </p:nvGraphicFramePr>
        <p:xfrm>
          <a:off x="4773283" y="3163018"/>
          <a:ext cx="3490167" cy="2138798"/>
        </p:xfrm>
        <a:graphic>
          <a:graphicData uri="http://schemas.openxmlformats.org/drawingml/2006/table">
            <a:tbl>
              <a:tblPr bandRow="1">
                <a:tableStyleId>{0E3FDE45-AF77-4B5C-9715-49D594BDF05E}</a:tableStyleId>
              </a:tblPr>
              <a:tblGrid>
                <a:gridCol w="648509">
                  <a:extLst>
                    <a:ext uri="{9D8B030D-6E8A-4147-A177-3AD203B41FA5}">
                      <a16:colId xmlns:a16="http://schemas.microsoft.com/office/drawing/2014/main" val="1007163665"/>
                    </a:ext>
                  </a:extLst>
                </a:gridCol>
                <a:gridCol w="616084">
                  <a:extLst>
                    <a:ext uri="{9D8B030D-6E8A-4147-A177-3AD203B41FA5}">
                      <a16:colId xmlns:a16="http://schemas.microsoft.com/office/drawing/2014/main" val="673794855"/>
                    </a:ext>
                  </a:extLst>
                </a:gridCol>
                <a:gridCol w="535020">
                  <a:extLst>
                    <a:ext uri="{9D8B030D-6E8A-4147-A177-3AD203B41FA5}">
                      <a16:colId xmlns:a16="http://schemas.microsoft.com/office/drawing/2014/main" val="3517527666"/>
                    </a:ext>
                  </a:extLst>
                </a:gridCol>
                <a:gridCol w="713361">
                  <a:extLst>
                    <a:ext uri="{9D8B030D-6E8A-4147-A177-3AD203B41FA5}">
                      <a16:colId xmlns:a16="http://schemas.microsoft.com/office/drawing/2014/main" val="3570949987"/>
                    </a:ext>
                  </a:extLst>
                </a:gridCol>
                <a:gridCol w="977193">
                  <a:extLst>
                    <a:ext uri="{9D8B030D-6E8A-4147-A177-3AD203B41FA5}">
                      <a16:colId xmlns:a16="http://schemas.microsoft.com/office/drawing/2014/main" val="3696676323"/>
                    </a:ext>
                  </a:extLst>
                </a:gridCol>
              </a:tblGrid>
              <a:tr h="493568">
                <a:tc>
                  <a:txBody>
                    <a:bodyPr/>
                    <a:lstStyle/>
                    <a:p>
                      <a:pPr marR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buNone/>
                      </a:pPr>
                      <a:r>
                        <a:rPr lang="en-US" sz="900" b="1" i="0" u="none" strike="noStrike" cap="none">
                          <a:solidFill>
                            <a:schemeClr val="tx1"/>
                          </a:solidFill>
                          <a:effectLst/>
                          <a:latin typeface="Aptos Display"/>
                          <a:ea typeface="+mn-ea"/>
                          <a:cs typeface="+mn-cs"/>
                          <a:sym typeface="Arial"/>
                        </a:rPr>
                        <a:t>Store ID</a:t>
                      </a:r>
                    </a:p>
                  </a:txBody>
                  <a:tcPr anchor="ctr">
                    <a:solidFill>
                      <a:srgbClr val="EC940A"/>
                    </a:solidFill>
                  </a:tcPr>
                </a:tc>
                <a:tc>
                  <a:txBody>
                    <a:bodyPr/>
                    <a:lstStyle/>
                    <a:p>
                      <a:pPr marR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buNone/>
                      </a:pPr>
                      <a:r>
                        <a:rPr lang="en-US" sz="900" b="1" i="0" u="none" strike="noStrike" cap="none">
                          <a:solidFill>
                            <a:schemeClr val="tx1"/>
                          </a:solidFill>
                          <a:effectLst/>
                          <a:latin typeface="Aptos Display"/>
                          <a:ea typeface="+mn-ea"/>
                          <a:cs typeface="+mn-cs"/>
                          <a:sym typeface="Arial"/>
                        </a:rPr>
                        <a:t>Units Sold</a:t>
                      </a:r>
                    </a:p>
                  </a:txBody>
                  <a:tcPr anchor="ctr">
                    <a:solidFill>
                      <a:srgbClr val="EC940A"/>
                    </a:solidFill>
                  </a:tcPr>
                </a:tc>
                <a:tc>
                  <a:txBody>
                    <a:bodyPr/>
                    <a:lstStyle/>
                    <a:p>
                      <a:pPr marR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buNone/>
                      </a:pPr>
                      <a:r>
                        <a:rPr lang="en-US" sz="900" b="1" i="0" u="none" strike="noStrike" cap="none">
                          <a:solidFill>
                            <a:schemeClr val="tx1"/>
                          </a:solidFill>
                          <a:effectLst/>
                          <a:latin typeface="Aptos Display"/>
                          <a:ea typeface="+mn-ea"/>
                          <a:cs typeface="+mn-cs"/>
                          <a:sym typeface="Arial"/>
                        </a:rPr>
                        <a:t>Transactions</a:t>
                      </a:r>
                    </a:p>
                  </a:txBody>
                  <a:tcPr anchor="ctr">
                    <a:solidFill>
                      <a:srgbClr val="EC940A"/>
                    </a:solidFill>
                  </a:tcPr>
                </a:tc>
                <a:tc>
                  <a:txBody>
                    <a:bodyPr/>
                    <a:lstStyle/>
                    <a:p>
                      <a:pPr marR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buNone/>
                      </a:pPr>
                      <a:r>
                        <a:rPr lang="en-US" sz="900" b="1" i="0" u="none" strike="noStrike" cap="none">
                          <a:solidFill>
                            <a:schemeClr val="tx1"/>
                          </a:solidFill>
                          <a:effectLst/>
                          <a:latin typeface="Aptos Display"/>
                          <a:ea typeface="+mn-ea"/>
                          <a:cs typeface="+mn-cs"/>
                          <a:sym typeface="Arial"/>
                        </a:rPr>
                        <a:t>Profit Margin %</a:t>
                      </a:r>
                    </a:p>
                  </a:txBody>
                  <a:tcPr anchor="ctr">
                    <a:solidFill>
                      <a:srgbClr val="EC940A"/>
                    </a:solidFill>
                  </a:tcPr>
                </a:tc>
                <a:tc>
                  <a:txBody>
                    <a:bodyPr/>
                    <a:lstStyle/>
                    <a:p>
                      <a:pPr marR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buNone/>
                      </a:pPr>
                      <a:r>
                        <a:rPr lang="en-US" sz="900" b="1" i="0" u="none" strike="noStrike" cap="none">
                          <a:solidFill>
                            <a:schemeClr val="tx1"/>
                          </a:solidFill>
                          <a:effectLst/>
                          <a:latin typeface="Aptos Display"/>
                          <a:ea typeface="+mn-ea"/>
                          <a:cs typeface="+mn-cs"/>
                          <a:sym typeface="Arial"/>
                        </a:rPr>
                        <a:t>Avg Order Value</a:t>
                      </a:r>
                    </a:p>
                  </a:txBody>
                  <a:tcPr anchor="ctr">
                    <a:solidFill>
                      <a:srgbClr val="EC940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101073243"/>
                  </a:ext>
                </a:extLst>
              </a:tr>
              <a:tr h="329046">
                <a:tc>
                  <a:txBody>
                    <a:bodyPr/>
                    <a:lstStyle/>
                    <a:p>
                      <a:pPr marR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buNone/>
                      </a:pPr>
                      <a:r>
                        <a:rPr lang="en-US" sz="900" b="0" i="0" u="none" strike="noStrike" cap="none">
                          <a:solidFill>
                            <a:schemeClr val="tx1"/>
                          </a:solidFill>
                          <a:effectLst/>
                          <a:latin typeface="Aptos Display"/>
                          <a:ea typeface="+mn-ea"/>
                          <a:cs typeface="+mn-cs"/>
                          <a:sym typeface="Arial"/>
                        </a:rPr>
                        <a:t>STR001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R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buNone/>
                      </a:pPr>
                      <a:r>
                        <a:rPr lang="en-US" sz="900" b="0" i="0" u="none" strike="noStrike" cap="none">
                          <a:solidFill>
                            <a:schemeClr val="tx1"/>
                          </a:solidFill>
                          <a:effectLst/>
                          <a:latin typeface="Aptos Display"/>
                          <a:ea typeface="+mn-ea"/>
                          <a:cs typeface="+mn-cs"/>
                          <a:sym typeface="Arial"/>
                        </a:rPr>
                        <a:t>1,033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R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buNone/>
                      </a:pPr>
                      <a:r>
                        <a:rPr lang="en-US" sz="900" b="0" i="0" u="none" strike="noStrike" cap="none">
                          <a:solidFill>
                            <a:schemeClr val="tx1"/>
                          </a:solidFill>
                          <a:effectLst/>
                          <a:latin typeface="Aptos Display"/>
                          <a:ea typeface="+mn-ea"/>
                          <a:cs typeface="+mn-cs"/>
                          <a:sym typeface="Arial"/>
                        </a:rPr>
                        <a:t>291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R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buNone/>
                      </a:pPr>
                      <a:r>
                        <a:rPr lang="en-US" sz="900" b="0" i="0" u="none" strike="noStrike" cap="none">
                          <a:solidFill>
                            <a:schemeClr val="tx1"/>
                          </a:solidFill>
                          <a:effectLst/>
                          <a:latin typeface="Aptos Display"/>
                          <a:ea typeface="+mn-ea"/>
                          <a:cs typeface="+mn-cs"/>
                          <a:sym typeface="Arial"/>
                        </a:rPr>
                        <a:t>72.21%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R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buNone/>
                      </a:pPr>
                      <a:r>
                        <a:rPr lang="en-US" sz="900" b="0" i="0" u="none" strike="noStrike" cap="none">
                          <a:solidFill>
                            <a:schemeClr val="tx1"/>
                          </a:solidFill>
                          <a:effectLst/>
                          <a:latin typeface="Aptos Display"/>
                          <a:ea typeface="+mn-ea"/>
                          <a:cs typeface="+mn-cs"/>
                          <a:sym typeface="Arial"/>
                        </a:rPr>
                        <a:t>₹13,739.20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011036285"/>
                  </a:ext>
                </a:extLst>
              </a:tr>
              <a:tr h="329046">
                <a:tc>
                  <a:txBody>
                    <a:bodyPr/>
                    <a:lstStyle/>
                    <a:p>
                      <a:pPr marR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buNone/>
                      </a:pPr>
                      <a:r>
                        <a:rPr lang="en-US" sz="900" b="0" i="0" u="none" strike="noStrike" cap="none">
                          <a:solidFill>
                            <a:schemeClr val="tx1"/>
                          </a:solidFill>
                          <a:effectLst/>
                          <a:latin typeface="Aptos Display"/>
                          <a:ea typeface="+mn-ea"/>
                          <a:cs typeface="+mn-cs"/>
                          <a:sym typeface="Arial"/>
                        </a:rPr>
                        <a:t>STR015</a:t>
                      </a:r>
                    </a:p>
                  </a:txBody>
                  <a:tcPr anchor="ctr">
                    <a:solidFill>
                      <a:schemeClr val="accent6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R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buNone/>
                      </a:pPr>
                      <a:r>
                        <a:rPr lang="en-US" sz="900" b="0" i="0" u="none" strike="noStrike" cap="none">
                          <a:solidFill>
                            <a:schemeClr val="tx1"/>
                          </a:solidFill>
                          <a:effectLst/>
                          <a:latin typeface="Aptos Display"/>
                          <a:ea typeface="+mn-ea"/>
                          <a:cs typeface="+mn-cs"/>
                          <a:sym typeface="Arial"/>
                        </a:rPr>
                        <a:t>611</a:t>
                      </a:r>
                    </a:p>
                  </a:txBody>
                  <a:tcPr anchor="ctr">
                    <a:solidFill>
                      <a:schemeClr val="accent6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R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buNone/>
                      </a:pPr>
                      <a:r>
                        <a:rPr lang="en-US" sz="900" b="0" i="0" u="none" strike="noStrike" cap="none">
                          <a:solidFill>
                            <a:schemeClr val="tx1"/>
                          </a:solidFill>
                          <a:effectLst/>
                          <a:latin typeface="Aptos Display"/>
                          <a:ea typeface="+mn-ea"/>
                          <a:cs typeface="+mn-cs"/>
                          <a:sym typeface="Arial"/>
                        </a:rPr>
                        <a:t>294</a:t>
                      </a:r>
                    </a:p>
                  </a:txBody>
                  <a:tcPr anchor="ctr">
                    <a:solidFill>
                      <a:schemeClr val="accent6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R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buNone/>
                      </a:pPr>
                      <a:r>
                        <a:rPr lang="en-US" sz="900" b="0" i="0" u="none" strike="noStrike" cap="none">
                          <a:solidFill>
                            <a:schemeClr val="tx1"/>
                          </a:solidFill>
                          <a:effectLst/>
                          <a:latin typeface="Aptos Display"/>
                          <a:ea typeface="+mn-ea"/>
                          <a:cs typeface="+mn-cs"/>
                          <a:sym typeface="Arial"/>
                        </a:rPr>
                        <a:t>75.03%</a:t>
                      </a:r>
                    </a:p>
                  </a:txBody>
                  <a:tcPr anchor="ctr">
                    <a:solidFill>
                      <a:schemeClr val="accent6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R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buNone/>
                      </a:pPr>
                      <a:r>
                        <a:rPr lang="en-US" sz="900" b="0" i="0" u="none" strike="noStrike" cap="none">
                          <a:solidFill>
                            <a:schemeClr val="tx1"/>
                          </a:solidFill>
                          <a:effectLst/>
                          <a:latin typeface="Aptos Display"/>
                          <a:ea typeface="+mn-ea"/>
                          <a:cs typeface="+mn-cs"/>
                          <a:sym typeface="Arial"/>
                        </a:rPr>
                        <a:t>₹8,579.73</a:t>
                      </a:r>
                    </a:p>
                  </a:txBody>
                  <a:tcPr anchor="ctr">
                    <a:solidFill>
                      <a:schemeClr val="accent6">
                        <a:lumMod val="60000"/>
                        <a:lumOff val="4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518026866"/>
                  </a:ext>
                </a:extLst>
              </a:tr>
              <a:tr h="329046">
                <a:tc>
                  <a:txBody>
                    <a:bodyPr/>
                    <a:lstStyle/>
                    <a:p>
                      <a:pPr marR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buNone/>
                      </a:pPr>
                      <a:r>
                        <a:rPr lang="en-US" sz="900" b="0" i="0" u="none" strike="noStrike" cap="none">
                          <a:solidFill>
                            <a:schemeClr val="tx1"/>
                          </a:solidFill>
                          <a:effectLst/>
                          <a:latin typeface="Aptos Display"/>
                          <a:ea typeface="+mn-ea"/>
                          <a:cs typeface="+mn-cs"/>
                          <a:sym typeface="Arial"/>
                        </a:rPr>
                        <a:t>STR042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R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buNone/>
                      </a:pPr>
                      <a:r>
                        <a:rPr lang="en-US" sz="900" b="0" i="0" u="none" strike="noStrike" cap="none">
                          <a:solidFill>
                            <a:schemeClr val="tx1"/>
                          </a:solidFill>
                          <a:effectLst/>
                          <a:latin typeface="Aptos Display"/>
                          <a:ea typeface="+mn-ea"/>
                          <a:cs typeface="+mn-cs"/>
                          <a:sym typeface="Arial"/>
                        </a:rPr>
                        <a:t>621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R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buNone/>
                      </a:pPr>
                      <a:r>
                        <a:rPr lang="en-US" sz="900" b="0" i="0" u="none" strike="noStrike" cap="none">
                          <a:solidFill>
                            <a:schemeClr val="tx1"/>
                          </a:solidFill>
                          <a:effectLst/>
                          <a:latin typeface="Aptos Display"/>
                          <a:ea typeface="+mn-ea"/>
                          <a:cs typeface="+mn-cs"/>
                          <a:sym typeface="Arial"/>
                        </a:rPr>
                        <a:t>289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R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buNone/>
                      </a:pPr>
                      <a:r>
                        <a:rPr lang="en-US" sz="900" b="0" i="0" u="none" strike="noStrike" cap="none">
                          <a:solidFill>
                            <a:schemeClr val="tx1"/>
                          </a:solidFill>
                          <a:effectLst/>
                          <a:latin typeface="Aptos Display"/>
                          <a:ea typeface="+mn-ea"/>
                          <a:cs typeface="+mn-cs"/>
                          <a:sym typeface="Arial"/>
                        </a:rPr>
                        <a:t>74.49%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R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buNone/>
                      </a:pPr>
                      <a:r>
                        <a:rPr lang="en-US" sz="900" b="0" i="0" u="none" strike="noStrike" cap="none">
                          <a:solidFill>
                            <a:schemeClr val="tx1"/>
                          </a:solidFill>
                          <a:effectLst/>
                          <a:latin typeface="Aptos Display"/>
                          <a:ea typeface="+mn-ea"/>
                          <a:cs typeface="+mn-cs"/>
                          <a:sym typeface="Arial"/>
                        </a:rPr>
                        <a:t>₹8,655.91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11920070"/>
                  </a:ext>
                </a:extLst>
              </a:tr>
              <a:tr h="329046">
                <a:tc>
                  <a:txBody>
                    <a:bodyPr/>
                    <a:lstStyle/>
                    <a:p>
                      <a:pPr marR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buNone/>
                      </a:pPr>
                      <a:r>
                        <a:rPr lang="en-US" sz="900" b="0" i="0" u="none" strike="noStrike" cap="none">
                          <a:solidFill>
                            <a:schemeClr val="tx1"/>
                          </a:solidFill>
                          <a:effectLst/>
                          <a:latin typeface="Aptos Display"/>
                          <a:ea typeface="+mn-ea"/>
                          <a:cs typeface="+mn-cs"/>
                          <a:sym typeface="Arial"/>
                        </a:rPr>
                        <a:t>STR023</a:t>
                      </a:r>
                    </a:p>
                  </a:txBody>
                  <a:tcPr anchor="ctr">
                    <a:solidFill>
                      <a:schemeClr val="accent6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R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buNone/>
                      </a:pPr>
                      <a:r>
                        <a:rPr lang="en-US" sz="900" b="0" i="0" u="none" strike="noStrike" cap="none">
                          <a:solidFill>
                            <a:schemeClr val="tx1"/>
                          </a:solidFill>
                          <a:effectLst/>
                          <a:latin typeface="Aptos Display"/>
                          <a:ea typeface="+mn-ea"/>
                          <a:cs typeface="+mn-cs"/>
                          <a:sym typeface="Arial"/>
                        </a:rPr>
                        <a:t>547</a:t>
                      </a:r>
                    </a:p>
                  </a:txBody>
                  <a:tcPr anchor="ctr">
                    <a:solidFill>
                      <a:schemeClr val="accent6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R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buNone/>
                      </a:pPr>
                      <a:r>
                        <a:rPr lang="en-US" sz="900" b="0" i="0" u="none" strike="noStrike" cap="none">
                          <a:solidFill>
                            <a:schemeClr val="tx1"/>
                          </a:solidFill>
                          <a:effectLst/>
                          <a:latin typeface="Aptos Display"/>
                          <a:ea typeface="+mn-ea"/>
                          <a:cs typeface="+mn-cs"/>
                          <a:sym typeface="Arial"/>
                        </a:rPr>
                        <a:t>269</a:t>
                      </a:r>
                    </a:p>
                  </a:txBody>
                  <a:tcPr anchor="ctr">
                    <a:solidFill>
                      <a:schemeClr val="accent6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R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buNone/>
                      </a:pPr>
                      <a:r>
                        <a:rPr lang="en-US" sz="900" b="0" i="0" u="none" strike="noStrike" cap="none">
                          <a:solidFill>
                            <a:schemeClr val="tx1"/>
                          </a:solidFill>
                          <a:effectLst/>
                          <a:latin typeface="Aptos Display"/>
                          <a:ea typeface="+mn-ea"/>
                          <a:cs typeface="+mn-cs"/>
                          <a:sym typeface="Arial"/>
                        </a:rPr>
                        <a:t>76.40%</a:t>
                      </a:r>
                    </a:p>
                  </a:txBody>
                  <a:tcPr anchor="ctr">
                    <a:solidFill>
                      <a:schemeClr val="accent6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R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buNone/>
                      </a:pPr>
                      <a:r>
                        <a:rPr lang="en-US" sz="900" b="0" i="0" u="none" strike="noStrike" cap="none">
                          <a:solidFill>
                            <a:schemeClr val="tx1"/>
                          </a:solidFill>
                          <a:effectLst/>
                          <a:latin typeface="Aptos Display"/>
                          <a:ea typeface="+mn-ea"/>
                          <a:cs typeface="+mn-cs"/>
                          <a:sym typeface="Arial"/>
                        </a:rPr>
                        <a:t>₹8,921.73</a:t>
                      </a:r>
                    </a:p>
                  </a:txBody>
                  <a:tcPr anchor="ctr">
                    <a:solidFill>
                      <a:schemeClr val="accent6">
                        <a:lumMod val="60000"/>
                        <a:lumOff val="4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968516943"/>
                  </a:ext>
                </a:extLst>
              </a:tr>
              <a:tr h="329046">
                <a:tc>
                  <a:txBody>
                    <a:bodyPr/>
                    <a:lstStyle/>
                    <a:p>
                      <a:pPr marR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buNone/>
                      </a:pPr>
                      <a:r>
                        <a:rPr lang="en-US" sz="900" b="0" i="0" u="none" strike="noStrike" cap="none">
                          <a:solidFill>
                            <a:schemeClr val="tx1"/>
                          </a:solidFill>
                          <a:effectLst/>
                          <a:latin typeface="Aptos Display"/>
                          <a:ea typeface="+mn-ea"/>
                          <a:cs typeface="+mn-cs"/>
                          <a:sym typeface="Arial"/>
                        </a:rPr>
                        <a:t>STR037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R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buNone/>
                      </a:pPr>
                      <a:r>
                        <a:rPr lang="en-US" sz="900" b="0" i="0" u="none" strike="noStrike" cap="none">
                          <a:solidFill>
                            <a:schemeClr val="tx1"/>
                          </a:solidFill>
                          <a:effectLst/>
                          <a:latin typeface="Aptos Display"/>
                          <a:ea typeface="+mn-ea"/>
                          <a:cs typeface="+mn-cs"/>
                          <a:sym typeface="Arial"/>
                        </a:rPr>
                        <a:t>582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R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buNone/>
                      </a:pPr>
                      <a:r>
                        <a:rPr lang="en-US" sz="900" b="0" i="0" u="none" strike="noStrike" cap="none">
                          <a:solidFill>
                            <a:schemeClr val="tx1"/>
                          </a:solidFill>
                          <a:effectLst/>
                          <a:latin typeface="Aptos Display"/>
                          <a:ea typeface="+mn-ea"/>
                          <a:cs typeface="+mn-cs"/>
                          <a:sym typeface="Arial"/>
                        </a:rPr>
                        <a:t>282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R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buNone/>
                      </a:pPr>
                      <a:r>
                        <a:rPr lang="en-US" sz="900" b="0" i="0" u="none" strike="noStrike" cap="none">
                          <a:solidFill>
                            <a:schemeClr val="tx1"/>
                          </a:solidFill>
                          <a:effectLst/>
                          <a:latin typeface="Aptos Display"/>
                          <a:ea typeface="+mn-ea"/>
                          <a:cs typeface="+mn-cs"/>
                          <a:sym typeface="Arial"/>
                        </a:rPr>
                        <a:t>75.26%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R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buNone/>
                      </a:pPr>
                      <a:r>
                        <a:rPr lang="en-US" sz="900" b="0" i="0" u="none" strike="noStrike" cap="none">
                          <a:solidFill>
                            <a:schemeClr val="tx1"/>
                          </a:solidFill>
                          <a:effectLst/>
                          <a:latin typeface="Aptos Display"/>
                          <a:ea typeface="+mn-ea"/>
                          <a:cs typeface="+mn-cs"/>
                          <a:sym typeface="Arial"/>
                        </a:rPr>
                        <a:t>₹7,997.06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427986543"/>
                  </a:ext>
                </a:extLst>
              </a:tr>
            </a:tbl>
          </a:graphicData>
        </a:graphic>
      </p:graphicFrame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Shape 3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33" name="Google Shape;333;p20" descr="image.png"/>
          <p:cNvPicPr preferRelativeResize="0"/>
          <p:nvPr/>
        </p:nvPicPr>
        <p:blipFill rotWithShape="1">
          <a:blip r:embed="rId3">
            <a:alphaModFix/>
          </a:blip>
          <a:srcRect r="-150" b="10676"/>
          <a:stretch>
            <a:fillRect/>
          </a:stretch>
        </p:blipFill>
        <p:spPr>
          <a:xfrm>
            <a:off x="0" y="-28755"/>
            <a:ext cx="12195935" cy="6859071"/>
          </a:xfrm>
          <a:prstGeom prst="rect">
            <a:avLst/>
          </a:prstGeom>
          <a:noFill/>
          <a:ln>
            <a:noFill/>
          </a:ln>
        </p:spPr>
      </p:pic>
      <p:pic>
        <p:nvPicPr>
          <p:cNvPr id="335" name="Google Shape;335;p20" descr="image.png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428625" y="1389296"/>
            <a:ext cx="5619929" cy="2361603"/>
          </a:xfrm>
          <a:prstGeom prst="rect">
            <a:avLst/>
          </a:prstGeom>
          <a:noFill/>
          <a:ln>
            <a:noFill/>
          </a:ln>
        </p:spPr>
      </p:pic>
      <p:pic>
        <p:nvPicPr>
          <p:cNvPr id="336" name="Google Shape;336;p20" descr="image.png"/>
          <p:cNvPicPr preferRelativeResize="0"/>
          <p:nvPr/>
        </p:nvPicPr>
        <p:blipFill rotWithShape="1">
          <a:blip r:embed="rId5">
            <a:alphaModFix/>
          </a:blip>
          <a:srcRect/>
          <a:stretch/>
        </p:blipFill>
        <p:spPr>
          <a:xfrm>
            <a:off x="6100313" y="1389296"/>
            <a:ext cx="5648683" cy="2361603"/>
          </a:xfrm>
          <a:prstGeom prst="rect">
            <a:avLst/>
          </a:prstGeom>
          <a:noFill/>
          <a:ln>
            <a:noFill/>
          </a:ln>
        </p:spPr>
      </p:pic>
      <p:pic>
        <p:nvPicPr>
          <p:cNvPr id="337" name="Google Shape;337;p20" descr="image.png"/>
          <p:cNvPicPr preferRelativeResize="0"/>
          <p:nvPr/>
        </p:nvPicPr>
        <p:blipFill rotWithShape="1">
          <a:blip r:embed="rId6">
            <a:alphaModFix/>
          </a:blip>
          <a:srcRect/>
          <a:stretch/>
        </p:blipFill>
        <p:spPr>
          <a:xfrm>
            <a:off x="428625" y="3945527"/>
            <a:ext cx="3590386" cy="1713072"/>
          </a:xfrm>
          <a:prstGeom prst="rect">
            <a:avLst/>
          </a:prstGeom>
          <a:noFill/>
          <a:ln>
            <a:noFill/>
          </a:ln>
        </p:spPr>
      </p:pic>
      <p:pic>
        <p:nvPicPr>
          <p:cNvPr id="338" name="Google Shape;338;p20" descr="image.png"/>
          <p:cNvPicPr preferRelativeResize="0"/>
          <p:nvPr/>
        </p:nvPicPr>
        <p:blipFill rotWithShape="1">
          <a:blip r:embed="rId7">
            <a:alphaModFix/>
          </a:blip>
          <a:srcRect/>
          <a:stretch/>
        </p:blipFill>
        <p:spPr>
          <a:xfrm>
            <a:off x="4214543" y="3959904"/>
            <a:ext cx="3590386" cy="1626808"/>
          </a:xfrm>
          <a:prstGeom prst="rect">
            <a:avLst/>
          </a:prstGeom>
          <a:noFill/>
          <a:ln>
            <a:noFill/>
          </a:ln>
        </p:spPr>
      </p:pic>
      <p:pic>
        <p:nvPicPr>
          <p:cNvPr id="339" name="Google Shape;339;p20" descr="image.png"/>
          <p:cNvPicPr preferRelativeResize="0"/>
          <p:nvPr/>
        </p:nvPicPr>
        <p:blipFill rotWithShape="1">
          <a:blip r:embed="rId7">
            <a:alphaModFix/>
          </a:blip>
          <a:srcRect/>
          <a:stretch/>
        </p:blipFill>
        <p:spPr>
          <a:xfrm>
            <a:off x="8057970" y="3945527"/>
            <a:ext cx="3691027" cy="1641185"/>
          </a:xfrm>
          <a:prstGeom prst="rect">
            <a:avLst/>
          </a:prstGeom>
          <a:noFill/>
          <a:ln>
            <a:noFill/>
          </a:ln>
        </p:spPr>
      </p:pic>
      <p:pic>
        <p:nvPicPr>
          <p:cNvPr id="340" name="Google Shape;340;p20" descr="image.png"/>
          <p:cNvPicPr preferRelativeResize="0"/>
          <p:nvPr/>
        </p:nvPicPr>
        <p:blipFill rotWithShape="1">
          <a:blip r:embed="rId8">
            <a:alphaModFix/>
          </a:blip>
          <a:srcRect/>
          <a:stretch/>
        </p:blipFill>
        <p:spPr>
          <a:xfrm>
            <a:off x="428625" y="6505575"/>
            <a:ext cx="11334750" cy="219075"/>
          </a:xfrm>
          <a:prstGeom prst="rect">
            <a:avLst/>
          </a:prstGeom>
          <a:noFill/>
          <a:ln>
            <a:noFill/>
          </a:ln>
        </p:spPr>
      </p:pic>
      <p:sp>
        <p:nvSpPr>
          <p:cNvPr id="341" name="Google Shape;341;p20"/>
          <p:cNvSpPr txBox="1"/>
          <p:nvPr/>
        </p:nvSpPr>
        <p:spPr>
          <a:xfrm>
            <a:off x="823912" y="87508"/>
            <a:ext cx="11368087" cy="88639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spAutoFit/>
          </a:bodyPr>
          <a:lstStyle/>
          <a:p>
            <a:pPr>
              <a:lnSpc>
                <a:spcPct val="120000"/>
              </a:lnSpc>
            </a:pPr>
            <a:r>
              <a:rPr lang="en-US" sz="2400" b="1">
                <a:solidFill>
                  <a:srgbClr val="0F172A"/>
                </a:solidFill>
                <a:latin typeface="Poppins"/>
                <a:cs typeface="Poppins"/>
                <a:sym typeface="Poppins"/>
              </a:rPr>
              <a:t>Q5. Segment customers based on purchase behavior and suggest targeted strategies?</a:t>
            </a:r>
            <a:endParaRPr lang="en-US" sz="2400"/>
          </a:p>
        </p:txBody>
      </p:sp>
      <p:sp>
        <p:nvSpPr>
          <p:cNvPr id="342" name="Google Shape;342;p20"/>
          <p:cNvSpPr txBox="1"/>
          <p:nvPr/>
        </p:nvSpPr>
        <p:spPr>
          <a:xfrm>
            <a:off x="428625" y="983855"/>
            <a:ext cx="11334750" cy="18466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r>
              <a:rPr lang="en-US" sz="1200" b="0" i="0" u="none" strike="noStrike" cap="none">
                <a:solidFill>
                  <a:srgbClr val="64748B"/>
                </a:solidFill>
                <a:latin typeface="Inter"/>
                <a:ea typeface="Inter"/>
                <a:cs typeface="Inter"/>
                <a:sym typeface="Inter"/>
              </a:rPr>
              <a:t>Categorizing </a:t>
            </a:r>
            <a:r>
              <a:rPr lang="en-US" sz="1200">
                <a:solidFill>
                  <a:srgbClr val="64748B"/>
                </a:solidFill>
                <a:latin typeface="Inter"/>
                <a:ea typeface="Inter"/>
                <a:cs typeface="Inter"/>
                <a:sym typeface="Inter"/>
              </a:rPr>
              <a:t>buyers</a:t>
            </a:r>
            <a:r>
              <a:rPr lang="en-US" sz="1200" b="0" i="0" u="none" strike="noStrike" cap="none">
                <a:solidFill>
                  <a:srgbClr val="64748B"/>
                </a:solidFill>
                <a:latin typeface="Inter"/>
                <a:ea typeface="Inter"/>
                <a:cs typeface="Inter"/>
                <a:sym typeface="Inter"/>
              </a:rPr>
              <a:t> to maximize customer lifetime value and drive repeat purchase frequency</a:t>
            </a:r>
            <a:endParaRPr lang="en-US" sz="1200"/>
          </a:p>
        </p:txBody>
      </p:sp>
      <p:sp>
        <p:nvSpPr>
          <p:cNvPr id="343" name="Google Shape;343;p20"/>
          <p:cNvSpPr txBox="1"/>
          <p:nvPr/>
        </p:nvSpPr>
        <p:spPr>
          <a:xfrm>
            <a:off x="385493" y="6620054"/>
            <a:ext cx="2658553" cy="12695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825" b="0" i="0" u="none" strike="noStrike" cap="none">
                <a:solidFill>
                  <a:srgbClr val="94A3B8"/>
                </a:solidFill>
                <a:latin typeface="Inter"/>
                <a:ea typeface="Inter"/>
                <a:cs typeface="Inter"/>
                <a:sym typeface="Inter"/>
              </a:rPr>
              <a:t>FashionWave Retail Sales Analysis</a:t>
            </a:r>
            <a:endParaRPr/>
          </a:p>
        </p:txBody>
      </p:sp>
      <p:sp>
        <p:nvSpPr>
          <p:cNvPr id="344" name="Google Shape;344;p20"/>
          <p:cNvSpPr txBox="1"/>
          <p:nvPr/>
        </p:nvSpPr>
        <p:spPr>
          <a:xfrm>
            <a:off x="10535369" y="6620054"/>
            <a:ext cx="1228006" cy="12311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800" b="0" i="0" u="none" strike="noStrike" cap="none">
                <a:solidFill>
                  <a:srgbClr val="94A3B8"/>
                </a:solidFill>
                <a:latin typeface="Inter"/>
                <a:ea typeface="Inter"/>
                <a:cs typeface="Inter"/>
                <a:sym typeface="Inter"/>
              </a:rPr>
              <a:t>Slide 8 of </a:t>
            </a:r>
            <a:r>
              <a:rPr lang="en-US" sz="800">
                <a:solidFill>
                  <a:srgbClr val="94A3B8"/>
                </a:solidFill>
                <a:latin typeface="Inter"/>
                <a:ea typeface="Inter"/>
                <a:cs typeface="Inter"/>
                <a:sym typeface="Inter"/>
              </a:rPr>
              <a:t>12</a:t>
            </a:r>
            <a:endParaRPr lang="en-US" sz="800">
              <a:solidFill>
                <a:srgbClr val="94A3B8"/>
              </a:solidFill>
              <a:latin typeface="Inter"/>
              <a:ea typeface="Inter"/>
            </a:endParaRPr>
          </a:p>
        </p:txBody>
      </p:sp>
      <p:pic>
        <p:nvPicPr>
          <p:cNvPr id="345" name="Google Shape;345;p20" descr="image.png"/>
          <p:cNvPicPr preferRelativeResize="0"/>
          <p:nvPr/>
        </p:nvPicPr>
        <p:blipFill rotWithShape="1">
          <a:blip r:embed="rId9">
            <a:alphaModFix/>
          </a:blip>
          <a:srcRect/>
          <a:stretch/>
        </p:blipFill>
        <p:spPr>
          <a:xfrm>
            <a:off x="428625" y="379065"/>
            <a:ext cx="280987" cy="228600"/>
          </a:xfrm>
          <a:prstGeom prst="rect">
            <a:avLst/>
          </a:prstGeom>
          <a:noFill/>
          <a:ln>
            <a:noFill/>
          </a:ln>
        </p:spPr>
      </p:pic>
      <p:pic>
        <p:nvPicPr>
          <p:cNvPr id="346" name="Google Shape;346;p20" descr="image.png"/>
          <p:cNvPicPr preferRelativeResize="0"/>
          <p:nvPr/>
        </p:nvPicPr>
        <p:blipFill rotWithShape="1">
          <a:blip r:embed="rId10">
            <a:alphaModFix/>
          </a:blip>
          <a:srcRect/>
          <a:stretch/>
        </p:blipFill>
        <p:spPr>
          <a:xfrm>
            <a:off x="628650" y="5887540"/>
            <a:ext cx="152400" cy="152400"/>
          </a:xfrm>
          <a:prstGeom prst="rect">
            <a:avLst/>
          </a:prstGeom>
          <a:noFill/>
          <a:ln>
            <a:noFill/>
          </a:ln>
        </p:spPr>
      </p:pic>
      <p:sp>
        <p:nvSpPr>
          <p:cNvPr id="347" name="Google Shape;347;p20"/>
          <p:cNvSpPr txBox="1"/>
          <p:nvPr/>
        </p:nvSpPr>
        <p:spPr>
          <a:xfrm>
            <a:off x="895350" y="5809553"/>
            <a:ext cx="10706100" cy="49859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34888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 b="1" i="0" u="none" strike="noStrike" cap="none">
                <a:solidFill>
                  <a:srgbClr val="166534"/>
                </a:solidFill>
                <a:latin typeface="Inter"/>
                <a:ea typeface="Inter"/>
                <a:cs typeface="Inter"/>
                <a:sym typeface="Inter"/>
              </a:rPr>
              <a:t>STRATEGIC IMPERATIVE:</a:t>
            </a:r>
            <a:r>
              <a:rPr lang="en-US" sz="1200" b="0" i="0" u="none" strike="noStrike" cap="none">
                <a:solidFill>
                  <a:srgbClr val="166534"/>
                </a:solidFill>
                <a:latin typeface="Inter Medium"/>
                <a:ea typeface="Inter Medium"/>
                <a:cs typeface="Inter Medium"/>
                <a:sym typeface="Inter Medium"/>
              </a:rPr>
              <a:t> Retention is the primary driver of profitability. A 5% increase in returning customer retention yields a disproportionate profit expansion given their 71% total profit contribution.</a:t>
            </a:r>
            <a:endParaRPr lang="en-US" sz="1200"/>
          </a:p>
        </p:txBody>
      </p:sp>
      <p:sp>
        <p:nvSpPr>
          <p:cNvPr id="348" name="Google Shape;348;p20"/>
          <p:cNvSpPr txBox="1"/>
          <p:nvPr/>
        </p:nvSpPr>
        <p:spPr>
          <a:xfrm>
            <a:off x="619664" y="4050302"/>
            <a:ext cx="3640455" cy="24622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3335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00" b="0" i="0" u="none" strike="noStrike" cap="none">
                <a:solidFill>
                  <a:srgbClr val="16A34A"/>
                </a:solidFill>
                <a:latin typeface="Poppins SemiBold"/>
                <a:ea typeface="Poppins SemiBold"/>
                <a:cs typeface="Poppins SemiBold"/>
                <a:sym typeface="Poppins SemiBold"/>
              </a:rPr>
              <a:t>VIP Gold Tier Rewards</a:t>
            </a:r>
            <a:endParaRPr lang="en-US" sz="1600"/>
          </a:p>
        </p:txBody>
      </p:sp>
      <p:sp>
        <p:nvSpPr>
          <p:cNvPr id="349" name="Google Shape;349;p20"/>
          <p:cNvSpPr txBox="1"/>
          <p:nvPr/>
        </p:nvSpPr>
        <p:spPr>
          <a:xfrm>
            <a:off x="475891" y="4350789"/>
            <a:ext cx="3553363" cy="124957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44969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b="0" i="0" u="none" strike="noStrike" cap="none">
                <a:solidFill>
                  <a:srgbClr val="475569"/>
                </a:solidFill>
                <a:latin typeface="Inter"/>
                <a:ea typeface="Inter"/>
                <a:cs typeface="Inter"/>
                <a:sym typeface="Inter"/>
              </a:rPr>
              <a:t>Implement point-based rewards (1 point per ₹100 spent) instead of cash discounts to retain high margin baselines for returning buyers.</a:t>
            </a:r>
            <a:endParaRPr lang="en-US"/>
          </a:p>
        </p:txBody>
      </p:sp>
      <p:sp>
        <p:nvSpPr>
          <p:cNvPr id="350" name="Google Shape;350;p20"/>
          <p:cNvSpPr txBox="1"/>
          <p:nvPr/>
        </p:nvSpPr>
        <p:spPr>
          <a:xfrm>
            <a:off x="4463092" y="4050302"/>
            <a:ext cx="3640455" cy="24622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42875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00" b="0" i="0" u="none" strike="noStrike" cap="none">
                <a:solidFill>
                  <a:srgbClr val="0284C7"/>
                </a:solidFill>
                <a:latin typeface="Poppins SemiBold"/>
                <a:ea typeface="Poppins SemiBold"/>
                <a:cs typeface="Poppins SemiBold"/>
                <a:sym typeface="Poppins SemiBold"/>
              </a:rPr>
              <a:t>Automated Nurture Series</a:t>
            </a:r>
            <a:endParaRPr lang="en-US" sz="1600"/>
          </a:p>
        </p:txBody>
      </p:sp>
      <p:sp>
        <p:nvSpPr>
          <p:cNvPr id="351" name="Google Shape;351;p20"/>
          <p:cNvSpPr txBox="1"/>
          <p:nvPr/>
        </p:nvSpPr>
        <p:spPr>
          <a:xfrm>
            <a:off x="4319318" y="4350788"/>
            <a:ext cx="3467100" cy="124957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>
              <a:lnSpc>
                <a:spcPct val="144969"/>
              </a:lnSpc>
            </a:pPr>
            <a:r>
              <a:rPr lang="en-US" b="0" i="0" u="none" strike="noStrike" cap="none" dirty="0">
                <a:solidFill>
                  <a:srgbClr val="475569"/>
                </a:solidFill>
                <a:latin typeface="Inter"/>
                <a:ea typeface="Inter"/>
                <a:cs typeface="Inter"/>
                <a:sym typeface="Inter"/>
              </a:rPr>
              <a:t>Deploy automated WhatsApp/email triggers at Day 7, 30, and 60 post-first purchase to </a:t>
            </a:r>
            <a:r>
              <a:rPr lang="en-US" dirty="0">
                <a:solidFill>
                  <a:srgbClr val="475569"/>
                </a:solidFill>
                <a:latin typeface="Inter"/>
                <a:ea typeface="Inter"/>
                <a:cs typeface="Inter"/>
                <a:sym typeface="Inter"/>
              </a:rPr>
              <a:t>increase frequency of 2nd</a:t>
            </a:r>
            <a:r>
              <a:rPr lang="en-US" b="0" i="0" u="none" strike="noStrike" cap="none" dirty="0">
                <a:solidFill>
                  <a:srgbClr val="475569"/>
                </a:solidFill>
                <a:latin typeface="Inter"/>
                <a:ea typeface="Inter"/>
                <a:cs typeface="Inter"/>
                <a:sym typeface="Inter"/>
              </a:rPr>
              <a:t> </a:t>
            </a:r>
            <a:r>
              <a:rPr lang="en-US">
                <a:solidFill>
                  <a:srgbClr val="475569"/>
                </a:solidFill>
                <a:latin typeface="Inter"/>
                <a:ea typeface="Inter"/>
                <a:cs typeface="Inter"/>
                <a:sym typeface="Inter"/>
              </a:rPr>
              <a:t>purchases.</a:t>
            </a:r>
            <a:endParaRPr lang="en-US" dirty="0"/>
          </a:p>
        </p:txBody>
      </p:sp>
      <p:sp>
        <p:nvSpPr>
          <p:cNvPr id="352" name="Google Shape;352;p20"/>
          <p:cNvSpPr txBox="1"/>
          <p:nvPr/>
        </p:nvSpPr>
        <p:spPr>
          <a:xfrm>
            <a:off x="8550934" y="4050302"/>
            <a:ext cx="3640455" cy="24622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42875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00" b="0" i="0" u="none" strike="noStrike" cap="none">
                <a:solidFill>
                  <a:srgbClr val="F59E0B"/>
                </a:solidFill>
                <a:latin typeface="Poppins SemiBold"/>
                <a:ea typeface="Poppins SemiBold"/>
                <a:cs typeface="Poppins SemiBold"/>
                <a:sym typeface="Poppins SemiBold"/>
              </a:rPr>
              <a:t>Referral Incentives</a:t>
            </a:r>
            <a:endParaRPr lang="en-US" sz="1600"/>
          </a:p>
        </p:txBody>
      </p:sp>
      <p:sp>
        <p:nvSpPr>
          <p:cNvPr id="353" name="Google Shape;353;p20"/>
          <p:cNvSpPr txBox="1"/>
          <p:nvPr/>
        </p:nvSpPr>
        <p:spPr>
          <a:xfrm>
            <a:off x="8177123" y="4350788"/>
            <a:ext cx="3467100" cy="124957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44969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b="0" i="0" u="none" strike="noStrike" cap="none">
                <a:solidFill>
                  <a:srgbClr val="475569"/>
                </a:solidFill>
                <a:latin typeface="Inter"/>
                <a:ea typeface="Inter"/>
                <a:cs typeface="Inter"/>
                <a:sym typeface="Inter"/>
              </a:rPr>
              <a:t>Offer existing VIP customers ₹500 in loyalty points for referring new shoppers, lowering customer acquisition cost (CAC) significantly.</a:t>
            </a:r>
            <a:endParaRPr lang="en-US"/>
          </a:p>
        </p:txBody>
      </p:sp>
      <p:sp>
        <p:nvSpPr>
          <p:cNvPr id="354" name="Google Shape;354;p20"/>
          <p:cNvSpPr txBox="1"/>
          <p:nvPr/>
        </p:nvSpPr>
        <p:spPr>
          <a:xfrm>
            <a:off x="552450" y="1642339"/>
            <a:ext cx="3654858" cy="2154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b="1" i="0" u="none" strike="noStrike" cap="none">
                <a:solidFill>
                  <a:srgbClr val="0F172A"/>
                </a:solidFill>
                <a:latin typeface="Poppins"/>
                <a:ea typeface="Poppins"/>
                <a:cs typeface="Poppins"/>
                <a:sym typeface="Poppins"/>
              </a:rPr>
              <a:t>Returning Customers (Core Segment)</a:t>
            </a:r>
            <a:endParaRPr sz="2000"/>
          </a:p>
        </p:txBody>
      </p:sp>
      <p:sp>
        <p:nvSpPr>
          <p:cNvPr id="356" name="Google Shape;356;p20"/>
          <p:cNvSpPr txBox="1"/>
          <p:nvPr/>
        </p:nvSpPr>
        <p:spPr>
          <a:xfrm>
            <a:off x="552450" y="2090551"/>
            <a:ext cx="5343525" cy="22852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>
              <a:lnSpc>
                <a:spcPct val="134888"/>
              </a:lnSpc>
            </a:pPr>
            <a:r>
              <a:rPr lang="en-US" sz="1100" b="1" i="0" u="none" strike="noStrike" cap="none">
                <a:solidFill>
                  <a:srgbClr val="0F172A"/>
                </a:solidFill>
                <a:latin typeface="Inter"/>
                <a:ea typeface="Inter"/>
                <a:cs typeface="Inter"/>
                <a:sym typeface="Inter"/>
              </a:rPr>
              <a:t>Financial Contribution:</a:t>
            </a:r>
            <a:r>
              <a:rPr lang="en-US" sz="1100" b="0" i="0" u="none" strike="noStrike" cap="none">
                <a:solidFill>
                  <a:srgbClr val="475569"/>
                </a:solidFill>
                <a:latin typeface="Inter"/>
                <a:ea typeface="Inter"/>
                <a:cs typeface="Inter"/>
                <a:sym typeface="Inter"/>
              </a:rPr>
              <a:t> ₹136.8M Net Revenue | </a:t>
            </a:r>
            <a:r>
              <a:rPr lang="en-US" sz="1100" b="1" i="0" u="none" strike="noStrike" cap="none">
                <a:solidFill>
                  <a:srgbClr val="0F172A"/>
                </a:solidFill>
                <a:latin typeface="Inter"/>
                <a:ea typeface="Inter"/>
                <a:cs typeface="Inter"/>
                <a:sym typeface="Inter"/>
              </a:rPr>
              <a:t>₹99.4M Net Profit </a:t>
            </a:r>
            <a:endParaRPr sz="2000"/>
          </a:p>
        </p:txBody>
      </p:sp>
      <p:sp>
        <p:nvSpPr>
          <p:cNvPr id="357" name="Google Shape;357;p20"/>
          <p:cNvSpPr txBox="1"/>
          <p:nvPr/>
        </p:nvSpPr>
        <p:spPr>
          <a:xfrm>
            <a:off x="552450" y="2450514"/>
            <a:ext cx="5343525" cy="22852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>
              <a:lnSpc>
                <a:spcPct val="134888"/>
              </a:lnSpc>
            </a:pPr>
            <a:r>
              <a:rPr lang="en-US" sz="1100" b="1" i="0" u="none" strike="noStrike" cap="none">
                <a:solidFill>
                  <a:srgbClr val="0F172A"/>
                </a:solidFill>
                <a:latin typeface="Inter"/>
                <a:ea typeface="Inter"/>
                <a:cs typeface="Inter"/>
                <a:sym typeface="Inter"/>
              </a:rPr>
              <a:t>Volume &amp; Reach:</a:t>
            </a:r>
            <a:r>
              <a:rPr lang="en-US" sz="1100" b="0" i="0" u="none" strike="noStrike" cap="none">
                <a:solidFill>
                  <a:srgbClr val="475569"/>
                </a:solidFill>
                <a:latin typeface="Inter"/>
                <a:ea typeface="Inter"/>
                <a:cs typeface="Inter"/>
                <a:sym typeface="Inter"/>
              </a:rPr>
              <a:t> 10,562 Transactions (70.4% of total transaction volume).</a:t>
            </a:r>
            <a:endParaRPr sz="2000"/>
          </a:p>
        </p:txBody>
      </p:sp>
      <p:sp>
        <p:nvSpPr>
          <p:cNvPr id="358" name="Google Shape;358;p20"/>
          <p:cNvSpPr txBox="1"/>
          <p:nvPr/>
        </p:nvSpPr>
        <p:spPr>
          <a:xfrm>
            <a:off x="552450" y="2752966"/>
            <a:ext cx="5343525" cy="45704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34888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100" b="1" i="0" u="none" strike="noStrike" cap="none">
                <a:solidFill>
                  <a:srgbClr val="0F172A"/>
                </a:solidFill>
                <a:latin typeface="Inter"/>
                <a:ea typeface="Inter"/>
                <a:cs typeface="Inter"/>
                <a:sym typeface="Inter"/>
              </a:rPr>
              <a:t>Behavioral Traits:</a:t>
            </a:r>
            <a:r>
              <a:rPr lang="en-US" sz="1100" b="0" i="0" u="none" strike="noStrike" cap="none">
                <a:solidFill>
                  <a:srgbClr val="475569"/>
                </a:solidFill>
                <a:latin typeface="Inter"/>
                <a:ea typeface="Inter"/>
                <a:cs typeface="Inter"/>
                <a:sym typeface="Inter"/>
              </a:rPr>
              <a:t> High brand loyalty, multi-category baskets, lower discount sensitivity.</a:t>
            </a:r>
            <a:endParaRPr sz="2000"/>
          </a:p>
        </p:txBody>
      </p:sp>
      <p:sp>
        <p:nvSpPr>
          <p:cNvPr id="359" name="Google Shape;359;p20"/>
          <p:cNvSpPr txBox="1"/>
          <p:nvPr/>
        </p:nvSpPr>
        <p:spPr>
          <a:xfrm>
            <a:off x="552450" y="3256701"/>
            <a:ext cx="5343525" cy="45704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34888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100" b="1" i="0" u="none" strike="noStrike" cap="none">
                <a:solidFill>
                  <a:srgbClr val="0F172A"/>
                </a:solidFill>
                <a:latin typeface="Inter"/>
                <a:ea typeface="Inter"/>
                <a:cs typeface="Inter"/>
                <a:sym typeface="Inter"/>
              </a:rPr>
              <a:t>Retention Action:</a:t>
            </a:r>
            <a:r>
              <a:rPr lang="en-US" sz="1100" b="0" i="0" u="none" strike="noStrike" cap="none">
                <a:solidFill>
                  <a:srgbClr val="475569"/>
                </a:solidFill>
                <a:latin typeface="Inter"/>
                <a:ea typeface="Inter"/>
                <a:cs typeface="Inter"/>
                <a:sym typeface="Inter"/>
              </a:rPr>
              <a:t> VIP FashionWave Gold tier, birthday store credit (5–10%), early seasonal access.</a:t>
            </a:r>
            <a:endParaRPr sz="2000"/>
          </a:p>
        </p:txBody>
      </p:sp>
      <p:sp>
        <p:nvSpPr>
          <p:cNvPr id="360" name="Google Shape;360;p20"/>
          <p:cNvSpPr txBox="1"/>
          <p:nvPr/>
        </p:nvSpPr>
        <p:spPr>
          <a:xfrm>
            <a:off x="6252893" y="1656715"/>
            <a:ext cx="3622976" cy="2154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b="1" i="0" u="none" strike="noStrike" cap="none">
                <a:solidFill>
                  <a:srgbClr val="0F172A"/>
                </a:solidFill>
                <a:latin typeface="Poppins"/>
                <a:ea typeface="Poppins"/>
                <a:cs typeface="Poppins"/>
                <a:sym typeface="Poppins"/>
              </a:rPr>
              <a:t>New Customers (Acquisition Segment)</a:t>
            </a:r>
            <a:endParaRPr sz="2000"/>
          </a:p>
        </p:txBody>
      </p:sp>
      <p:sp>
        <p:nvSpPr>
          <p:cNvPr id="362" name="Google Shape;362;p20"/>
          <p:cNvSpPr txBox="1"/>
          <p:nvPr/>
        </p:nvSpPr>
        <p:spPr>
          <a:xfrm>
            <a:off x="6296025" y="2133684"/>
            <a:ext cx="5343525" cy="22852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34888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100" b="1" i="0" u="none" strike="noStrike" cap="none">
                <a:solidFill>
                  <a:srgbClr val="0F172A"/>
                </a:solidFill>
                <a:latin typeface="Inter"/>
                <a:ea typeface="Inter"/>
                <a:cs typeface="Inter"/>
                <a:sym typeface="Inter"/>
              </a:rPr>
              <a:t>Financial Contribution:</a:t>
            </a:r>
            <a:r>
              <a:rPr lang="en-US" sz="1100" b="0" i="0" u="none" strike="noStrike" cap="none">
                <a:solidFill>
                  <a:srgbClr val="475569"/>
                </a:solidFill>
                <a:latin typeface="Inter"/>
                <a:ea typeface="Inter"/>
                <a:cs typeface="Inter"/>
                <a:sym typeface="Inter"/>
              </a:rPr>
              <a:t> ₹56.2M Net Revenue | </a:t>
            </a:r>
            <a:r>
              <a:rPr lang="en-US" sz="1100" b="1" i="0" u="none" strike="noStrike" cap="none">
                <a:solidFill>
                  <a:srgbClr val="0F172A"/>
                </a:solidFill>
                <a:latin typeface="Inter"/>
                <a:ea typeface="Inter"/>
                <a:cs typeface="Inter"/>
                <a:sym typeface="Inter"/>
              </a:rPr>
              <a:t>₹40.6M Net Profit</a:t>
            </a:r>
            <a:endParaRPr sz="2000"/>
          </a:p>
        </p:txBody>
      </p:sp>
      <p:sp>
        <p:nvSpPr>
          <p:cNvPr id="363" name="Google Shape;363;p20"/>
          <p:cNvSpPr txBox="1"/>
          <p:nvPr/>
        </p:nvSpPr>
        <p:spPr>
          <a:xfrm>
            <a:off x="6296025" y="2479268"/>
            <a:ext cx="5343525" cy="22852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>
              <a:lnSpc>
                <a:spcPct val="134888"/>
              </a:lnSpc>
            </a:pPr>
            <a:r>
              <a:rPr lang="en-US" sz="1100" b="1" i="0" u="none" strike="noStrike" cap="none">
                <a:solidFill>
                  <a:srgbClr val="0F172A"/>
                </a:solidFill>
                <a:latin typeface="Inter"/>
                <a:ea typeface="Inter"/>
                <a:cs typeface="Inter"/>
                <a:sym typeface="Inter"/>
              </a:rPr>
              <a:t>Volume &amp; Reach:</a:t>
            </a:r>
            <a:r>
              <a:rPr lang="en-US" sz="1100" b="0" i="0" u="none" strike="noStrike" cap="none">
                <a:solidFill>
                  <a:srgbClr val="475569"/>
                </a:solidFill>
                <a:latin typeface="Inter"/>
                <a:ea typeface="Inter"/>
                <a:cs typeface="Inter"/>
                <a:sym typeface="Inter"/>
              </a:rPr>
              <a:t> 4,438 Transactions (29.6% of total transaction volume).</a:t>
            </a:r>
            <a:endParaRPr sz="2000"/>
          </a:p>
        </p:txBody>
      </p:sp>
      <p:sp>
        <p:nvSpPr>
          <p:cNvPr id="364" name="Google Shape;364;p20"/>
          <p:cNvSpPr txBox="1"/>
          <p:nvPr/>
        </p:nvSpPr>
        <p:spPr>
          <a:xfrm>
            <a:off x="6296025" y="2781721"/>
            <a:ext cx="5343525" cy="45704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34888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100" b="1" i="0" u="none" strike="noStrike" cap="none">
                <a:solidFill>
                  <a:srgbClr val="0F172A"/>
                </a:solidFill>
                <a:latin typeface="Inter"/>
                <a:ea typeface="Inter"/>
                <a:cs typeface="Inter"/>
                <a:sym typeface="Inter"/>
              </a:rPr>
              <a:t>Behavioral Traits:</a:t>
            </a:r>
            <a:r>
              <a:rPr lang="en-US" sz="1100" b="0" i="0" u="none" strike="noStrike" cap="none">
                <a:solidFill>
                  <a:srgbClr val="475569"/>
                </a:solidFill>
                <a:latin typeface="Inter"/>
                <a:ea typeface="Inter"/>
                <a:cs typeface="Inter"/>
                <a:sym typeface="Inter"/>
              </a:rPr>
              <a:t> First-time shoppers; high sensitivity to welcome promotional incentives.</a:t>
            </a:r>
            <a:endParaRPr sz="2000"/>
          </a:p>
        </p:txBody>
      </p:sp>
      <p:sp>
        <p:nvSpPr>
          <p:cNvPr id="365" name="Google Shape;365;p20"/>
          <p:cNvSpPr txBox="1"/>
          <p:nvPr/>
        </p:nvSpPr>
        <p:spPr>
          <a:xfrm>
            <a:off x="6296025" y="3256701"/>
            <a:ext cx="5343525" cy="45704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34888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100" b="1" i="0" u="none" strike="noStrike" cap="none">
                <a:solidFill>
                  <a:srgbClr val="0F172A"/>
                </a:solidFill>
                <a:latin typeface="Inter"/>
                <a:ea typeface="Inter"/>
                <a:cs typeface="Inter"/>
                <a:sym typeface="Inter"/>
              </a:rPr>
              <a:t>Onboarding Action:</a:t>
            </a:r>
            <a:r>
              <a:rPr lang="en-US" sz="1100" b="0" i="0" u="none" strike="noStrike" cap="none">
                <a:solidFill>
                  <a:srgbClr val="475569"/>
                </a:solidFill>
                <a:latin typeface="Inter"/>
                <a:ea typeface="Inter"/>
                <a:cs typeface="Inter"/>
                <a:sym typeface="Inter"/>
              </a:rPr>
              <a:t> 10% welcome discount, automated post-purchase email nurture, referral bonuses.</a:t>
            </a:r>
            <a:endParaRPr sz="2000"/>
          </a:p>
        </p:txBody>
      </p:sp>
      <p:pic>
        <p:nvPicPr>
          <p:cNvPr id="366" name="Google Shape;366;p20" descr="image.png"/>
          <p:cNvPicPr preferRelativeResize="0"/>
          <p:nvPr/>
        </p:nvPicPr>
        <p:blipFill rotWithShape="1">
          <a:blip r:embed="rId11">
            <a:alphaModFix/>
          </a:blip>
          <a:srcRect/>
          <a:stretch/>
        </p:blipFill>
        <p:spPr>
          <a:xfrm>
            <a:off x="490268" y="4122010"/>
            <a:ext cx="133350" cy="114300"/>
          </a:xfrm>
          <a:prstGeom prst="rect">
            <a:avLst/>
          </a:prstGeom>
          <a:noFill/>
          <a:ln>
            <a:noFill/>
          </a:ln>
        </p:spPr>
      </p:pic>
      <p:pic>
        <p:nvPicPr>
          <p:cNvPr id="367" name="Google Shape;367;p20" descr="image.png"/>
          <p:cNvPicPr preferRelativeResize="0"/>
          <p:nvPr/>
        </p:nvPicPr>
        <p:blipFill rotWithShape="1">
          <a:blip r:embed="rId12">
            <a:alphaModFix/>
          </a:blip>
          <a:srcRect/>
          <a:stretch/>
        </p:blipFill>
        <p:spPr>
          <a:xfrm>
            <a:off x="4304940" y="4122008"/>
            <a:ext cx="142875" cy="114300"/>
          </a:xfrm>
          <a:prstGeom prst="rect">
            <a:avLst/>
          </a:prstGeom>
          <a:noFill/>
          <a:ln>
            <a:noFill/>
          </a:ln>
        </p:spPr>
      </p:pic>
      <p:pic>
        <p:nvPicPr>
          <p:cNvPr id="368" name="Google Shape;368;p20" descr="image.png"/>
          <p:cNvPicPr preferRelativeResize="0"/>
          <p:nvPr/>
        </p:nvPicPr>
        <p:blipFill rotWithShape="1">
          <a:blip r:embed="rId13">
            <a:alphaModFix/>
          </a:blip>
          <a:srcRect/>
          <a:stretch/>
        </p:blipFill>
        <p:spPr>
          <a:xfrm>
            <a:off x="8263387" y="4150764"/>
            <a:ext cx="142875" cy="114300"/>
          </a:xfrm>
          <a:prstGeom prst="rect">
            <a:avLst/>
          </a:prstGeom>
          <a:noFill/>
          <a:ln>
            <a:noFill/>
          </a:ln>
        </p:spPr>
      </p:pic>
      <p:sp>
        <p:nvSpPr>
          <p:cNvPr id="2" name="Rectangle: Rounded Corners 1">
            <a:extLst>
              <a:ext uri="{FF2B5EF4-FFF2-40B4-BE49-F238E27FC236}">
                <a16:creationId xmlns:a16="http://schemas.microsoft.com/office/drawing/2014/main" id="{2CC6CAA9-5FB1-6024-943B-0E2C9D888478}"/>
              </a:ext>
            </a:extLst>
          </p:cNvPr>
          <p:cNvSpPr/>
          <p:nvPr/>
        </p:nvSpPr>
        <p:spPr>
          <a:xfrm>
            <a:off x="4207673" y="1648197"/>
            <a:ext cx="1756790" cy="248390"/>
          </a:xfrm>
          <a:prstGeom prst="roundRect">
            <a:avLst/>
          </a:prstGeom>
          <a:solidFill>
            <a:schemeClr val="accent6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1440" tIns="45720" rIns="91440" bIns="45720" rtlCol="0" anchor="ctr"/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chemeClr val="lt1"/>
                </a:solidFill>
                <a:latin typeface="+mn-lt"/>
                <a:ea typeface="+mn-ea"/>
                <a:cs typeface="+mn-cs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chemeClr val="lt1"/>
                </a:solidFill>
                <a:latin typeface="+mn-lt"/>
                <a:ea typeface="+mn-ea"/>
                <a:cs typeface="+mn-cs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chemeClr val="lt1"/>
                </a:solidFill>
                <a:latin typeface="+mn-lt"/>
                <a:ea typeface="+mn-ea"/>
                <a:cs typeface="+mn-cs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chemeClr val="lt1"/>
                </a:solidFill>
                <a:latin typeface="+mn-lt"/>
                <a:ea typeface="+mn-ea"/>
                <a:cs typeface="+mn-cs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chemeClr val="lt1"/>
                </a:solidFill>
                <a:latin typeface="+mn-lt"/>
                <a:ea typeface="+mn-ea"/>
                <a:cs typeface="+mn-cs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chemeClr val="lt1"/>
                </a:solidFill>
                <a:latin typeface="+mn-lt"/>
                <a:ea typeface="+mn-ea"/>
                <a:cs typeface="+mn-cs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chemeClr val="lt1"/>
                </a:solidFill>
                <a:latin typeface="+mn-lt"/>
                <a:ea typeface="+mn-ea"/>
                <a:cs typeface="+mn-cs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chemeClr val="lt1"/>
                </a:solidFill>
                <a:latin typeface="+mn-lt"/>
                <a:ea typeface="+mn-ea"/>
                <a:cs typeface="+mn-cs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chemeClr val="lt1"/>
                </a:solidFill>
                <a:latin typeface="+mn-lt"/>
                <a:ea typeface="+mn-ea"/>
                <a:cs typeface="+mn-cs"/>
                <a:sym typeface="Arial"/>
              </a:defRPr>
            </a:lvl9pPr>
          </a:lstStyle>
          <a:p>
            <a:r>
              <a:rPr lang="en-US" sz="1050" b="1">
                <a:solidFill>
                  <a:srgbClr val="19A44C"/>
                </a:solidFill>
                <a:latin typeface="Franklin Gothic Heavy"/>
                <a:ea typeface="Lato"/>
                <a:cs typeface="Lato"/>
              </a:rPr>
              <a:t>70.9% Revenue Share</a:t>
            </a:r>
          </a:p>
        </p:txBody>
      </p:sp>
      <p:sp>
        <p:nvSpPr>
          <p:cNvPr id="3" name="Rectangle: Rounded Corners 2">
            <a:extLst>
              <a:ext uri="{FF2B5EF4-FFF2-40B4-BE49-F238E27FC236}">
                <a16:creationId xmlns:a16="http://schemas.microsoft.com/office/drawing/2014/main" id="{E7967431-D9A8-65A7-DD57-DB4435D3BA28}"/>
              </a:ext>
            </a:extLst>
          </p:cNvPr>
          <p:cNvSpPr/>
          <p:nvPr/>
        </p:nvSpPr>
        <p:spPr>
          <a:xfrm>
            <a:off x="9915484" y="1662573"/>
            <a:ext cx="1699281" cy="219636"/>
          </a:xfrm>
          <a:prstGeom prst="roundRect">
            <a:avLst/>
          </a:prstGeom>
          <a:solidFill>
            <a:schemeClr val="accent1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1440" tIns="45720" rIns="91440" bIns="45720" rtlCol="0" anchor="ctr"/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chemeClr val="lt1"/>
                </a:solidFill>
                <a:latin typeface="+mn-lt"/>
                <a:ea typeface="+mn-ea"/>
                <a:cs typeface="+mn-cs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chemeClr val="lt1"/>
                </a:solidFill>
                <a:latin typeface="+mn-lt"/>
                <a:ea typeface="+mn-ea"/>
                <a:cs typeface="+mn-cs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chemeClr val="lt1"/>
                </a:solidFill>
                <a:latin typeface="+mn-lt"/>
                <a:ea typeface="+mn-ea"/>
                <a:cs typeface="+mn-cs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chemeClr val="lt1"/>
                </a:solidFill>
                <a:latin typeface="+mn-lt"/>
                <a:ea typeface="+mn-ea"/>
                <a:cs typeface="+mn-cs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chemeClr val="lt1"/>
                </a:solidFill>
                <a:latin typeface="+mn-lt"/>
                <a:ea typeface="+mn-ea"/>
                <a:cs typeface="+mn-cs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chemeClr val="lt1"/>
                </a:solidFill>
                <a:latin typeface="+mn-lt"/>
                <a:ea typeface="+mn-ea"/>
                <a:cs typeface="+mn-cs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chemeClr val="lt1"/>
                </a:solidFill>
                <a:latin typeface="+mn-lt"/>
                <a:ea typeface="+mn-ea"/>
                <a:cs typeface="+mn-cs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chemeClr val="lt1"/>
                </a:solidFill>
                <a:latin typeface="+mn-lt"/>
                <a:ea typeface="+mn-ea"/>
                <a:cs typeface="+mn-cs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chemeClr val="lt1"/>
                </a:solidFill>
                <a:latin typeface="+mn-lt"/>
                <a:ea typeface="+mn-ea"/>
                <a:cs typeface="+mn-cs"/>
                <a:sym typeface="Arial"/>
              </a:defRPr>
            </a:lvl9pPr>
          </a:lstStyle>
          <a:p>
            <a:r>
              <a:rPr lang="en-US" sz="1050" b="1">
                <a:solidFill>
                  <a:schemeClr val="accent1">
                    <a:lumMod val="76000"/>
                  </a:schemeClr>
                </a:solidFill>
                <a:latin typeface="Franklin Gothic Heavy"/>
                <a:ea typeface="Lato"/>
                <a:cs typeface="Lato"/>
              </a:rPr>
              <a:t>29.1% Revenue Share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>
          <a:blip r:embed="rId3"/>
          <a:stretch>
            <a:fillRect/>
          </a:stretch>
        </a:blipFill>
        <a:effectLst/>
      </p:bgPr>
    </p:bg>
    <p:spTree>
      <p:nvGrpSpPr>
        <p:cNvPr id="1" name="Shape 37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6" name="Google Shape;337;p20" descr="image.png">
            <a:extLst>
              <a:ext uri="{FF2B5EF4-FFF2-40B4-BE49-F238E27FC236}">
                <a16:creationId xmlns:a16="http://schemas.microsoft.com/office/drawing/2014/main" id="{C304ADFA-A541-2E88-DD98-B3C790F2BCF0}"/>
              </a:ext>
            </a:extLst>
          </p:cNvPr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8235529" y="3672356"/>
            <a:ext cx="3863556" cy="2173148"/>
          </a:xfrm>
          <a:prstGeom prst="rect">
            <a:avLst/>
          </a:prstGeom>
          <a:noFill/>
          <a:ln>
            <a:noFill/>
          </a:ln>
        </p:spPr>
      </p:pic>
      <p:pic>
        <p:nvPicPr>
          <p:cNvPr id="25" name="Google Shape;337;p20" descr="image.png">
            <a:extLst>
              <a:ext uri="{FF2B5EF4-FFF2-40B4-BE49-F238E27FC236}">
                <a16:creationId xmlns:a16="http://schemas.microsoft.com/office/drawing/2014/main" id="{58FFBCE5-4D1F-34CB-5F78-175D276CB779}"/>
              </a:ext>
            </a:extLst>
          </p:cNvPr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4181115" y="3672357"/>
            <a:ext cx="3978574" cy="2173148"/>
          </a:xfrm>
          <a:prstGeom prst="rect">
            <a:avLst/>
          </a:prstGeom>
          <a:noFill/>
          <a:ln>
            <a:noFill/>
          </a:ln>
        </p:spPr>
      </p:pic>
      <p:pic>
        <p:nvPicPr>
          <p:cNvPr id="23" name="Google Shape;337;p20" descr="image.png">
            <a:extLst>
              <a:ext uri="{FF2B5EF4-FFF2-40B4-BE49-F238E27FC236}">
                <a16:creationId xmlns:a16="http://schemas.microsoft.com/office/drawing/2014/main" id="{1AF069BE-A0B4-33AA-BDBB-73086C0BE8E1}"/>
              </a:ext>
            </a:extLst>
          </p:cNvPr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97945" y="3672357"/>
            <a:ext cx="3964197" cy="2158771"/>
          </a:xfrm>
          <a:prstGeom prst="rect">
            <a:avLst/>
          </a:prstGeom>
          <a:noFill/>
          <a:ln>
            <a:noFill/>
          </a:ln>
        </p:spPr>
      </p:pic>
      <p:pic>
        <p:nvPicPr>
          <p:cNvPr id="379" name="Google Shape;379;p21" descr="image.png"/>
          <p:cNvPicPr preferRelativeResize="0"/>
          <p:nvPr/>
        </p:nvPicPr>
        <p:blipFill rotWithShape="1">
          <a:blip r:embed="rId5">
            <a:alphaModFix/>
          </a:blip>
          <a:srcRect/>
          <a:stretch/>
        </p:blipFill>
        <p:spPr>
          <a:xfrm>
            <a:off x="428625" y="6505575"/>
            <a:ext cx="11334750" cy="219075"/>
          </a:xfrm>
          <a:prstGeom prst="rect">
            <a:avLst/>
          </a:prstGeom>
          <a:noFill/>
          <a:ln>
            <a:noFill/>
          </a:ln>
        </p:spPr>
      </p:pic>
      <p:sp>
        <p:nvSpPr>
          <p:cNvPr id="380" name="Google Shape;380;p21"/>
          <p:cNvSpPr txBox="1"/>
          <p:nvPr/>
        </p:nvSpPr>
        <p:spPr>
          <a:xfrm>
            <a:off x="579677" y="171124"/>
            <a:ext cx="11396662" cy="44319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spAutoFit/>
          </a:bodyPr>
          <a:lstStyle/>
          <a:p>
            <a:pPr marL="0" marR="0" lvl="0" indent="0" algn="l" rtl="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400" b="1" i="0" u="none" strike="noStrike" cap="none">
                <a:solidFill>
                  <a:srgbClr val="0F172A"/>
                </a:solidFill>
                <a:latin typeface="Poppins"/>
                <a:ea typeface="Poppins"/>
                <a:cs typeface="Poppins"/>
                <a:sym typeface="Poppins"/>
              </a:rPr>
              <a:t>Payment Modes, Category Units &amp; Portfolio Deep Dive</a:t>
            </a:r>
            <a:endParaRPr lang="en-US" sz="2400">
              <a:latin typeface="Poppins"/>
              <a:cs typeface="Poppins"/>
            </a:endParaRPr>
          </a:p>
        </p:txBody>
      </p:sp>
      <p:sp>
        <p:nvSpPr>
          <p:cNvPr id="381" name="Google Shape;381;p21"/>
          <p:cNvSpPr txBox="1"/>
          <p:nvPr/>
        </p:nvSpPr>
        <p:spPr>
          <a:xfrm>
            <a:off x="342361" y="710685"/>
            <a:ext cx="11334750" cy="18466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 b="0" i="0" u="none" strike="noStrike" cap="none">
                <a:solidFill>
                  <a:srgbClr val="64748B"/>
                </a:solidFill>
                <a:latin typeface="Inter"/>
                <a:ea typeface="Inter"/>
                <a:cs typeface="Inter"/>
                <a:sym typeface="Inter"/>
              </a:rPr>
              <a:t>Analyzing payment channel economics, volume mix, and top-performing SKU profitability</a:t>
            </a:r>
            <a:endParaRPr sz="1200"/>
          </a:p>
        </p:txBody>
      </p:sp>
      <p:sp>
        <p:nvSpPr>
          <p:cNvPr id="382" name="Google Shape;382;p21"/>
          <p:cNvSpPr txBox="1"/>
          <p:nvPr/>
        </p:nvSpPr>
        <p:spPr>
          <a:xfrm>
            <a:off x="443002" y="6620054"/>
            <a:ext cx="3046742" cy="12695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825" b="0" i="0" u="none" strike="noStrike" cap="none">
                <a:solidFill>
                  <a:srgbClr val="94A3B8"/>
                </a:solidFill>
                <a:latin typeface="Inter"/>
                <a:ea typeface="Inter"/>
                <a:cs typeface="Inter"/>
                <a:sym typeface="Inter"/>
              </a:rPr>
              <a:t>FashionWave Retail Sales Analysis</a:t>
            </a:r>
            <a:endParaRPr/>
          </a:p>
        </p:txBody>
      </p:sp>
      <p:sp>
        <p:nvSpPr>
          <p:cNvPr id="383" name="Google Shape;383;p21"/>
          <p:cNvSpPr txBox="1"/>
          <p:nvPr/>
        </p:nvSpPr>
        <p:spPr>
          <a:xfrm>
            <a:off x="10378200" y="6591300"/>
            <a:ext cx="1385100" cy="126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800" b="0" i="0" u="none" strike="noStrike" cap="none">
                <a:solidFill>
                  <a:srgbClr val="94A3B8"/>
                </a:solidFill>
                <a:latin typeface="Inter"/>
                <a:ea typeface="Inter"/>
                <a:cs typeface="Inter"/>
                <a:sym typeface="Inter"/>
              </a:rPr>
              <a:t>Slide 9 of </a:t>
            </a:r>
            <a:r>
              <a:rPr lang="en-US" sz="800">
                <a:solidFill>
                  <a:srgbClr val="94A3B8"/>
                </a:solidFill>
                <a:latin typeface="Inter"/>
                <a:ea typeface="Inter"/>
                <a:cs typeface="Inter"/>
                <a:sym typeface="Inter"/>
              </a:rPr>
              <a:t>12</a:t>
            </a:r>
            <a:endParaRPr/>
          </a:p>
        </p:txBody>
      </p:sp>
      <p:pic>
        <p:nvPicPr>
          <p:cNvPr id="384" name="Google Shape;384;p21" descr="image.png"/>
          <p:cNvPicPr preferRelativeResize="0"/>
          <p:nvPr/>
        </p:nvPicPr>
        <p:blipFill rotWithShape="1">
          <a:blip r:embed="rId6">
            <a:alphaModFix/>
          </a:blip>
          <a:srcRect/>
          <a:stretch/>
        </p:blipFill>
        <p:spPr>
          <a:xfrm>
            <a:off x="212965" y="278423"/>
            <a:ext cx="252412" cy="228600"/>
          </a:xfrm>
          <a:prstGeom prst="rect">
            <a:avLst/>
          </a:prstGeom>
          <a:noFill/>
          <a:ln>
            <a:noFill/>
          </a:ln>
        </p:spPr>
      </p:pic>
      <p:pic>
        <p:nvPicPr>
          <p:cNvPr id="385" name="Google Shape;385;p21" descr="image.png"/>
          <p:cNvPicPr preferRelativeResize="0"/>
          <p:nvPr/>
        </p:nvPicPr>
        <p:blipFill rotWithShape="1">
          <a:blip r:embed="rId7">
            <a:alphaModFix/>
          </a:blip>
          <a:srcRect/>
          <a:stretch/>
        </p:blipFill>
        <p:spPr>
          <a:xfrm>
            <a:off x="211707" y="6103200"/>
            <a:ext cx="128677" cy="152400"/>
          </a:xfrm>
          <a:prstGeom prst="rect">
            <a:avLst/>
          </a:prstGeom>
          <a:noFill/>
          <a:ln>
            <a:noFill/>
          </a:ln>
        </p:spPr>
      </p:pic>
      <p:sp>
        <p:nvSpPr>
          <p:cNvPr id="386" name="Google Shape;386;p21"/>
          <p:cNvSpPr txBox="1"/>
          <p:nvPr/>
        </p:nvSpPr>
        <p:spPr>
          <a:xfrm>
            <a:off x="440307" y="5988735"/>
            <a:ext cx="11621218" cy="45704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>
              <a:lnSpc>
                <a:spcPct val="134888"/>
              </a:lnSpc>
            </a:pPr>
            <a:r>
              <a:rPr lang="en-US" sz="1100" b="1" i="0" u="none" strike="noStrike" cap="none">
                <a:solidFill>
                  <a:srgbClr val="166534"/>
                </a:solidFill>
                <a:latin typeface="Inter"/>
                <a:ea typeface="Inter"/>
                <a:cs typeface="Inter"/>
                <a:sym typeface="Inter"/>
              </a:rPr>
              <a:t>PORTFOLIO TAKEAWAY:</a:t>
            </a:r>
            <a:r>
              <a:rPr lang="en-US" sz="1100" b="0" i="0" u="none" strike="noStrike" cap="none">
                <a:solidFill>
                  <a:srgbClr val="166534"/>
                </a:solidFill>
                <a:latin typeface="Inter Medium"/>
                <a:ea typeface="Inter Medium"/>
                <a:cs typeface="Inter Medium"/>
                <a:sym typeface="Inter Medium"/>
              </a:rPr>
              <a:t> </a:t>
            </a:r>
            <a:r>
              <a:rPr lang="en-US" sz="1100">
                <a:solidFill>
                  <a:srgbClr val="166534"/>
                </a:solidFill>
                <a:latin typeface="Inter Medium"/>
                <a:ea typeface="Inter Medium"/>
                <a:sym typeface="Inter Medium"/>
              </a:rPr>
              <a:t>Use </a:t>
            </a:r>
            <a:r>
              <a:rPr lang="en-US" sz="1100" b="0" i="0" u="none" strike="noStrike" cap="none">
                <a:solidFill>
                  <a:srgbClr val="166534"/>
                </a:solidFill>
                <a:latin typeface="Inter Medium"/>
                <a:ea typeface="Inter Medium"/>
                <a:sym typeface="Inter Medium"/>
              </a:rPr>
              <a:t>Clothing </a:t>
            </a:r>
            <a:r>
              <a:rPr lang="en-US" sz="1100">
                <a:solidFill>
                  <a:srgbClr val="166534"/>
                </a:solidFill>
                <a:latin typeface="Inter Medium"/>
                <a:ea typeface="Inter Medium"/>
                <a:sym typeface="Inter Medium"/>
              </a:rPr>
              <a:t>as the volume driver and </a:t>
            </a:r>
            <a:r>
              <a:rPr lang="en-US" sz="1100" b="0" i="0" u="none" strike="noStrike" cap="none">
                <a:solidFill>
                  <a:srgbClr val="166534"/>
                </a:solidFill>
                <a:latin typeface="Inter Medium"/>
                <a:ea typeface="Inter Medium"/>
                <a:sym typeface="Inter Medium"/>
              </a:rPr>
              <a:t>Accessories </a:t>
            </a:r>
            <a:r>
              <a:rPr lang="en-US" sz="1100">
                <a:solidFill>
                  <a:srgbClr val="166534"/>
                </a:solidFill>
                <a:latin typeface="Inter Medium"/>
                <a:ea typeface="Inter Medium"/>
                <a:sym typeface="Inter Medium"/>
              </a:rPr>
              <a:t>as the profit engine, while increasing Digital/UPI adoption to strengthen customer engagement</a:t>
            </a:r>
            <a:r>
              <a:rPr lang="en-US" sz="1100" b="0" i="0" u="none" strike="noStrike" cap="none">
                <a:solidFill>
                  <a:srgbClr val="166534"/>
                </a:solidFill>
                <a:latin typeface="Inter Medium"/>
                <a:ea typeface="Inter Medium"/>
                <a:sym typeface="Inter Medium"/>
              </a:rPr>
              <a:t>.</a:t>
            </a:r>
            <a:endParaRPr lang="en-US" sz="1600"/>
          </a:p>
        </p:txBody>
      </p:sp>
      <p:graphicFrame>
        <p:nvGraphicFramePr>
          <p:cNvPr id="2" name="Chart 1">
            <a:extLst>
              <a:ext uri="{FF2B5EF4-FFF2-40B4-BE49-F238E27FC236}">
                <a16:creationId xmlns:a16="http://schemas.microsoft.com/office/drawing/2014/main" id="{37B9B77F-88B3-1727-987B-05C364A3F580}"/>
              </a:ext>
              <a:ext uri="{147F2762-F138-4A5C-976F-8EAC2B608ADB}">
                <a16:predDERef xmlns:a16="http://schemas.microsoft.com/office/drawing/2014/main" pred="{56209810-D7FD-4FC7-8A24-41C581FD9C33}"/>
              </a:ext>
            </a:extLst>
          </p:cNvPr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2042060233"/>
              </p:ext>
            </p:extLst>
          </p:nvPr>
        </p:nvGraphicFramePr>
        <p:xfrm>
          <a:off x="249268" y="897687"/>
          <a:ext cx="5722188" cy="2585049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8"/>
          </a:graphicData>
        </a:graphic>
      </p:graphicFrame>
      <p:graphicFrame>
        <p:nvGraphicFramePr>
          <p:cNvPr id="3" name="Chart 2">
            <a:extLst>
              <a:ext uri="{FF2B5EF4-FFF2-40B4-BE49-F238E27FC236}">
                <a16:creationId xmlns:a16="http://schemas.microsoft.com/office/drawing/2014/main" id="{675C28F4-79F8-450E-B3B8-DFB0CAB93E18}"/>
              </a:ext>
              <a:ext uri="{147F2762-F138-4A5C-976F-8EAC2B608ADB}">
                <a16:predDERef xmlns:a16="http://schemas.microsoft.com/office/drawing/2014/main" pred="{37B9B77F-88B3-1727-987B-05C364A3F580}"/>
              </a:ext>
            </a:extLst>
          </p:cNvPr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2094879009"/>
              </p:ext>
            </p:extLst>
          </p:nvPr>
        </p:nvGraphicFramePr>
        <p:xfrm>
          <a:off x="6503418" y="991050"/>
          <a:ext cx="5089584" cy="2441455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9"/>
          </a:graphicData>
        </a:graphic>
      </p:graphicFrame>
      <p:sp>
        <p:nvSpPr>
          <p:cNvPr id="9" name="Google Shape;277;p18">
            <a:extLst>
              <a:ext uri="{FF2B5EF4-FFF2-40B4-BE49-F238E27FC236}">
                <a16:creationId xmlns:a16="http://schemas.microsoft.com/office/drawing/2014/main" id="{8E45D6CE-679E-2FEA-EBCA-9C869BB86F71}"/>
              </a:ext>
            </a:extLst>
          </p:cNvPr>
          <p:cNvSpPr txBox="1"/>
          <p:nvPr/>
        </p:nvSpPr>
        <p:spPr>
          <a:xfrm>
            <a:off x="98664" y="3787715"/>
            <a:ext cx="3982964" cy="24622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52400" tIns="0" rIns="0" bIns="0" anchor="t" anchorCtr="0">
            <a:spAutoFit/>
          </a:bodyPr>
          <a:lstStyle/>
          <a:p>
            <a:r>
              <a:rPr lang="en-US" sz="1600">
                <a:solidFill>
                  <a:srgbClr val="0070C0"/>
                </a:solidFill>
                <a:latin typeface="Poppins SemiBold"/>
                <a:cs typeface="Poppins SemiBold"/>
                <a:sym typeface="Poppins SemiBold"/>
              </a:rPr>
              <a:t>Payment Mix Concentration</a:t>
            </a:r>
            <a:endParaRPr lang="en-US" sz="1600">
              <a:solidFill>
                <a:srgbClr val="0070C0"/>
              </a:solidFill>
            </a:endParaRPr>
          </a:p>
        </p:txBody>
      </p:sp>
      <p:sp>
        <p:nvSpPr>
          <p:cNvPr id="11" name="Google Shape;278;p18">
            <a:extLst>
              <a:ext uri="{FF2B5EF4-FFF2-40B4-BE49-F238E27FC236}">
                <a16:creationId xmlns:a16="http://schemas.microsoft.com/office/drawing/2014/main" id="{D25FEDAE-AEEB-0B54-A663-2E41129125EE}"/>
              </a:ext>
            </a:extLst>
          </p:cNvPr>
          <p:cNvSpPr txBox="1"/>
          <p:nvPr/>
        </p:nvSpPr>
        <p:spPr>
          <a:xfrm>
            <a:off x="256815" y="4107073"/>
            <a:ext cx="3811228" cy="138499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171450" indent="-171450">
              <a:lnSpc>
                <a:spcPct val="150000"/>
              </a:lnSpc>
              <a:buFont typeface="Wingdings"/>
              <a:buChar char="ü"/>
            </a:pPr>
            <a:r>
              <a:rPr lang="en-US" sz="1200">
                <a:solidFill>
                  <a:srgbClr val="475569"/>
                </a:solidFill>
                <a:latin typeface="Inter"/>
                <a:ea typeface="Inter"/>
                <a:sym typeface="Inter"/>
              </a:rPr>
              <a:t>69.5</a:t>
            </a:r>
            <a:r>
              <a:rPr lang="en-US" sz="1200" i="0" u="none" strike="noStrike" cap="none">
                <a:solidFill>
                  <a:srgbClr val="475569"/>
                </a:solidFill>
                <a:latin typeface="Inter"/>
                <a:ea typeface="Inter"/>
                <a:sym typeface="Inter"/>
              </a:rPr>
              <a:t>% </a:t>
            </a:r>
            <a:r>
              <a:rPr lang="en-US" sz="1200">
                <a:solidFill>
                  <a:srgbClr val="475569"/>
                </a:solidFill>
                <a:latin typeface="Inter"/>
                <a:ea typeface="Inter"/>
                <a:sym typeface="Inter"/>
              </a:rPr>
              <a:t>of revenue comes from Card + Digital/UPI </a:t>
            </a:r>
            <a:endParaRPr lang="en-US">
              <a:ea typeface="Inter"/>
            </a:endParaRPr>
          </a:p>
          <a:p>
            <a:pPr marL="171450" indent="-171450">
              <a:lnSpc>
                <a:spcPct val="150000"/>
              </a:lnSpc>
              <a:buFont typeface="Wingdings"/>
              <a:buChar char="ü"/>
            </a:pPr>
            <a:r>
              <a:rPr lang="en-US" sz="1200">
                <a:solidFill>
                  <a:srgbClr val="475569"/>
                </a:solidFill>
                <a:latin typeface="Inter"/>
                <a:ea typeface="Inter"/>
                <a:sym typeface="Inter"/>
              </a:rPr>
              <a:t>Cash still contributes 30.5%, leaving room for digital migration </a:t>
            </a:r>
            <a:endParaRPr lang="en-US"/>
          </a:p>
          <a:p>
            <a:pPr marL="171450" indent="-171450">
              <a:lnSpc>
                <a:spcPct val="150000"/>
              </a:lnSpc>
              <a:buFont typeface="Wingdings"/>
              <a:buChar char="ü"/>
            </a:pPr>
            <a:r>
              <a:rPr lang="en-US" sz="1200">
                <a:solidFill>
                  <a:srgbClr val="475569"/>
                </a:solidFill>
                <a:latin typeface="Inter"/>
                <a:ea typeface="Inter"/>
                <a:sym typeface="Inter"/>
              </a:rPr>
              <a:t>Shift more transactions toward Digital/UPI while maintaining the Card-led base.</a:t>
            </a:r>
            <a:endParaRPr lang="en-US"/>
          </a:p>
        </p:txBody>
      </p:sp>
      <p:sp>
        <p:nvSpPr>
          <p:cNvPr id="13" name="Google Shape;279;p18">
            <a:extLst>
              <a:ext uri="{FF2B5EF4-FFF2-40B4-BE49-F238E27FC236}">
                <a16:creationId xmlns:a16="http://schemas.microsoft.com/office/drawing/2014/main" id="{331D8CF6-7958-1475-C948-B3FD55CBB9E2}"/>
              </a:ext>
            </a:extLst>
          </p:cNvPr>
          <p:cNvSpPr txBox="1"/>
          <p:nvPr/>
        </p:nvSpPr>
        <p:spPr>
          <a:xfrm>
            <a:off x="4066817" y="3799396"/>
            <a:ext cx="4342394" cy="24622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33350" tIns="0" rIns="0" bIns="0" anchor="t" anchorCtr="0">
            <a:spAutoFit/>
          </a:bodyPr>
          <a:lstStyle/>
          <a:p>
            <a:r>
              <a:rPr lang="en-US" sz="1600">
                <a:solidFill>
                  <a:srgbClr val="D97706"/>
                </a:solidFill>
                <a:latin typeface="Poppins SemiBold"/>
                <a:cs typeface="Poppins SemiBold"/>
                <a:sym typeface="Poppins SemiBold"/>
              </a:rPr>
              <a:t>Volume is Balanced, Profitability is Not</a:t>
            </a:r>
            <a:endParaRPr lang="en-US" sz="1600"/>
          </a:p>
        </p:txBody>
      </p:sp>
      <p:sp>
        <p:nvSpPr>
          <p:cNvPr id="15" name="Google Shape;280;p18">
            <a:extLst>
              <a:ext uri="{FF2B5EF4-FFF2-40B4-BE49-F238E27FC236}">
                <a16:creationId xmlns:a16="http://schemas.microsoft.com/office/drawing/2014/main" id="{4E5D6BF2-044C-569D-390E-C9BC20615343}"/>
              </a:ext>
            </a:extLst>
          </p:cNvPr>
          <p:cNvSpPr txBox="1"/>
          <p:nvPr/>
        </p:nvSpPr>
        <p:spPr>
          <a:xfrm>
            <a:off x="4181836" y="4104378"/>
            <a:ext cx="3868737" cy="166199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171450" indent="-171450">
              <a:lnSpc>
                <a:spcPct val="150000"/>
              </a:lnSpc>
              <a:buFont typeface="Wingdings"/>
              <a:buChar char="ü"/>
            </a:pPr>
            <a:r>
              <a:rPr lang="en-US" sz="1200">
                <a:solidFill>
                  <a:srgbClr val="475569"/>
                </a:solidFill>
                <a:latin typeface="Inter"/>
                <a:ea typeface="Inter"/>
              </a:rPr>
              <a:t>Clothing leads with 18,249 units, only 3.5% above Accessories </a:t>
            </a:r>
            <a:endParaRPr lang="en-US"/>
          </a:p>
          <a:p>
            <a:pPr marL="171450" indent="-171450">
              <a:lnSpc>
                <a:spcPct val="150000"/>
              </a:lnSpc>
              <a:buFont typeface="Wingdings"/>
              <a:buChar char="ü"/>
            </a:pPr>
            <a:r>
              <a:rPr lang="en-US" sz="1200">
                <a:solidFill>
                  <a:srgbClr val="475569"/>
                </a:solidFill>
                <a:latin typeface="Inter"/>
                <a:ea typeface="Inter"/>
              </a:rPr>
              <a:t>Clothing margin: 58.72% vs Accessories: 79.46% </a:t>
            </a:r>
            <a:endParaRPr lang="en-US"/>
          </a:p>
          <a:p>
            <a:pPr marL="171450" indent="-171450">
              <a:lnSpc>
                <a:spcPct val="150000"/>
              </a:lnSpc>
              <a:buFont typeface="Wingdings"/>
              <a:buChar char="ü"/>
            </a:pPr>
            <a:r>
              <a:rPr lang="en-US" sz="1200">
                <a:solidFill>
                  <a:srgbClr val="475569"/>
                </a:solidFill>
                <a:latin typeface="Inter"/>
                <a:ea typeface="Inter"/>
              </a:rPr>
              <a:t>20.74% margin gap shows profitability depends more on category mix than volume</a:t>
            </a:r>
            <a:endParaRPr lang="en-US"/>
          </a:p>
          <a:p>
            <a:pPr marL="171450" indent="-171450">
              <a:lnSpc>
                <a:spcPct val="150000"/>
              </a:lnSpc>
              <a:buFont typeface="Wingdings"/>
              <a:buChar char="ü"/>
            </a:pPr>
            <a:endParaRPr lang="en-US" sz="1200">
              <a:solidFill>
                <a:srgbClr val="475569"/>
              </a:solidFill>
              <a:latin typeface="Inter"/>
              <a:ea typeface="Inter"/>
            </a:endParaRPr>
          </a:p>
        </p:txBody>
      </p:sp>
      <p:sp>
        <p:nvSpPr>
          <p:cNvPr id="19" name="Google Shape;282;p18">
            <a:extLst>
              <a:ext uri="{FF2B5EF4-FFF2-40B4-BE49-F238E27FC236}">
                <a16:creationId xmlns:a16="http://schemas.microsoft.com/office/drawing/2014/main" id="{2358AE56-FA17-CCD0-E14C-DFD850958279}"/>
              </a:ext>
            </a:extLst>
          </p:cNvPr>
          <p:cNvSpPr txBox="1"/>
          <p:nvPr/>
        </p:nvSpPr>
        <p:spPr>
          <a:xfrm>
            <a:off x="8322513" y="4102760"/>
            <a:ext cx="3782474" cy="192461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171450" indent="-171450">
              <a:lnSpc>
                <a:spcPct val="150000"/>
              </a:lnSpc>
              <a:buFont typeface="Wingdings"/>
              <a:buChar char="ü"/>
            </a:pPr>
            <a:r>
              <a:rPr lang="en-US" sz="1200">
                <a:solidFill>
                  <a:srgbClr val="475569"/>
                </a:solidFill>
                <a:latin typeface="Inter"/>
                <a:ea typeface="Inter"/>
                <a:sym typeface="Inter"/>
              </a:rPr>
              <a:t>Accessories combines near-leading volume with the highest profitability </a:t>
            </a:r>
          </a:p>
          <a:p>
            <a:pPr marL="171450" indent="-171450">
              <a:lnSpc>
                <a:spcPct val="150000"/>
              </a:lnSpc>
              <a:buFont typeface="Wingdings"/>
              <a:buChar char="ü"/>
            </a:pPr>
            <a:r>
              <a:rPr lang="en-US" sz="1200">
                <a:solidFill>
                  <a:srgbClr val="475569"/>
                </a:solidFill>
                <a:latin typeface="Inter"/>
                <a:ea typeface="Inter"/>
                <a:sym typeface="Inter"/>
              </a:rPr>
              <a:t>Clothing = volume driver but lowest category economics </a:t>
            </a:r>
            <a:endParaRPr lang="en-US" sz="1200">
              <a:solidFill>
                <a:srgbClr val="475569"/>
              </a:solidFill>
              <a:latin typeface="Inter"/>
              <a:ea typeface="Inter"/>
            </a:endParaRPr>
          </a:p>
          <a:p>
            <a:pPr marL="171450" indent="-171450">
              <a:lnSpc>
                <a:spcPct val="150000"/>
              </a:lnSpc>
              <a:buFont typeface="Wingdings"/>
              <a:buChar char="ü"/>
            </a:pPr>
            <a:r>
              <a:rPr lang="en-US" sz="1200">
                <a:solidFill>
                  <a:srgbClr val="475569"/>
                </a:solidFill>
                <a:latin typeface="Inter"/>
                <a:ea typeface="Inter"/>
                <a:sym typeface="Inter"/>
              </a:rPr>
              <a:t>Cross-sell Accessories with</a:t>
            </a:r>
            <a:r>
              <a:rPr lang="en-US" sz="1200">
                <a:solidFill>
                  <a:srgbClr val="475569"/>
                </a:solidFill>
                <a:latin typeface="Inter"/>
                <a:ea typeface="Inter"/>
              </a:rPr>
              <a:t> Clothing to increase profit contribution without sacrificing volume</a:t>
            </a:r>
          </a:p>
          <a:p>
            <a:pPr marL="171450" indent="-171450">
              <a:lnSpc>
                <a:spcPct val="150000"/>
              </a:lnSpc>
              <a:buFont typeface="Wingdings"/>
              <a:buChar char="ü"/>
            </a:pPr>
            <a:endParaRPr lang="en-US" sz="1200">
              <a:solidFill>
                <a:srgbClr val="475569"/>
              </a:solidFill>
              <a:latin typeface="Inter"/>
              <a:ea typeface="Inter"/>
            </a:endParaRPr>
          </a:p>
        </p:txBody>
      </p:sp>
      <p:sp>
        <p:nvSpPr>
          <p:cNvPr id="17" name="Google Shape;281;p18">
            <a:extLst>
              <a:ext uri="{FF2B5EF4-FFF2-40B4-BE49-F238E27FC236}">
                <a16:creationId xmlns:a16="http://schemas.microsoft.com/office/drawing/2014/main" id="{E40328CF-76AE-7F33-E8B3-6A545C5541C4}"/>
              </a:ext>
            </a:extLst>
          </p:cNvPr>
          <p:cNvSpPr txBox="1"/>
          <p:nvPr/>
        </p:nvSpPr>
        <p:spPr>
          <a:xfrm>
            <a:off x="8322513" y="3783404"/>
            <a:ext cx="3637907" cy="24622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33350" tIns="0" rIns="0" bIns="0" anchor="t" anchorCtr="0">
            <a:spAutoFit/>
          </a:bodyPr>
          <a:lstStyle/>
          <a:p>
            <a:r>
              <a:rPr lang="en-US" sz="1600">
                <a:solidFill>
                  <a:srgbClr val="047857"/>
                </a:solidFill>
                <a:latin typeface="Poppins SemiBold"/>
                <a:cs typeface="Poppins SemiBold"/>
                <a:sym typeface="Poppins SemiBold"/>
              </a:rPr>
              <a:t>Portfolio Mix Opportunity</a:t>
            </a:r>
            <a:endParaRPr lang="en-US" sz="160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>
          <a:blip r:embed="rId3"/>
          <a:stretch>
            <a:fillRect/>
          </a:stretch>
        </a:blipFill>
        <a:effectLst/>
      </p:bgPr>
    </p:bg>
    <p:spTree>
      <p:nvGrpSpPr>
        <p:cNvPr id="1" name="Shape 2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7" name="Google Shape;337;p20" descr="image.png">
            <a:extLst>
              <a:ext uri="{FF2B5EF4-FFF2-40B4-BE49-F238E27FC236}">
                <a16:creationId xmlns:a16="http://schemas.microsoft.com/office/drawing/2014/main" id="{B0A3D526-DDD3-F7A6-00CB-EBE161D67C74}"/>
              </a:ext>
            </a:extLst>
          </p:cNvPr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5805757" y="4031791"/>
            <a:ext cx="6163931" cy="2489449"/>
          </a:xfrm>
          <a:prstGeom prst="rect">
            <a:avLst/>
          </a:prstGeom>
          <a:noFill/>
          <a:ln>
            <a:noFill/>
          </a:ln>
        </p:spPr>
      </p:pic>
      <p:pic>
        <p:nvPicPr>
          <p:cNvPr id="16" name="Google Shape;337;p20" descr="image.png">
            <a:extLst>
              <a:ext uri="{FF2B5EF4-FFF2-40B4-BE49-F238E27FC236}">
                <a16:creationId xmlns:a16="http://schemas.microsoft.com/office/drawing/2014/main" id="{08558039-6DC7-71BA-7873-562F4795AD0E}"/>
              </a:ext>
            </a:extLst>
          </p:cNvPr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543644" y="4031792"/>
            <a:ext cx="4869970" cy="2431940"/>
          </a:xfrm>
          <a:prstGeom prst="rect">
            <a:avLst/>
          </a:prstGeom>
          <a:noFill/>
          <a:ln>
            <a:noFill/>
          </a:ln>
        </p:spPr>
      </p:pic>
      <p:pic>
        <p:nvPicPr>
          <p:cNvPr id="235" name="Google Shape;235;p17" descr="image.png"/>
          <p:cNvPicPr preferRelativeResize="0"/>
          <p:nvPr/>
        </p:nvPicPr>
        <p:blipFill rotWithShape="1">
          <a:blip r:embed="rId5">
            <a:alphaModFix/>
          </a:blip>
          <a:srcRect/>
          <a:stretch/>
        </p:blipFill>
        <p:spPr>
          <a:xfrm>
            <a:off x="428625" y="6505575"/>
            <a:ext cx="11334750" cy="219075"/>
          </a:xfrm>
          <a:prstGeom prst="rect">
            <a:avLst/>
          </a:prstGeom>
          <a:noFill/>
          <a:ln>
            <a:noFill/>
          </a:ln>
        </p:spPr>
      </p:pic>
      <p:sp>
        <p:nvSpPr>
          <p:cNvPr id="236" name="Google Shape;236;p17"/>
          <p:cNvSpPr txBox="1"/>
          <p:nvPr/>
        </p:nvSpPr>
        <p:spPr>
          <a:xfrm>
            <a:off x="766762" y="302908"/>
            <a:ext cx="11425237" cy="36933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spAutoFit/>
          </a:bodyPr>
          <a:lstStyle/>
          <a:p>
            <a:r>
              <a:rPr lang="en-US" sz="2400" b="1">
                <a:solidFill>
                  <a:srgbClr val="0F172A"/>
                </a:solidFill>
                <a:latin typeface="Poppins"/>
                <a:cs typeface="Poppins"/>
                <a:sym typeface="Poppins"/>
              </a:rPr>
              <a:t>Monthly Revenue Trend — Nov 2023 To Nov 2025</a:t>
            </a:r>
            <a:endParaRPr lang="en-US" sz="2400">
              <a:latin typeface="Poppins"/>
              <a:cs typeface="Poppins"/>
            </a:endParaRPr>
          </a:p>
        </p:txBody>
      </p:sp>
      <p:sp>
        <p:nvSpPr>
          <p:cNvPr id="237" name="Google Shape;237;p17"/>
          <p:cNvSpPr txBox="1"/>
          <p:nvPr/>
        </p:nvSpPr>
        <p:spPr>
          <a:xfrm>
            <a:off x="428625" y="739439"/>
            <a:ext cx="11334750" cy="18466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r>
              <a:rPr lang="en-US" sz="1200">
                <a:solidFill>
                  <a:srgbClr val="64748B"/>
                </a:solidFill>
                <a:latin typeface="Inter"/>
                <a:ea typeface="Inter"/>
                <a:sym typeface="Inter"/>
              </a:rPr>
              <a:t>Analyzing 24-month revenue trends to identify seasonal peaks and guide inventory and promotional planning.</a:t>
            </a:r>
            <a:endParaRPr lang="en-US" sz="1200">
              <a:solidFill>
                <a:srgbClr val="64748B"/>
              </a:solidFill>
              <a:latin typeface="Inter"/>
              <a:ea typeface="Inter"/>
            </a:endParaRPr>
          </a:p>
        </p:txBody>
      </p:sp>
      <p:sp>
        <p:nvSpPr>
          <p:cNvPr id="238" name="Google Shape;238;p17"/>
          <p:cNvSpPr txBox="1"/>
          <p:nvPr/>
        </p:nvSpPr>
        <p:spPr>
          <a:xfrm>
            <a:off x="428625" y="6620054"/>
            <a:ext cx="2902968" cy="12695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825" b="0" i="0" u="none" strike="noStrike" cap="none">
                <a:solidFill>
                  <a:srgbClr val="94A3B8"/>
                </a:solidFill>
                <a:latin typeface="Inter"/>
                <a:ea typeface="Inter"/>
                <a:cs typeface="Inter"/>
                <a:sym typeface="Inter"/>
              </a:rPr>
              <a:t>FashionWave Retail Sales Analysis</a:t>
            </a:r>
            <a:endParaRPr/>
          </a:p>
        </p:txBody>
      </p:sp>
      <p:sp>
        <p:nvSpPr>
          <p:cNvPr id="239" name="Google Shape;239;p17"/>
          <p:cNvSpPr txBox="1"/>
          <p:nvPr/>
        </p:nvSpPr>
        <p:spPr>
          <a:xfrm>
            <a:off x="10679143" y="6620054"/>
            <a:ext cx="1012346" cy="12695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r>
              <a:rPr lang="en-US" sz="800" b="0" i="0" u="none" strike="noStrike" cap="none">
                <a:solidFill>
                  <a:srgbClr val="94A3B8"/>
                </a:solidFill>
                <a:latin typeface="Inter"/>
                <a:ea typeface="Inter"/>
                <a:cs typeface="Inter"/>
                <a:sym typeface="Inter"/>
              </a:rPr>
              <a:t>Slide </a:t>
            </a:r>
            <a:r>
              <a:rPr lang="en-US" sz="800">
                <a:solidFill>
                  <a:srgbClr val="94A3B8"/>
                </a:solidFill>
                <a:latin typeface="Inter"/>
                <a:ea typeface="Inter"/>
                <a:cs typeface="Inter"/>
                <a:sym typeface="Inter"/>
              </a:rPr>
              <a:t>10 of</a:t>
            </a:r>
            <a:r>
              <a:rPr lang="en-US" sz="800" b="0" i="0" u="none" strike="noStrike" cap="none">
                <a:solidFill>
                  <a:srgbClr val="94A3B8"/>
                </a:solidFill>
                <a:latin typeface="Inter"/>
                <a:ea typeface="Inter"/>
                <a:cs typeface="Inter"/>
                <a:sym typeface="Inter"/>
              </a:rPr>
              <a:t> </a:t>
            </a:r>
            <a:r>
              <a:rPr lang="en-US" sz="800">
                <a:solidFill>
                  <a:srgbClr val="94A3B8"/>
                </a:solidFill>
                <a:latin typeface="Inter"/>
                <a:ea typeface="Inter"/>
                <a:cs typeface="Inter"/>
                <a:sym typeface="Inter"/>
              </a:rPr>
              <a:t>12</a:t>
            </a:r>
            <a:endParaRPr sz="800"/>
          </a:p>
        </p:txBody>
      </p:sp>
      <p:pic>
        <p:nvPicPr>
          <p:cNvPr id="240" name="Google Shape;240;p17" descr="image.png"/>
          <p:cNvPicPr preferRelativeResize="0"/>
          <p:nvPr/>
        </p:nvPicPr>
        <p:blipFill rotWithShape="1">
          <a:blip r:embed="rId6">
            <a:alphaModFix/>
          </a:blip>
          <a:srcRect/>
          <a:stretch/>
        </p:blipFill>
        <p:spPr>
          <a:xfrm>
            <a:off x="428625" y="379065"/>
            <a:ext cx="223837" cy="228600"/>
          </a:xfrm>
          <a:prstGeom prst="rect">
            <a:avLst/>
          </a:prstGeom>
          <a:noFill/>
          <a:ln>
            <a:noFill/>
          </a:ln>
        </p:spPr>
      </p:pic>
      <p:sp>
        <p:nvSpPr>
          <p:cNvPr id="242" name="Google Shape;242;p17"/>
          <p:cNvSpPr txBox="1"/>
          <p:nvPr/>
        </p:nvSpPr>
        <p:spPr>
          <a:xfrm>
            <a:off x="665313" y="4148012"/>
            <a:ext cx="4753874" cy="247432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r>
              <a:rPr lang="en-US">
                <a:solidFill>
                  <a:srgbClr val="0070C0"/>
                </a:solidFill>
                <a:latin typeface="Poppins SemiBold"/>
                <a:cs typeface="Poppins SemiBold"/>
                <a:sym typeface="Inter"/>
              </a:rPr>
              <a:t>SEASONAL PEAK DRIVERS</a:t>
            </a:r>
            <a:endParaRPr lang="en-US">
              <a:solidFill>
                <a:srgbClr val="0070C0"/>
              </a:solidFill>
              <a:latin typeface="Poppins SemiBold"/>
              <a:cs typeface="Poppins SemiBold"/>
              <a:sym typeface="Inter Medium"/>
            </a:endParaRPr>
          </a:p>
          <a:p>
            <a:pPr marL="171450" indent="-171450">
              <a:lnSpc>
                <a:spcPct val="150000"/>
              </a:lnSpc>
              <a:buFont typeface="Wingdings"/>
              <a:buChar char="ü"/>
            </a:pPr>
            <a:r>
              <a:rPr lang="en-US" sz="1200" b="1">
                <a:solidFill>
                  <a:srgbClr val="166534"/>
                </a:solidFill>
                <a:latin typeface="Inter Medium"/>
                <a:ea typeface="Inter Medium"/>
                <a:cs typeface="Inter"/>
                <a:sym typeface="Inter Medium"/>
              </a:rPr>
              <a:t> </a:t>
            </a:r>
            <a:r>
              <a:rPr lang="en-US" sz="1200" b="1">
                <a:solidFill>
                  <a:srgbClr val="475569"/>
                </a:solidFill>
                <a:latin typeface="Inter"/>
                <a:ea typeface="Inter"/>
                <a:sym typeface="Inter Medium"/>
              </a:rPr>
              <a:t>#1st Peak — Dec '23 (₹13.37M):</a:t>
            </a:r>
            <a:r>
              <a:rPr lang="en-US" sz="1200">
                <a:solidFill>
                  <a:srgbClr val="475569"/>
                </a:solidFill>
                <a:latin typeface="Inter"/>
                <a:ea typeface="Inter"/>
                <a:sym typeface="Inter Medium"/>
              </a:rPr>
              <a:t> Highest overall revenue month, driven by Year-End celebrations, holiday gifting, and winter collection rollouts. </a:t>
            </a:r>
            <a:endParaRPr lang="en-US" sz="1200">
              <a:solidFill>
                <a:srgbClr val="475569"/>
              </a:solidFill>
              <a:latin typeface="Inter"/>
              <a:ea typeface="Inter"/>
            </a:endParaRPr>
          </a:p>
          <a:p>
            <a:pPr marL="171450" indent="-171450">
              <a:lnSpc>
                <a:spcPct val="150000"/>
              </a:lnSpc>
              <a:buFont typeface="Wingdings"/>
              <a:buChar char="ü"/>
            </a:pPr>
            <a:r>
              <a:rPr lang="en-US" sz="1200" b="1">
                <a:solidFill>
                  <a:srgbClr val="475569"/>
                </a:solidFill>
                <a:latin typeface="Inter"/>
                <a:ea typeface="Inter"/>
                <a:sym typeface="Inter Medium"/>
              </a:rPr>
              <a:t>#2nd Peak — Oct '25 (₹12.83M):</a:t>
            </a:r>
            <a:r>
              <a:rPr lang="en-US" sz="1200">
                <a:solidFill>
                  <a:srgbClr val="475569"/>
                </a:solidFill>
                <a:latin typeface="Inter"/>
                <a:ea typeface="Inter"/>
                <a:sym typeface="Inter Medium"/>
              </a:rPr>
              <a:t> Driven by the pre-festive surge (Navratri, Dussehra, and Diwali prep). </a:t>
            </a:r>
            <a:endParaRPr lang="en-US" sz="1200">
              <a:solidFill>
                <a:srgbClr val="475569"/>
              </a:solidFill>
              <a:latin typeface="Inter"/>
              <a:ea typeface="Inter"/>
            </a:endParaRPr>
          </a:p>
          <a:p>
            <a:pPr marL="171450" indent="-171450">
              <a:lnSpc>
                <a:spcPct val="150000"/>
              </a:lnSpc>
              <a:buFont typeface="Wingdings"/>
              <a:buChar char="ü"/>
            </a:pPr>
            <a:r>
              <a:rPr lang="en-US" sz="1200" b="1">
                <a:solidFill>
                  <a:srgbClr val="475569"/>
                </a:solidFill>
                <a:latin typeface="Inter"/>
                <a:ea typeface="Inter"/>
                <a:sym typeface="Inter Medium"/>
              </a:rPr>
              <a:t>#3rd Peak — Dec '24 (₹12.58M):</a:t>
            </a:r>
            <a:r>
              <a:rPr lang="en-US" sz="1200">
                <a:solidFill>
                  <a:srgbClr val="475569"/>
                </a:solidFill>
                <a:latin typeface="Inter"/>
                <a:ea typeface="Inter"/>
                <a:sym typeface="Inter Medium"/>
              </a:rPr>
              <a:t> Secondary Year-End shopping peak</a:t>
            </a:r>
            <a:endParaRPr lang="en-US" sz="1200">
              <a:solidFill>
                <a:srgbClr val="475569"/>
              </a:solidFill>
              <a:latin typeface="Inter"/>
              <a:ea typeface="Inter"/>
            </a:endParaRPr>
          </a:p>
          <a:p>
            <a:pPr marL="0" marR="0" lvl="0" indent="0" algn="l">
              <a:lnSpc>
                <a:spcPct val="134888"/>
              </a:lnSpc>
              <a:spcBef>
                <a:spcPts val="0"/>
              </a:spcBef>
              <a:spcAft>
                <a:spcPts val="0"/>
              </a:spcAft>
              <a:buNone/>
            </a:pPr>
            <a:endParaRPr lang="en-US" sz="1100">
              <a:solidFill>
                <a:srgbClr val="166534"/>
              </a:solidFill>
              <a:latin typeface="Inter Medium"/>
              <a:ea typeface="Inter Medium"/>
            </a:endParaRPr>
          </a:p>
        </p:txBody>
      </p:sp>
      <p:graphicFrame>
        <p:nvGraphicFramePr>
          <p:cNvPr id="13" name="Chart 12">
            <a:extLst>
              <a:ext uri="{FF2B5EF4-FFF2-40B4-BE49-F238E27FC236}">
                <a16:creationId xmlns:a16="http://schemas.microsoft.com/office/drawing/2014/main" id="{75A822E5-5D74-4042-A6D4-D3DD98B0B580}"/>
              </a:ext>
              <a:ext uri="{147F2762-F138-4A5C-976F-8EAC2B608ADB}">
                <a16:predDERef xmlns:a16="http://schemas.microsoft.com/office/drawing/2014/main" pred="{680FE228-CB25-C237-A152-AF6C1D1E1EA5}"/>
              </a:ext>
            </a:extLst>
          </p:cNvPr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3983479991"/>
              </p:ext>
            </p:extLst>
          </p:nvPr>
        </p:nvGraphicFramePr>
        <p:xfrm>
          <a:off x="427547" y="1055658"/>
          <a:ext cx="11562271" cy="268605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7"/>
          </a:graphicData>
        </a:graphic>
      </p:graphicFrame>
      <p:sp>
        <p:nvSpPr>
          <p:cNvPr id="14" name="TextBox 13">
            <a:extLst>
              <a:ext uri="{FF2B5EF4-FFF2-40B4-BE49-F238E27FC236}">
                <a16:creationId xmlns:a16="http://schemas.microsoft.com/office/drawing/2014/main" id="{1ED69C89-231E-3321-D636-8C9421DA354E}"/>
              </a:ext>
            </a:extLst>
          </p:cNvPr>
          <p:cNvSpPr txBox="1"/>
          <p:nvPr/>
        </p:nvSpPr>
        <p:spPr>
          <a:xfrm>
            <a:off x="5894717" y="4047226"/>
            <a:ext cx="6096000" cy="2462213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en-US">
                <a:solidFill>
                  <a:srgbClr val="D97706"/>
                </a:solidFill>
                <a:latin typeface="Poppins SemiBold"/>
                <a:ea typeface="Inter"/>
                <a:cs typeface="Poppins SemiBold"/>
              </a:rPr>
              <a:t>SEASONAL</a:t>
            </a:r>
            <a:r>
              <a:rPr lang="en-US">
                <a:solidFill>
                  <a:srgbClr val="D97706"/>
                </a:solidFill>
                <a:latin typeface="Poppins SemiBold"/>
                <a:cs typeface="Poppins SemiBold"/>
              </a:rPr>
              <a:t> INFERENCES &amp; ACTIONABLE STRATEGY:</a:t>
            </a:r>
          </a:p>
          <a:p>
            <a:pPr marL="171450" indent="-171450">
              <a:lnSpc>
                <a:spcPct val="150000"/>
              </a:lnSpc>
              <a:buFont typeface="Wingdings"/>
              <a:buChar char="ü"/>
            </a:pPr>
            <a:r>
              <a:rPr lang="en-US" sz="1200" b="1">
                <a:solidFill>
                  <a:srgbClr val="566375"/>
                </a:solidFill>
                <a:latin typeface="Inter Medium"/>
                <a:ea typeface="Inter Medium"/>
              </a:rPr>
              <a:t>Q4 Concentration</a:t>
            </a:r>
            <a:r>
              <a:rPr lang="en-US" sz="1200">
                <a:solidFill>
                  <a:srgbClr val="566375"/>
                </a:solidFill>
                <a:latin typeface="Inter Medium"/>
                <a:ea typeface="Inter Medium"/>
              </a:rPr>
              <a:t>: Q4 (Oct–Dec) consistently generates ~33% of annual sales, making early inventory buildup by August critical to prevent stockouts of fast-moving SKUs. </a:t>
            </a:r>
          </a:p>
          <a:p>
            <a:pPr marL="171450" indent="-171450">
              <a:lnSpc>
                <a:spcPct val="150000"/>
              </a:lnSpc>
              <a:buFont typeface="Wingdings"/>
              <a:buChar char="ü"/>
            </a:pPr>
            <a:r>
              <a:rPr lang="en-US" sz="1200" b="1">
                <a:solidFill>
                  <a:srgbClr val="566375"/>
                </a:solidFill>
                <a:latin typeface="Inter Medium"/>
                <a:ea typeface="Inter Medium"/>
              </a:rPr>
              <a:t>Off-Peak Clearance Window:</a:t>
            </a:r>
            <a:r>
              <a:rPr lang="en-US" sz="1200">
                <a:solidFill>
                  <a:srgbClr val="566375"/>
                </a:solidFill>
                <a:latin typeface="Inter Medium"/>
                <a:ea typeface="Inter Medium"/>
              </a:rPr>
              <a:t> The slow Q1 period (Jan–Mar) and mid-monsoon months (Jul–Aug averaging ~₹7.2M–₹7.9M) represent ideal windows for inventory clearance sales and new customer onboarding campaigns. </a:t>
            </a:r>
          </a:p>
          <a:p>
            <a:pPr algn="ctr"/>
            <a:endParaRPr lang="en-US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>
          <a:blip r:embed="rId3"/>
          <a:stretch>
            <a:fillRect/>
          </a:stretch>
        </a:blipFill>
        <a:effectLst/>
      </p:bgPr>
    </p:bg>
    <p:spTree>
      <p:nvGrpSpPr>
        <p:cNvPr id="1" name="Shape 39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98" name="Google Shape;398;p22" descr="image.png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6193945" y="1044231"/>
            <a:ext cx="5562421" cy="5413391"/>
          </a:xfrm>
          <a:prstGeom prst="rect">
            <a:avLst/>
          </a:prstGeom>
          <a:noFill/>
          <a:ln>
            <a:noFill/>
          </a:ln>
        </p:spPr>
      </p:pic>
      <p:pic>
        <p:nvPicPr>
          <p:cNvPr id="399" name="Google Shape;399;p22" descr="image.png"/>
          <p:cNvPicPr preferRelativeResize="0"/>
          <p:nvPr/>
        </p:nvPicPr>
        <p:blipFill rotWithShape="1">
          <a:blip r:embed="rId5">
            <a:alphaModFix/>
          </a:blip>
          <a:srcRect/>
          <a:stretch/>
        </p:blipFill>
        <p:spPr>
          <a:xfrm>
            <a:off x="435634" y="1044231"/>
            <a:ext cx="5648684" cy="5413391"/>
          </a:xfrm>
          <a:prstGeom prst="rect">
            <a:avLst/>
          </a:prstGeom>
          <a:noFill/>
          <a:ln>
            <a:noFill/>
          </a:ln>
        </p:spPr>
      </p:pic>
      <p:pic>
        <p:nvPicPr>
          <p:cNvPr id="400" name="Google Shape;400;p22" descr="image.png"/>
          <p:cNvPicPr preferRelativeResize="0"/>
          <p:nvPr/>
        </p:nvPicPr>
        <p:blipFill rotWithShape="1">
          <a:blip r:embed="rId6">
            <a:alphaModFix/>
          </a:blip>
          <a:srcRect/>
          <a:stretch/>
        </p:blipFill>
        <p:spPr>
          <a:xfrm>
            <a:off x="428625" y="6505575"/>
            <a:ext cx="11334750" cy="219075"/>
          </a:xfrm>
          <a:prstGeom prst="rect">
            <a:avLst/>
          </a:prstGeom>
          <a:noFill/>
          <a:ln>
            <a:noFill/>
          </a:ln>
        </p:spPr>
      </p:pic>
      <p:sp>
        <p:nvSpPr>
          <p:cNvPr id="401" name="Google Shape;401;p22"/>
          <p:cNvSpPr txBox="1"/>
          <p:nvPr/>
        </p:nvSpPr>
        <p:spPr>
          <a:xfrm>
            <a:off x="795337" y="271766"/>
            <a:ext cx="11396662" cy="44319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spAutoFit/>
          </a:bodyPr>
          <a:lstStyle/>
          <a:p>
            <a:pPr marL="0" marR="0" lvl="0" indent="0" algn="l" rtl="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400" b="1" i="0" u="none" strike="noStrike" cap="none">
                <a:solidFill>
                  <a:srgbClr val="0F172A"/>
                </a:solidFill>
                <a:latin typeface="Poppins"/>
                <a:ea typeface="Poppins"/>
                <a:cs typeface="Poppins"/>
                <a:sym typeface="Poppins"/>
              </a:rPr>
              <a:t>Actionable Growth Roadmap</a:t>
            </a:r>
            <a:endParaRPr lang="en-US" sz="2400">
              <a:latin typeface="Poppins"/>
              <a:cs typeface="Poppins"/>
            </a:endParaRPr>
          </a:p>
        </p:txBody>
      </p:sp>
      <p:sp>
        <p:nvSpPr>
          <p:cNvPr id="402" name="Google Shape;402;p22"/>
          <p:cNvSpPr txBox="1"/>
          <p:nvPr/>
        </p:nvSpPr>
        <p:spPr>
          <a:xfrm>
            <a:off x="428625" y="768194"/>
            <a:ext cx="11334750" cy="18466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 b="0" i="0" u="none" strike="noStrike" cap="none">
                <a:solidFill>
                  <a:srgbClr val="64748B"/>
                </a:solidFill>
                <a:latin typeface="Inter"/>
                <a:ea typeface="Inter"/>
                <a:cs typeface="Inter"/>
                <a:sym typeface="Inter"/>
              </a:rPr>
              <a:t>Phased implementation timeline for immediate quick wins and sustained strategic initiatives</a:t>
            </a:r>
            <a:endParaRPr lang="en-US" sz="1200"/>
          </a:p>
        </p:txBody>
      </p:sp>
      <p:sp>
        <p:nvSpPr>
          <p:cNvPr id="403" name="Google Shape;403;p22"/>
          <p:cNvSpPr txBox="1"/>
          <p:nvPr/>
        </p:nvSpPr>
        <p:spPr>
          <a:xfrm>
            <a:off x="428625" y="6620054"/>
            <a:ext cx="3118628" cy="12695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825" b="0" i="0" u="none" strike="noStrike" cap="none">
                <a:solidFill>
                  <a:srgbClr val="94A3B8"/>
                </a:solidFill>
                <a:latin typeface="Inter"/>
                <a:ea typeface="Inter"/>
                <a:cs typeface="Inter"/>
                <a:sym typeface="Inter"/>
              </a:rPr>
              <a:t>FashionWave Retail Sales Analysis</a:t>
            </a:r>
            <a:endParaRPr/>
          </a:p>
        </p:txBody>
      </p:sp>
      <p:sp>
        <p:nvSpPr>
          <p:cNvPr id="404" name="Google Shape;404;p22"/>
          <p:cNvSpPr txBox="1"/>
          <p:nvPr/>
        </p:nvSpPr>
        <p:spPr>
          <a:xfrm>
            <a:off x="10669798" y="6620054"/>
            <a:ext cx="1036068" cy="12695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800" b="0" i="0" u="none" strike="noStrike" cap="none">
                <a:solidFill>
                  <a:srgbClr val="94A3B8"/>
                </a:solidFill>
                <a:latin typeface="Inter"/>
                <a:ea typeface="Inter"/>
                <a:cs typeface="Inter"/>
                <a:sym typeface="Inter"/>
              </a:rPr>
              <a:t>Slide </a:t>
            </a:r>
            <a:r>
              <a:rPr lang="en-US" sz="800">
                <a:solidFill>
                  <a:srgbClr val="94A3B8"/>
                </a:solidFill>
                <a:latin typeface="Inter"/>
                <a:ea typeface="Inter"/>
                <a:cs typeface="Inter"/>
                <a:sym typeface="Inter"/>
              </a:rPr>
              <a:t>11</a:t>
            </a:r>
            <a:r>
              <a:rPr lang="en-US" sz="800" b="0" i="0" u="none" strike="noStrike" cap="none">
                <a:solidFill>
                  <a:srgbClr val="94A3B8"/>
                </a:solidFill>
                <a:latin typeface="Inter"/>
                <a:ea typeface="Inter"/>
                <a:cs typeface="Inter"/>
                <a:sym typeface="Inter"/>
              </a:rPr>
              <a:t> of </a:t>
            </a:r>
            <a:r>
              <a:rPr lang="en-US" sz="800">
                <a:solidFill>
                  <a:srgbClr val="94A3B8"/>
                </a:solidFill>
                <a:latin typeface="Inter"/>
                <a:ea typeface="Inter"/>
                <a:cs typeface="Inter"/>
                <a:sym typeface="Inter"/>
              </a:rPr>
              <a:t>12</a:t>
            </a:r>
            <a:endParaRPr sz="800"/>
          </a:p>
        </p:txBody>
      </p:sp>
      <p:pic>
        <p:nvPicPr>
          <p:cNvPr id="405" name="Google Shape;405;p22" descr="image.png"/>
          <p:cNvPicPr preferRelativeResize="0"/>
          <p:nvPr/>
        </p:nvPicPr>
        <p:blipFill rotWithShape="1">
          <a:blip r:embed="rId7">
            <a:alphaModFix/>
          </a:blip>
          <a:srcRect/>
          <a:stretch/>
        </p:blipFill>
        <p:spPr>
          <a:xfrm>
            <a:off x="428625" y="379065"/>
            <a:ext cx="252412" cy="228600"/>
          </a:xfrm>
          <a:prstGeom prst="rect">
            <a:avLst/>
          </a:prstGeom>
          <a:noFill/>
          <a:ln>
            <a:noFill/>
          </a:ln>
        </p:spPr>
      </p:pic>
      <p:sp>
        <p:nvSpPr>
          <p:cNvPr id="408" name="Google Shape;408;p22"/>
          <p:cNvSpPr txBox="1"/>
          <p:nvPr/>
        </p:nvSpPr>
        <p:spPr>
          <a:xfrm>
            <a:off x="626218" y="1280100"/>
            <a:ext cx="5570700" cy="27699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1430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 b="1" i="0" u="none" strike="noStrike" cap="none">
                <a:solidFill>
                  <a:srgbClr val="0C8E82"/>
                </a:solidFill>
                <a:latin typeface="Inter Black"/>
                <a:ea typeface="Inter Black"/>
                <a:cs typeface="Inter"/>
                <a:sym typeface="Inter"/>
              </a:rPr>
              <a:t>Quick Wins (0–3 Months)</a:t>
            </a:r>
            <a:endParaRPr lang="en-US" sz="1800">
              <a:solidFill>
                <a:srgbClr val="0C8E82"/>
              </a:solidFill>
              <a:latin typeface="Inter Black"/>
              <a:ea typeface="Inter Black"/>
            </a:endParaRPr>
          </a:p>
        </p:txBody>
      </p:sp>
      <p:sp>
        <p:nvSpPr>
          <p:cNvPr id="409" name="Google Shape;409;p22"/>
          <p:cNvSpPr txBox="1"/>
          <p:nvPr/>
        </p:nvSpPr>
        <p:spPr>
          <a:xfrm>
            <a:off x="6377872" y="1239460"/>
            <a:ext cx="5570700" cy="27699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3335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 b="1">
                <a:solidFill>
                  <a:srgbClr val="0284C7"/>
                </a:solidFill>
                <a:latin typeface="Inter Black"/>
                <a:ea typeface="Inter Black"/>
                <a:cs typeface="Inter"/>
                <a:sym typeface="Inter"/>
              </a:rPr>
              <a:t>Long-Term Initiatives (3–12 Months</a:t>
            </a:r>
            <a:r>
              <a:rPr lang="en-US" sz="1800" b="1" i="0" u="none" strike="noStrike" cap="none">
                <a:solidFill>
                  <a:srgbClr val="0D9488"/>
                </a:solidFill>
                <a:latin typeface="Inter Black"/>
                <a:ea typeface="Inter Black"/>
                <a:cs typeface="Inter"/>
                <a:sym typeface="Inter"/>
              </a:rPr>
              <a:t>)</a:t>
            </a:r>
            <a:endParaRPr lang="en-US" sz="1800">
              <a:latin typeface="Inter Black"/>
              <a:ea typeface="Inter Black"/>
            </a:endParaRPr>
          </a:p>
        </p:txBody>
      </p:sp>
      <p:sp>
        <p:nvSpPr>
          <p:cNvPr id="412" name="Google Shape;412;p22"/>
          <p:cNvSpPr txBox="1"/>
          <p:nvPr/>
        </p:nvSpPr>
        <p:spPr>
          <a:xfrm>
            <a:off x="679043" y="1646088"/>
            <a:ext cx="5224986" cy="444660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57150" tIns="0" rIns="0" bIns="0" anchor="t" anchorCtr="0">
            <a:spAutoFit/>
          </a:bodyPr>
          <a:lstStyle/>
          <a:p>
            <a:pPr marL="171450" indent="-171450">
              <a:lnSpc>
                <a:spcPct val="150000"/>
              </a:lnSpc>
              <a:buFont typeface="Wingdings"/>
              <a:buChar char="ü"/>
            </a:pPr>
            <a:r>
              <a:rPr lang="en-US" b="1">
                <a:solidFill>
                  <a:srgbClr val="334155"/>
                </a:solidFill>
                <a:latin typeface="Inter"/>
                <a:ea typeface="Inter"/>
                <a:sym typeface="Inter"/>
              </a:rPr>
              <a:t>Discount</a:t>
            </a:r>
            <a:r>
              <a:rPr lang="en-US" b="1" i="0" u="none" strike="noStrike" cap="none">
                <a:solidFill>
                  <a:srgbClr val="334155"/>
                </a:solidFill>
                <a:latin typeface="Inter"/>
                <a:ea typeface="Inter"/>
                <a:cs typeface="Inter"/>
                <a:sym typeface="Inter"/>
              </a:rPr>
              <a:t> Policy Reform:</a:t>
            </a:r>
            <a:r>
              <a:rPr lang="en-US" b="0" i="0" u="none" strike="noStrike" cap="none">
                <a:solidFill>
                  <a:srgbClr val="334155"/>
                </a:solidFill>
                <a:latin typeface="Inter"/>
                <a:ea typeface="Inter"/>
                <a:cs typeface="Inter"/>
                <a:sym typeface="Inter"/>
              </a:rPr>
              <a:t> Implement tier caps (0% on star SKUs, max 5–10% on volume items, 15% clearance cap) to protect margin baselines.</a:t>
            </a:r>
            <a:endParaRPr lang="en-US"/>
          </a:p>
          <a:p>
            <a:pPr marL="171450" indent="-171450">
              <a:lnSpc>
                <a:spcPct val="150000"/>
              </a:lnSpc>
              <a:buFont typeface="Wingdings"/>
              <a:buChar char="ü"/>
            </a:pPr>
            <a:r>
              <a:rPr lang="en-US" b="1">
                <a:solidFill>
                  <a:srgbClr val="334155"/>
                </a:solidFill>
                <a:latin typeface="Inter"/>
                <a:ea typeface="Inter"/>
              </a:rPr>
              <a:t>Weekend Push:</a:t>
            </a:r>
            <a:r>
              <a:rPr lang="en-US">
                <a:solidFill>
                  <a:srgbClr val="334155"/>
                </a:solidFill>
                <a:latin typeface="Inter"/>
                <a:ea typeface="Inter"/>
              </a:rPr>
              <a:t> Launch Friday afternoon WhatsApp/SMS teasers and weekend styling pop-ups to capture the ₹60.8M revenue gap.</a:t>
            </a:r>
          </a:p>
          <a:p>
            <a:pPr marL="171450" indent="-171450">
              <a:lnSpc>
                <a:spcPct val="150000"/>
              </a:lnSpc>
              <a:buFont typeface="Wingdings"/>
              <a:buChar char="ü"/>
            </a:pPr>
            <a:r>
              <a:rPr lang="en-US" b="1">
                <a:solidFill>
                  <a:srgbClr val="334155"/>
                </a:solidFill>
                <a:latin typeface="Inter"/>
                <a:ea typeface="Inter"/>
              </a:rPr>
              <a:t>Weekend Staffing Adjustment:</a:t>
            </a:r>
            <a:r>
              <a:rPr lang="en-US">
                <a:solidFill>
                  <a:srgbClr val="334155"/>
                </a:solidFill>
                <a:latin typeface="Inter"/>
                <a:ea typeface="Inter"/>
              </a:rPr>
              <a:t> Align sales staff schedules with weekend traffic spikes to leverage the higher ₹15,162 weekend AOV.</a:t>
            </a:r>
            <a:endParaRPr lang="en-US">
              <a:latin typeface="Inter"/>
              <a:ea typeface="Inter"/>
            </a:endParaRPr>
          </a:p>
          <a:p>
            <a:pPr marL="171450" indent="-171450">
              <a:lnSpc>
                <a:spcPct val="150000"/>
              </a:lnSpc>
              <a:buFont typeface="Wingdings"/>
              <a:buChar char="ü"/>
            </a:pPr>
            <a:r>
              <a:rPr lang="en-US" b="1">
                <a:solidFill>
                  <a:srgbClr val="334155"/>
                </a:solidFill>
                <a:latin typeface="Inter"/>
                <a:ea typeface="Inter"/>
              </a:rPr>
              <a:t>Accessories SKU Expansion:</a:t>
            </a:r>
            <a:r>
              <a:rPr lang="en-US">
                <a:solidFill>
                  <a:srgbClr val="334155"/>
                </a:solidFill>
                <a:latin typeface="Inter"/>
                <a:ea typeface="Inter"/>
              </a:rPr>
              <a:t> Expand Accessories SKU display mix across all 50 retail store locations</a:t>
            </a:r>
            <a:endParaRPr lang="en-US"/>
          </a:p>
          <a:p>
            <a:pPr marL="171450" indent="-171450">
              <a:lnSpc>
                <a:spcPct val="150000"/>
              </a:lnSpc>
              <a:buFont typeface="Wingdings"/>
              <a:buChar char="ü"/>
            </a:pPr>
            <a:r>
              <a:rPr lang="en-US" b="1">
                <a:solidFill>
                  <a:srgbClr val="334155"/>
                </a:solidFill>
                <a:latin typeface="Inter"/>
                <a:ea typeface="Inter"/>
              </a:rPr>
              <a:t>Underperformer Turnaround:</a:t>
            </a:r>
            <a:r>
              <a:rPr lang="en-US">
                <a:solidFill>
                  <a:srgbClr val="334155"/>
                </a:solidFill>
                <a:latin typeface="Inter"/>
                <a:ea typeface="Inter"/>
              </a:rPr>
              <a:t> Deploy targeted digital ad budgets for underperforming stores.</a:t>
            </a:r>
          </a:p>
          <a:p>
            <a:pPr>
              <a:lnSpc>
                <a:spcPct val="144969"/>
              </a:lnSpc>
            </a:pPr>
            <a:endParaRPr lang="en-US" sz="1100">
              <a:solidFill>
                <a:srgbClr val="334155"/>
              </a:solidFill>
              <a:latin typeface="Inter"/>
              <a:ea typeface="Inter"/>
            </a:endParaRPr>
          </a:p>
        </p:txBody>
      </p:sp>
      <p:sp>
        <p:nvSpPr>
          <p:cNvPr id="414" name="Google Shape;414;p22"/>
          <p:cNvSpPr txBox="1"/>
          <p:nvPr/>
        </p:nvSpPr>
        <p:spPr>
          <a:xfrm>
            <a:off x="795787" y="3227574"/>
            <a:ext cx="5153100" cy="24545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57150" tIns="0" rIns="0" bIns="0" anchor="t" anchorCtr="0">
            <a:spAutoFit/>
          </a:bodyPr>
          <a:lstStyle/>
          <a:p>
            <a:pPr marL="0" marR="0" lvl="0" indent="0" algn="l" rtl="0">
              <a:lnSpc>
                <a:spcPct val="144969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100" b="0" i="0" u="none" strike="noStrike" cap="none">
                <a:solidFill>
                  <a:srgbClr val="334155"/>
                </a:solidFill>
                <a:latin typeface="Inter"/>
                <a:ea typeface="Inter"/>
                <a:cs typeface="Inter"/>
                <a:sym typeface="Inter"/>
              </a:rPr>
              <a:t>.</a:t>
            </a:r>
            <a:endParaRPr sz="1100"/>
          </a:p>
        </p:txBody>
      </p:sp>
      <p:sp>
        <p:nvSpPr>
          <p:cNvPr id="422" name="Google Shape;422;p22"/>
          <p:cNvSpPr txBox="1"/>
          <p:nvPr/>
        </p:nvSpPr>
        <p:spPr>
          <a:xfrm>
            <a:off x="6381211" y="1518225"/>
            <a:ext cx="5153100" cy="484748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57150" tIns="0" rIns="0" bIns="0" anchor="t" anchorCtr="0">
            <a:spAutoFit/>
          </a:bodyPr>
          <a:lstStyle/>
          <a:p>
            <a:pPr marL="171450" lvl="0" indent="-171450">
              <a:lnSpc>
                <a:spcPct val="150000"/>
              </a:lnSpc>
              <a:buFont typeface="Wingdings"/>
              <a:buChar char="ü"/>
            </a:pPr>
            <a:r>
              <a:rPr lang="en-US" b="1" i="0" u="none" strike="noStrike" cap="none">
                <a:solidFill>
                  <a:srgbClr val="334155"/>
                </a:solidFill>
                <a:latin typeface="Inter Black"/>
                <a:ea typeface="Inter Black"/>
                <a:cs typeface="Inter"/>
                <a:sym typeface="Inter"/>
              </a:rPr>
              <a:t>C</a:t>
            </a:r>
            <a:r>
              <a:rPr lang="en-US" b="1">
                <a:solidFill>
                  <a:srgbClr val="334155"/>
                </a:solidFill>
                <a:latin typeface="Inter Black"/>
                <a:ea typeface="Inter Black"/>
                <a:sym typeface="Inter"/>
              </a:rPr>
              <a:t>lothing Cost Structure Audit:</a:t>
            </a:r>
            <a:r>
              <a:rPr lang="en-US" b="1" dirty="0">
                <a:solidFill>
                  <a:srgbClr val="334155"/>
                </a:solidFill>
                <a:latin typeface="Inter"/>
                <a:ea typeface="Inter"/>
                <a:sym typeface="Inter"/>
              </a:rPr>
              <a:t> </a:t>
            </a:r>
            <a:r>
              <a:rPr lang="en-US">
                <a:solidFill>
                  <a:srgbClr val="334155"/>
                </a:solidFill>
                <a:latin typeface="Inter"/>
                <a:ea typeface="Inter"/>
                <a:sym typeface="Inter"/>
              </a:rPr>
              <a:t>Audit manufacturing &amp; sourcing costs for clothing to lift category margin from 58.7% toward 65%+.</a:t>
            </a:r>
            <a:endParaRPr lang="en-US">
              <a:solidFill>
                <a:srgbClr val="334155"/>
              </a:solidFill>
              <a:latin typeface="Inter"/>
              <a:ea typeface="Inter"/>
            </a:endParaRPr>
          </a:p>
          <a:p>
            <a:pPr marL="171450" indent="-171450">
              <a:lnSpc>
                <a:spcPct val="150000"/>
              </a:lnSpc>
              <a:buFont typeface="Wingdings"/>
              <a:buChar char="ü"/>
            </a:pPr>
            <a:r>
              <a:rPr lang="en-US" b="1" dirty="0">
                <a:solidFill>
                  <a:srgbClr val="334155"/>
                </a:solidFill>
                <a:latin typeface="Inter"/>
                <a:ea typeface="Inter"/>
              </a:rPr>
              <a:t>VIP Loyalty Rollout:</a:t>
            </a:r>
            <a:r>
              <a:rPr lang="en-US" dirty="0">
                <a:solidFill>
                  <a:srgbClr val="334155"/>
                </a:solidFill>
                <a:latin typeface="Inter"/>
                <a:ea typeface="Inter"/>
              </a:rPr>
              <a:t> Launch "</a:t>
            </a:r>
            <a:r>
              <a:rPr lang="en-US" dirty="0" err="1">
                <a:solidFill>
                  <a:srgbClr val="334155"/>
                </a:solidFill>
                <a:latin typeface="Inter"/>
                <a:ea typeface="Inter"/>
              </a:rPr>
              <a:t>FashionWave</a:t>
            </a:r>
            <a:r>
              <a:rPr lang="en-US" dirty="0">
                <a:solidFill>
                  <a:srgbClr val="334155"/>
                </a:solidFill>
                <a:latin typeface="Inter"/>
                <a:ea typeface="Inter"/>
              </a:rPr>
              <a:t> Gold" tiered loyalty program for returning customers (who generate 71% of net profit).</a:t>
            </a:r>
          </a:p>
          <a:p>
            <a:pPr marL="171450" indent="-171450">
              <a:lnSpc>
                <a:spcPct val="150000"/>
              </a:lnSpc>
              <a:buFont typeface="Wingdings"/>
              <a:buChar char="ü"/>
            </a:pPr>
            <a:r>
              <a:rPr lang="en-US" b="1">
                <a:solidFill>
                  <a:srgbClr val="334155"/>
                </a:solidFill>
                <a:latin typeface="Inter"/>
                <a:ea typeface="Inter"/>
              </a:rPr>
              <a:t>Predictive Replenishment:</a:t>
            </a:r>
            <a:r>
              <a:rPr lang="en-US">
                <a:solidFill>
                  <a:srgbClr val="334155"/>
                </a:solidFill>
                <a:latin typeface="Inter"/>
                <a:ea typeface="Inter"/>
              </a:rPr>
              <a:t> Implement automated inventory forecasting modeling to prevent stockouts of top-selling star products.</a:t>
            </a:r>
            <a:endParaRPr lang="en-US" dirty="0">
              <a:solidFill>
                <a:srgbClr val="334155"/>
              </a:solidFill>
              <a:latin typeface="Inter"/>
              <a:ea typeface="Inter"/>
            </a:endParaRPr>
          </a:p>
          <a:p>
            <a:pPr marL="171450" indent="-171450">
              <a:lnSpc>
                <a:spcPct val="150000"/>
              </a:lnSpc>
              <a:buFont typeface="Wingdings"/>
              <a:buChar char="ü"/>
            </a:pPr>
            <a:r>
              <a:rPr lang="en-US" b="1">
                <a:solidFill>
                  <a:srgbClr val="334155"/>
                </a:solidFill>
                <a:latin typeface="Inter"/>
                <a:ea typeface="Inter"/>
              </a:rPr>
              <a:t>Strategic Bundle Cross-Selling: </a:t>
            </a:r>
            <a:r>
              <a:rPr lang="en-US">
                <a:solidFill>
                  <a:srgbClr val="334155"/>
                </a:solidFill>
                <a:latin typeface="Inter"/>
                <a:ea typeface="Inter"/>
              </a:rPr>
              <a:t>Pair footwear purchases with high-margin accessories to boost average basket sizes.</a:t>
            </a:r>
            <a:endParaRPr lang="en-US" dirty="0">
              <a:solidFill>
                <a:srgbClr val="334155"/>
              </a:solidFill>
              <a:latin typeface="Inter"/>
              <a:ea typeface="Inter"/>
            </a:endParaRPr>
          </a:p>
          <a:p>
            <a:pPr marL="171450" indent="-171450">
              <a:lnSpc>
                <a:spcPct val="150000"/>
              </a:lnSpc>
              <a:buFont typeface="Wingdings"/>
              <a:buChar char="ü"/>
            </a:pPr>
            <a:r>
              <a:rPr lang="en-US" b="1">
                <a:solidFill>
                  <a:srgbClr val="334155"/>
                </a:solidFill>
                <a:latin typeface="Inter"/>
                <a:ea typeface="Inter"/>
              </a:rPr>
              <a:t>Store Manager Accountability: </a:t>
            </a:r>
            <a:r>
              <a:rPr lang="en-US">
                <a:solidFill>
                  <a:srgbClr val="334155"/>
                </a:solidFill>
                <a:latin typeface="Inter"/>
                <a:ea typeface="Inter"/>
              </a:rPr>
              <a:t>Enforce quarterly store-level P&amp;L evaluations with performance incentives for all 50 store managers.</a:t>
            </a:r>
            <a:endParaRPr lang="en-US" dirty="0">
              <a:solidFill>
                <a:srgbClr val="334155"/>
              </a:solidFill>
              <a:latin typeface="Inter"/>
              <a:ea typeface="Inter"/>
            </a:endParaRP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>
          <a:blip r:embed="rId3"/>
          <a:stretch>
            <a:fillRect/>
          </a:stretch>
        </a:blipFill>
        <a:effectLst/>
      </p:bgPr>
    </p:bg>
    <p:spTree>
      <p:nvGrpSpPr>
        <p:cNvPr id="1" name="Shape 4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44" name="Google Shape;444;p23" descr="image.png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428625" y="6505575"/>
            <a:ext cx="11334750" cy="219075"/>
          </a:xfrm>
          <a:prstGeom prst="rect">
            <a:avLst/>
          </a:prstGeom>
          <a:noFill/>
          <a:ln>
            <a:noFill/>
          </a:ln>
        </p:spPr>
      </p:pic>
      <p:sp>
        <p:nvSpPr>
          <p:cNvPr id="445" name="Google Shape;445;p23"/>
          <p:cNvSpPr txBox="1"/>
          <p:nvPr/>
        </p:nvSpPr>
        <p:spPr>
          <a:xfrm>
            <a:off x="2582727" y="2937743"/>
            <a:ext cx="7034212" cy="96949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algn="ctr"/>
            <a:r>
              <a:rPr lang="en-US" sz="3150" b="0" i="0" u="none" strike="noStrike" cap="none">
                <a:solidFill>
                  <a:srgbClr val="FFFFFF"/>
                </a:solidFill>
                <a:latin typeface="Poppins ExtraBold"/>
                <a:ea typeface="Poppins ExtraBold"/>
                <a:cs typeface="Poppins ExtraBold"/>
                <a:sym typeface="Poppins ExtraBold"/>
              </a:rPr>
              <a:t>Thank You</a:t>
            </a:r>
            <a:r>
              <a:rPr lang="en-US" sz="3150">
                <a:solidFill>
                  <a:srgbClr val="FFFFFF"/>
                </a:solidFill>
                <a:latin typeface="Poppins ExtraBold"/>
                <a:ea typeface="Poppins ExtraBold"/>
                <a:cs typeface="Poppins ExtraBold"/>
                <a:sym typeface="Poppins ExtraBold"/>
              </a:rPr>
              <a:t> | Questions &amp; Discussion</a:t>
            </a:r>
            <a:endParaRPr lang="en-US"/>
          </a:p>
        </p:txBody>
      </p:sp>
      <p:sp>
        <p:nvSpPr>
          <p:cNvPr id="447" name="Google Shape;447;p23"/>
          <p:cNvSpPr txBox="1"/>
          <p:nvPr/>
        </p:nvSpPr>
        <p:spPr>
          <a:xfrm>
            <a:off x="428625" y="6620054"/>
            <a:ext cx="2162534" cy="12695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825" b="0" i="0" u="none" strike="noStrike" cap="none">
                <a:solidFill>
                  <a:srgbClr val="64748B"/>
                </a:solidFill>
                <a:latin typeface="Inter"/>
                <a:ea typeface="Inter"/>
                <a:cs typeface="Inter"/>
                <a:sym typeface="Inter"/>
              </a:rPr>
              <a:t>FashionWave HQ Analytics</a:t>
            </a:r>
            <a:endParaRPr/>
          </a:p>
        </p:txBody>
      </p:sp>
      <p:sp>
        <p:nvSpPr>
          <p:cNvPr id="448" name="Google Shape;448;p23"/>
          <p:cNvSpPr txBox="1"/>
          <p:nvPr/>
        </p:nvSpPr>
        <p:spPr>
          <a:xfrm>
            <a:off x="10856524" y="6620054"/>
            <a:ext cx="906851" cy="12695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800" b="0" i="0" u="none" strike="noStrike" cap="none">
                <a:solidFill>
                  <a:srgbClr val="64748B"/>
                </a:solidFill>
                <a:latin typeface="Inter"/>
                <a:ea typeface="Inter"/>
                <a:cs typeface="Inter"/>
                <a:sym typeface="Inter"/>
              </a:rPr>
              <a:t>Slide </a:t>
            </a:r>
            <a:r>
              <a:rPr lang="en-US" sz="800">
                <a:solidFill>
                  <a:srgbClr val="64748B"/>
                </a:solidFill>
                <a:latin typeface="Inter"/>
                <a:ea typeface="Inter"/>
                <a:cs typeface="Inter"/>
                <a:sym typeface="Inter"/>
              </a:rPr>
              <a:t>12</a:t>
            </a:r>
            <a:r>
              <a:rPr lang="en-US" sz="800" b="0" i="0" u="none" strike="noStrike" cap="none">
                <a:solidFill>
                  <a:srgbClr val="64748B"/>
                </a:solidFill>
                <a:latin typeface="Inter"/>
                <a:ea typeface="Inter"/>
                <a:cs typeface="Inter"/>
                <a:sym typeface="Inter"/>
              </a:rPr>
              <a:t> of </a:t>
            </a:r>
            <a:r>
              <a:rPr lang="en-US" sz="800">
                <a:solidFill>
                  <a:srgbClr val="64748B"/>
                </a:solidFill>
                <a:latin typeface="Inter"/>
                <a:ea typeface="Inter"/>
                <a:cs typeface="Inter"/>
                <a:sym typeface="Inter"/>
              </a:rPr>
              <a:t>12</a:t>
            </a:r>
            <a:endParaRPr sz="800"/>
          </a:p>
        </p:txBody>
      </p:sp>
      <p:sp>
        <p:nvSpPr>
          <p:cNvPr id="2" name="Google Shape;599;p36">
            <a:extLst>
              <a:ext uri="{FF2B5EF4-FFF2-40B4-BE49-F238E27FC236}">
                <a16:creationId xmlns:a16="http://schemas.microsoft.com/office/drawing/2014/main" id="{4969393F-A396-C97F-3A11-28A8F68FD1AC}"/>
              </a:ext>
            </a:extLst>
          </p:cNvPr>
          <p:cNvSpPr txBox="1"/>
          <p:nvPr/>
        </p:nvSpPr>
        <p:spPr>
          <a:xfrm>
            <a:off x="1008032" y="4331733"/>
            <a:ext cx="10161557" cy="2154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algn="ctr"/>
            <a:r>
              <a:rPr lang="en-US" b="0" i="0" u="none" strike="noStrike" cap="none" dirty="0">
                <a:solidFill>
                  <a:srgbClr val="64748B"/>
                </a:solidFill>
                <a:latin typeface="Poppins"/>
                <a:ea typeface="Lato"/>
                <a:cs typeface="Poppins"/>
                <a:sym typeface="Lato"/>
              </a:rPr>
              <a:t>Prepared by Agamya Jain | </a:t>
            </a:r>
            <a:r>
              <a:rPr lang="en-US" dirty="0" err="1">
                <a:solidFill>
                  <a:srgbClr val="64748B"/>
                </a:solidFill>
                <a:latin typeface="Poppins"/>
                <a:ea typeface="Lato"/>
                <a:cs typeface="Poppins"/>
                <a:sym typeface="Lato"/>
              </a:rPr>
              <a:t>FashionWave</a:t>
            </a:r>
            <a:r>
              <a:rPr lang="en-US" dirty="0">
                <a:solidFill>
                  <a:srgbClr val="64748B"/>
                </a:solidFill>
                <a:latin typeface="Poppins"/>
                <a:ea typeface="Lato"/>
                <a:cs typeface="Poppins"/>
                <a:sym typeface="Lato"/>
              </a:rPr>
              <a:t>  </a:t>
            </a:r>
            <a:r>
              <a:rPr lang="en-US" b="0" i="0" u="none" strike="noStrike" cap="none" dirty="0">
                <a:solidFill>
                  <a:srgbClr val="64748B"/>
                </a:solidFill>
                <a:latin typeface="Poppins"/>
                <a:ea typeface="Lato"/>
                <a:cs typeface="Poppins"/>
                <a:sym typeface="Lato"/>
              </a:rPr>
              <a:t>Analytics Division</a:t>
            </a:r>
            <a:r>
              <a:rPr lang="en-US" dirty="0">
                <a:solidFill>
                  <a:srgbClr val="64748B"/>
                </a:solidFill>
                <a:latin typeface="Poppins"/>
                <a:ea typeface="Lato"/>
                <a:cs typeface="Poppins"/>
                <a:sym typeface="Lato"/>
              </a:rPr>
              <a:t> </a:t>
            </a:r>
            <a:endParaRPr lang="en-US" dirty="0">
              <a:solidFill>
                <a:srgbClr val="64748B"/>
              </a:solidFill>
              <a:latin typeface="Poppins"/>
              <a:ea typeface="Lato"/>
              <a:cs typeface="Poppins"/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Application>Microsoft Office PowerPoint</Application>
  <PresentationFormat>Widescreen</PresentationFormat>
  <Slides>12</Slides>
  <Notes>12</Notes>
  <HiddenSlides>0</HiddenSlide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12</vt:i4>
      </vt:variant>
    </vt:vector>
  </HeadingPairs>
  <TitlesOfParts>
    <vt:vector size="13" baseType="lpstr"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cp:revision>313</cp:revision>
  <dcterms:modified xsi:type="dcterms:W3CDTF">2026-08-31T16:13:41Z</dcterms:modified>
</cp:coreProperties>
</file>